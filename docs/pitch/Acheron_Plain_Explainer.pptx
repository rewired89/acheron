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The deck is a plain-language explainer, not an investor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Sentences 1 to 3 of 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Sentences 4 to 6 of 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Sentences 7 to 9 of 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switch and its readout. Colour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Regrowth from survivors. The dots are illustrative, not to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simulations/bsubtilis_07_colony_regrowth.py and bsubtilis_13_reporter_colony_regrowth.py, re-run 21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Levin framing per docs/SCIENTIFIC_AUDIT_2026.md Part 3 and Part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Illustrative application areas. No customer relationship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NSF SBIR figures from seedfund.nsf.gov. BioCompute total from Inc42. Catalog Series B from its own 2021 announcement.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018"/>
        </a:solidFill>
      </p:bgPr>
    </p:bg>
    <p:spTree>
      <p:nvGrpSpPr>
        <p:cNvPr id="1" name=""/>
        <p:cNvGrpSpPr/>
        <p:nvPr/>
      </p:nvGrpSpPr>
      <p:grpSpPr>
        <a:xfrm>
          <a:off x="0" y="0"/>
          <a:ext cx="0" cy="0"/>
          <a:chOff x="0" y="0"/>
          <a:chExt cx="0" cy="0"/>
        </a:xfrm>
      </p:grpSpPr>
      <p:sp>
        <p:nvSpPr>
          <p:cNvPr id="2" name="Text 0"/>
          <p:cNvSpPr txBox="1"/>
          <p:nvPr/>
        </p:nvSpPr>
        <p:spPr>
          <a:xfrm>
            <a:off x="640080" y="2057400"/>
            <a:ext cx="8778240" cy="137160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The germs that remember</a:t>
            </a:r>
            <a:endParaRPr lang="en-US" sz="5000" dirty="0"/>
          </a:p>
        </p:txBody>
      </p:sp>
      <p:sp>
        <p:nvSpPr>
          <p:cNvPr id="3" name="Text 1"/>
          <p:cNvSpPr txBox="1"/>
          <p:nvPr/>
        </p:nvSpPr>
        <p:spPr>
          <a:xfrm>
            <a:off x="640080" y="3474720"/>
            <a:ext cx="8778240" cy="457200"/>
          </a:xfrm>
          <a:prstGeom prst="rect">
            <a:avLst/>
          </a:prstGeom>
          <a:noFill/>
          <a:ln/>
        </p:spPr>
        <p:txBody>
          <a:bodyPr wrap="square" lIns="0" tIns="0" rIns="0" bIns="0" rtlCol="0" anchor="ctr"/>
          <a:lstStyle/>
          <a:p>
            <a:pPr indent="0" marL="0">
              <a:buNone/>
            </a:pPr>
            <a:r>
              <a:rPr lang="en-US" sz="1900" dirty="0">
                <a:solidFill>
                  <a:srgbClr val="1F8B5F"/>
                </a:solidFill>
                <a:latin typeface="Calibri" pitchFamily="34" charset="0"/>
                <a:ea typeface="Calibri" pitchFamily="34" charset="-122"/>
                <a:cs typeface="Calibri" pitchFamily="34" charset="-120"/>
              </a:rPr>
              <a:t>Acheron, explained in nine sentences</a:t>
            </a:r>
            <a:endParaRPr lang="en-US" sz="1900" dirty="0"/>
          </a:p>
        </p:txBody>
      </p:sp>
      <p:sp>
        <p:nvSpPr>
          <p:cNvPr id="4" name="Text 2"/>
          <p:cNvSpPr txBox="1"/>
          <p:nvPr/>
        </p:nvSpPr>
        <p:spPr>
          <a:xfrm>
            <a:off x="640080" y="4069080"/>
            <a:ext cx="7863840" cy="822960"/>
          </a:xfrm>
          <a:prstGeom prst="rect">
            <a:avLst/>
          </a:prstGeom>
          <a:noFill/>
          <a:ln/>
        </p:spPr>
        <p:txBody>
          <a:bodyPr wrap="square" lIns="0" tIns="0" rIns="0" bIns="0" rtlCol="0" anchor="ctr"/>
          <a:lstStyle/>
          <a:p>
            <a:pPr indent="0" marL="0">
              <a:lnSpc>
                <a:spcPct val="115000"/>
              </a:lnSpc>
              <a:buNone/>
            </a:pPr>
            <a:r>
              <a:rPr lang="en-US" sz="1350" dirty="0">
                <a:solidFill>
                  <a:srgbClr val="B9C7BF"/>
                </a:solidFill>
                <a:latin typeface="Calibri" pitchFamily="34" charset="0"/>
                <a:ea typeface="Calibri" pitchFamily="34" charset="-122"/>
                <a:cs typeface="Calibri" pitchFamily="34" charset="-120"/>
              </a:rPr>
              <a:t>Written for Jacqueline. Nothing here needs a science background. If you stop after the nine sentences, you already know enough to talk about it.</a:t>
            </a:r>
            <a:endParaRPr lang="en-US" sz="1350" dirty="0"/>
          </a:p>
        </p:txBody>
      </p:sp>
      <p:sp>
        <p:nvSpPr>
          <p:cNvPr id="5" name="Shape 3"/>
          <p:cNvSpPr/>
          <p:nvPr/>
        </p:nvSpPr>
        <p:spPr>
          <a:xfrm>
            <a:off x="10149840" y="2331720"/>
            <a:ext cx="329184" cy="329184"/>
          </a:xfrm>
          <a:prstGeom prst="ellipse">
            <a:avLst/>
          </a:prstGeom>
          <a:solidFill>
            <a:srgbClr val="1F8B5F"/>
          </a:solidFill>
          <a:ln w="12700">
            <a:solidFill>
              <a:srgbClr val="1F8B5F"/>
            </a:solidFill>
            <a:prstDash val="solid"/>
          </a:ln>
        </p:spPr>
      </p:sp>
      <p:sp>
        <p:nvSpPr>
          <p:cNvPr id="6" name="Shape 4"/>
          <p:cNvSpPr/>
          <p:nvPr/>
        </p:nvSpPr>
        <p:spPr>
          <a:xfrm>
            <a:off x="10625328" y="2331720"/>
            <a:ext cx="329184" cy="329184"/>
          </a:xfrm>
          <a:prstGeom prst="ellipse">
            <a:avLst/>
          </a:prstGeom>
          <a:solidFill>
            <a:srgbClr val="1F8B5F"/>
          </a:solidFill>
          <a:ln w="12700">
            <a:solidFill>
              <a:srgbClr val="1F8B5F"/>
            </a:solidFill>
            <a:prstDash val="solid"/>
          </a:ln>
        </p:spPr>
      </p:sp>
      <p:sp>
        <p:nvSpPr>
          <p:cNvPr id="7" name="Shape 5"/>
          <p:cNvSpPr/>
          <p:nvPr/>
        </p:nvSpPr>
        <p:spPr>
          <a:xfrm>
            <a:off x="11100816" y="2331720"/>
            <a:ext cx="329184" cy="329184"/>
          </a:xfrm>
          <a:prstGeom prst="ellipse">
            <a:avLst/>
          </a:prstGeom>
          <a:solidFill>
            <a:srgbClr val="C8453C"/>
          </a:solidFill>
          <a:ln w="12700">
            <a:solidFill>
              <a:srgbClr val="C8453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603504"/>
            <a:ext cx="155448" cy="155448"/>
          </a:xfrm>
          <a:prstGeom prst="ellipse">
            <a:avLst/>
          </a:prstGeom>
          <a:solidFill>
            <a:srgbClr val="1F8B5F"/>
          </a:solidFill>
          <a:ln w="12700">
            <a:solidFill>
              <a:srgbClr val="1F8B5F"/>
            </a:solidFill>
            <a:prstDash val="solid"/>
          </a:ln>
        </p:spPr>
      </p:sp>
      <p:sp>
        <p:nvSpPr>
          <p:cNvPr id="3" name="Text 1"/>
          <p:cNvSpPr txBox="1"/>
          <p:nvPr/>
        </p:nvSpPr>
        <p:spPr>
          <a:xfrm>
            <a:off x="932688" y="502920"/>
            <a:ext cx="10588752" cy="384048"/>
          </a:xfrm>
          <a:prstGeom prst="rect">
            <a:avLst/>
          </a:prstGeom>
          <a:noFill/>
          <a:ln/>
        </p:spPr>
        <p:txBody>
          <a:bodyPr wrap="square" lIns="0" tIns="0" rIns="0" bIns="0" rtlCol="0" anchor="ctr"/>
          <a:lstStyle/>
          <a:p>
            <a:pPr indent="0" marL="0">
              <a:buNone/>
            </a:pPr>
            <a:r>
              <a:rPr lang="en-US" sz="2300" b="1" dirty="0">
                <a:solidFill>
                  <a:srgbClr val="132018"/>
                </a:solidFill>
                <a:latin typeface="Cambria" pitchFamily="34" charset="0"/>
                <a:ea typeface="Cambria" pitchFamily="34" charset="-122"/>
                <a:cs typeface="Cambria" pitchFamily="34" charset="-120"/>
              </a:rPr>
              <a:t>What it is, and what it runs on</a:t>
            </a:r>
            <a:endParaRPr lang="en-US" sz="2300" dirty="0"/>
          </a:p>
        </p:txBody>
      </p:sp>
      <p:sp>
        <p:nvSpPr>
          <p:cNvPr id="4" name="Shape 2"/>
          <p:cNvSpPr/>
          <p:nvPr/>
        </p:nvSpPr>
        <p:spPr>
          <a:xfrm>
            <a:off x="640080" y="1271016"/>
            <a:ext cx="402336" cy="402336"/>
          </a:xfrm>
          <a:prstGeom prst="ellipse">
            <a:avLst/>
          </a:prstGeom>
          <a:solidFill>
            <a:srgbClr val="1F8B5F"/>
          </a:solidFill>
          <a:ln w="12700">
            <a:solidFill>
              <a:srgbClr val="1F8B5F"/>
            </a:solidFill>
            <a:prstDash val="solid"/>
          </a:ln>
        </p:spPr>
      </p:sp>
      <p:sp>
        <p:nvSpPr>
          <p:cNvPr id="5" name="Text 3"/>
          <p:cNvSpPr txBox="1"/>
          <p:nvPr/>
        </p:nvSpPr>
        <p:spPr>
          <a:xfrm>
            <a:off x="640080" y="127101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6" name="Text 4"/>
          <p:cNvSpPr txBox="1"/>
          <p:nvPr/>
        </p:nvSpPr>
        <p:spPr>
          <a:xfrm>
            <a:off x="1261872" y="1234440"/>
            <a:ext cx="10259568" cy="219456"/>
          </a:xfrm>
          <a:prstGeom prst="rect">
            <a:avLst/>
          </a:prstGeom>
          <a:noFill/>
          <a:ln/>
        </p:spPr>
        <p:txBody>
          <a:bodyPr wrap="square" lIns="0" tIns="0" rIns="0" bIns="0" rtlCol="0" anchor="ctr"/>
          <a:lstStyle/>
          <a:p>
            <a:pPr indent="0" marL="0">
              <a:buNone/>
            </a:pPr>
            <a:r>
              <a:rPr lang="en-US" sz="1050" b="1" spc="140" kern="0" dirty="0">
                <a:solidFill>
                  <a:srgbClr val="5F6F66"/>
                </a:solidFill>
                <a:latin typeface="Calibri" pitchFamily="34" charset="0"/>
                <a:ea typeface="Calibri" pitchFamily="34" charset="-122"/>
                <a:cs typeface="Calibri" pitchFamily="34" charset="-120"/>
              </a:rPr>
              <a:t>WHAT IT IS</a:t>
            </a:r>
            <a:endParaRPr lang="en-US" sz="1050" dirty="0"/>
          </a:p>
        </p:txBody>
      </p:sp>
      <p:sp>
        <p:nvSpPr>
          <p:cNvPr id="7" name="Text 5"/>
          <p:cNvSpPr txBox="1"/>
          <p:nvPr/>
        </p:nvSpPr>
        <p:spPr>
          <a:xfrm>
            <a:off x="1261872" y="1472184"/>
            <a:ext cx="10259568" cy="1133856"/>
          </a:xfrm>
          <a:prstGeom prst="rect">
            <a:avLst/>
          </a:prstGeom>
          <a:noFill/>
          <a:ln/>
        </p:spPr>
        <p:txBody>
          <a:bodyPr wrap="square" lIns="0" tIns="0" rIns="0" bIns="0" rtlCol="0" anchor="t"/>
          <a:lstStyle/>
          <a:p>
            <a:pPr indent="0" marL="0">
              <a:lnSpc>
                <a:spcPct val="108000"/>
              </a:lnSpc>
              <a:buNone/>
            </a:pPr>
            <a:r>
              <a:rPr lang="en-US" sz="1600" dirty="0">
                <a:solidFill>
                  <a:srgbClr val="132018"/>
                </a:solidFill>
                <a:latin typeface="Calibri" pitchFamily="34" charset="0"/>
                <a:ea typeface="Calibri" pitchFamily="34" charset="-122"/>
                <a:cs typeface="Calibri" pitchFamily="34" charset="-120"/>
              </a:rPr>
              <a:t>Dayana is trying to store computer files inside living cells, so the file repairs itself instead of slowly rotting like paper or a hard drive.</a:t>
            </a:r>
            <a:endParaRPr lang="en-US" sz="1600" dirty="0"/>
          </a:p>
        </p:txBody>
      </p:sp>
      <p:sp>
        <p:nvSpPr>
          <p:cNvPr id="8" name="Shape 6"/>
          <p:cNvSpPr/>
          <p:nvPr/>
        </p:nvSpPr>
        <p:spPr>
          <a:xfrm>
            <a:off x="640080" y="2825496"/>
            <a:ext cx="402336" cy="402336"/>
          </a:xfrm>
          <a:prstGeom prst="ellipse">
            <a:avLst/>
          </a:prstGeom>
          <a:solidFill>
            <a:srgbClr val="1F8B5F"/>
          </a:solidFill>
          <a:ln w="12700">
            <a:solidFill>
              <a:srgbClr val="1F8B5F"/>
            </a:solidFill>
            <a:prstDash val="solid"/>
          </a:ln>
        </p:spPr>
      </p:sp>
      <p:sp>
        <p:nvSpPr>
          <p:cNvPr id="9" name="Text 7"/>
          <p:cNvSpPr txBox="1"/>
          <p:nvPr/>
        </p:nvSpPr>
        <p:spPr>
          <a:xfrm>
            <a:off x="640080" y="282549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0" name="Text 8"/>
          <p:cNvSpPr txBox="1"/>
          <p:nvPr/>
        </p:nvSpPr>
        <p:spPr>
          <a:xfrm>
            <a:off x="1261872" y="2788920"/>
            <a:ext cx="10259568" cy="219456"/>
          </a:xfrm>
          <a:prstGeom prst="rect">
            <a:avLst/>
          </a:prstGeom>
          <a:noFill/>
          <a:ln/>
        </p:spPr>
        <p:txBody>
          <a:bodyPr wrap="square" lIns="0" tIns="0" rIns="0" bIns="0" rtlCol="0" anchor="ctr"/>
          <a:lstStyle/>
          <a:p>
            <a:pPr indent="0" marL="0">
              <a:buNone/>
            </a:pPr>
            <a:r>
              <a:rPr lang="en-US" sz="1050" b="1" spc="140" kern="0" dirty="0">
                <a:solidFill>
                  <a:srgbClr val="5F6F66"/>
                </a:solidFill>
                <a:latin typeface="Calibri" pitchFamily="34" charset="0"/>
                <a:ea typeface="Calibri" pitchFamily="34" charset="-122"/>
                <a:cs typeface="Calibri" pitchFamily="34" charset="-120"/>
              </a:rPr>
              <a:t>THE ORGANISM NOW</a:t>
            </a:r>
            <a:endParaRPr lang="en-US" sz="1050" dirty="0"/>
          </a:p>
        </p:txBody>
      </p:sp>
      <p:sp>
        <p:nvSpPr>
          <p:cNvPr id="11" name="Text 9"/>
          <p:cNvSpPr txBox="1"/>
          <p:nvPr/>
        </p:nvSpPr>
        <p:spPr>
          <a:xfrm>
            <a:off x="1261872" y="3026664"/>
            <a:ext cx="10259568" cy="1133856"/>
          </a:xfrm>
          <a:prstGeom prst="rect">
            <a:avLst/>
          </a:prstGeom>
          <a:noFill/>
          <a:ln/>
        </p:spPr>
        <p:txBody>
          <a:bodyPr wrap="square" lIns="0" tIns="0" rIns="0" bIns="0" rtlCol="0" anchor="t"/>
          <a:lstStyle/>
          <a:p>
            <a:pPr indent="0" marL="0">
              <a:lnSpc>
                <a:spcPct val="108000"/>
              </a:lnSpc>
              <a:buNone/>
            </a:pPr>
            <a:r>
              <a:rPr lang="en-US" sz="1600" dirty="0">
                <a:solidFill>
                  <a:srgbClr val="132018"/>
                </a:solidFill>
                <a:latin typeface="Calibri" pitchFamily="34" charset="0"/>
                <a:ea typeface="Calibri" pitchFamily="34" charset="-122"/>
                <a:cs typeface="Calibri" pitchFamily="34" charset="-120"/>
              </a:rPr>
              <a:t>She uses a harmless soil germ called Bacillus subtilis, because it is the easiest living thing to rewire and it copies itself every half hour.</a:t>
            </a:r>
            <a:endParaRPr lang="en-US" sz="1600" dirty="0"/>
          </a:p>
        </p:txBody>
      </p:sp>
      <p:sp>
        <p:nvSpPr>
          <p:cNvPr id="12" name="Shape 10"/>
          <p:cNvSpPr/>
          <p:nvPr/>
        </p:nvSpPr>
        <p:spPr>
          <a:xfrm>
            <a:off x="640080" y="4379976"/>
            <a:ext cx="402336" cy="402336"/>
          </a:xfrm>
          <a:prstGeom prst="ellipse">
            <a:avLst/>
          </a:prstGeom>
          <a:solidFill>
            <a:srgbClr val="1F8B5F"/>
          </a:solidFill>
          <a:ln w="12700">
            <a:solidFill>
              <a:srgbClr val="1F8B5F"/>
            </a:solidFill>
            <a:prstDash val="solid"/>
          </a:ln>
        </p:spPr>
      </p:sp>
      <p:sp>
        <p:nvSpPr>
          <p:cNvPr id="13" name="Text 11"/>
          <p:cNvSpPr txBox="1"/>
          <p:nvPr/>
        </p:nvSpPr>
        <p:spPr>
          <a:xfrm>
            <a:off x="640080" y="437997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14" name="Text 12"/>
          <p:cNvSpPr txBox="1"/>
          <p:nvPr/>
        </p:nvSpPr>
        <p:spPr>
          <a:xfrm>
            <a:off x="1261872" y="4343400"/>
            <a:ext cx="10259568" cy="219456"/>
          </a:xfrm>
          <a:prstGeom prst="rect">
            <a:avLst/>
          </a:prstGeom>
          <a:noFill/>
          <a:ln/>
        </p:spPr>
        <p:txBody>
          <a:bodyPr wrap="square" lIns="0" tIns="0" rIns="0" bIns="0" rtlCol="0" anchor="ctr"/>
          <a:lstStyle/>
          <a:p>
            <a:pPr indent="0" marL="0">
              <a:buNone/>
            </a:pPr>
            <a:r>
              <a:rPr lang="en-US" sz="1050" b="1" spc="140" kern="0" dirty="0">
                <a:solidFill>
                  <a:srgbClr val="5F6F66"/>
                </a:solidFill>
                <a:latin typeface="Calibri" pitchFamily="34" charset="0"/>
                <a:ea typeface="Calibri" pitchFamily="34" charset="-122"/>
                <a:cs typeface="Calibri" pitchFamily="34" charset="-120"/>
              </a:rPr>
              <a:t>THE ORGANISM FIRST</a:t>
            </a:r>
            <a:endParaRPr lang="en-US" sz="1050" dirty="0"/>
          </a:p>
        </p:txBody>
      </p:sp>
      <p:sp>
        <p:nvSpPr>
          <p:cNvPr id="15" name="Text 13"/>
          <p:cNvSpPr txBox="1"/>
          <p:nvPr/>
        </p:nvSpPr>
        <p:spPr>
          <a:xfrm>
            <a:off x="1261872" y="4581144"/>
            <a:ext cx="10259568" cy="1316736"/>
          </a:xfrm>
          <a:prstGeom prst="rect">
            <a:avLst/>
          </a:prstGeom>
          <a:noFill/>
          <a:ln/>
        </p:spPr>
        <p:txBody>
          <a:bodyPr wrap="square" lIns="0" tIns="0" rIns="0" bIns="0" rtlCol="0" anchor="t"/>
          <a:lstStyle/>
          <a:p>
            <a:pPr indent="0" marL="0">
              <a:lnSpc>
                <a:spcPct val="108000"/>
              </a:lnSpc>
              <a:buNone/>
            </a:pPr>
            <a:r>
              <a:rPr lang="en-US" sz="1600" dirty="0">
                <a:solidFill>
                  <a:srgbClr val="132018"/>
                </a:solidFill>
                <a:latin typeface="Calibri" pitchFamily="34" charset="0"/>
                <a:ea typeface="Calibri" pitchFamily="34" charset="-122"/>
                <a:cs typeface="Calibri" pitchFamily="34" charset="-120"/>
              </a:rPr>
              <a:t>She started with flatworms instead, because you can cut one into pieces and every piece grows back into a whole worm, which sounded perfect for a file that heals.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603504"/>
            <a:ext cx="155448" cy="155448"/>
          </a:xfrm>
          <a:prstGeom prst="ellipse">
            <a:avLst/>
          </a:prstGeom>
          <a:solidFill>
            <a:srgbClr val="1F8B5F"/>
          </a:solidFill>
          <a:ln w="12700">
            <a:solidFill>
              <a:srgbClr val="1F8B5F"/>
            </a:solidFill>
            <a:prstDash val="solid"/>
          </a:ln>
        </p:spPr>
      </p:sp>
      <p:sp>
        <p:nvSpPr>
          <p:cNvPr id="3" name="Text 1"/>
          <p:cNvSpPr txBox="1"/>
          <p:nvPr/>
        </p:nvSpPr>
        <p:spPr>
          <a:xfrm>
            <a:off x="932688" y="502920"/>
            <a:ext cx="10588752" cy="384048"/>
          </a:xfrm>
          <a:prstGeom prst="rect">
            <a:avLst/>
          </a:prstGeom>
          <a:noFill/>
          <a:ln/>
        </p:spPr>
        <p:txBody>
          <a:bodyPr wrap="square" lIns="0" tIns="0" rIns="0" bIns="0" rtlCol="0" anchor="ctr"/>
          <a:lstStyle/>
          <a:p>
            <a:pPr indent="0" marL="0">
              <a:buNone/>
            </a:pPr>
            <a:r>
              <a:rPr lang="en-US" sz="2300" b="1" dirty="0">
                <a:solidFill>
                  <a:srgbClr val="132018"/>
                </a:solidFill>
                <a:latin typeface="Cambria" pitchFamily="34" charset="0"/>
                <a:ea typeface="Cambria" pitchFamily="34" charset="-122"/>
                <a:cs typeface="Cambria" pitchFamily="34" charset="-120"/>
              </a:rPr>
              <a:t>What is proven, and what is not</a:t>
            </a:r>
            <a:endParaRPr lang="en-US" sz="2300" dirty="0"/>
          </a:p>
        </p:txBody>
      </p:sp>
      <p:sp>
        <p:nvSpPr>
          <p:cNvPr id="4" name="Shape 2"/>
          <p:cNvSpPr/>
          <p:nvPr/>
        </p:nvSpPr>
        <p:spPr>
          <a:xfrm>
            <a:off x="640080" y="1271016"/>
            <a:ext cx="402336" cy="402336"/>
          </a:xfrm>
          <a:prstGeom prst="ellipse">
            <a:avLst/>
          </a:prstGeom>
          <a:solidFill>
            <a:srgbClr val="1F8B5F"/>
          </a:solidFill>
          <a:ln w="12700">
            <a:solidFill>
              <a:srgbClr val="1F8B5F"/>
            </a:solidFill>
            <a:prstDash val="solid"/>
          </a:ln>
        </p:spPr>
      </p:sp>
      <p:sp>
        <p:nvSpPr>
          <p:cNvPr id="5" name="Text 3"/>
          <p:cNvSpPr txBox="1"/>
          <p:nvPr/>
        </p:nvSpPr>
        <p:spPr>
          <a:xfrm>
            <a:off x="640080" y="127101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4</a:t>
            </a:r>
            <a:endParaRPr lang="en-US" sz="1700" dirty="0"/>
          </a:p>
        </p:txBody>
      </p:sp>
      <p:sp>
        <p:nvSpPr>
          <p:cNvPr id="6" name="Text 4"/>
          <p:cNvSpPr txBox="1"/>
          <p:nvPr/>
        </p:nvSpPr>
        <p:spPr>
          <a:xfrm>
            <a:off x="1261872" y="1234440"/>
            <a:ext cx="10259568" cy="219456"/>
          </a:xfrm>
          <a:prstGeom prst="rect">
            <a:avLst/>
          </a:prstGeom>
          <a:noFill/>
          <a:ln/>
        </p:spPr>
        <p:txBody>
          <a:bodyPr wrap="square" lIns="0" tIns="0" rIns="0" bIns="0" rtlCol="0" anchor="ctr"/>
          <a:lstStyle/>
          <a:p>
            <a:pPr indent="0" marL="0">
              <a:buNone/>
            </a:pPr>
            <a:r>
              <a:rPr lang="en-US" sz="1050" b="1" spc="140" kern="0" dirty="0">
                <a:solidFill>
                  <a:srgbClr val="5F6F66"/>
                </a:solidFill>
                <a:latin typeface="Calibri" pitchFamily="34" charset="0"/>
                <a:ea typeface="Calibri" pitchFamily="34" charset="-122"/>
                <a:cs typeface="Calibri" pitchFamily="34" charset="-120"/>
              </a:rPr>
              <a:t>PROVED IN SIMULATION</a:t>
            </a:r>
            <a:endParaRPr lang="en-US" sz="1050" dirty="0"/>
          </a:p>
        </p:txBody>
      </p:sp>
      <p:sp>
        <p:nvSpPr>
          <p:cNvPr id="7" name="Text 5"/>
          <p:cNvSpPr txBox="1"/>
          <p:nvPr/>
        </p:nvSpPr>
        <p:spPr>
          <a:xfrm>
            <a:off x="1261872" y="1472184"/>
            <a:ext cx="10259568" cy="1133856"/>
          </a:xfrm>
          <a:prstGeom prst="rect">
            <a:avLst/>
          </a:prstGeom>
          <a:noFill/>
          <a:ln/>
        </p:spPr>
        <p:txBody>
          <a:bodyPr wrap="square" lIns="0" tIns="0" rIns="0" bIns="0" rtlCol="0" anchor="t"/>
          <a:lstStyle/>
          <a:p>
            <a:pPr indent="0" marL="0">
              <a:lnSpc>
                <a:spcPct val="108000"/>
              </a:lnSpc>
              <a:buNone/>
            </a:pPr>
            <a:r>
              <a:rPr lang="en-US" sz="1600" dirty="0">
                <a:solidFill>
                  <a:srgbClr val="132018"/>
                </a:solidFill>
                <a:latin typeface="Calibri" pitchFamily="34" charset="0"/>
                <a:ea typeface="Calibri" pitchFamily="34" charset="-122"/>
                <a:cs typeface="Calibri" pitchFamily="34" charset="-120"/>
              </a:rPr>
              <a:t>On the computer, the stored bit survives having almost the entire colony wiped out, coming back correctly from as few as 2 germs out of 100.</a:t>
            </a:r>
            <a:endParaRPr lang="en-US" sz="1600" dirty="0"/>
          </a:p>
        </p:txBody>
      </p:sp>
      <p:sp>
        <p:nvSpPr>
          <p:cNvPr id="8" name="Shape 6"/>
          <p:cNvSpPr/>
          <p:nvPr/>
        </p:nvSpPr>
        <p:spPr>
          <a:xfrm>
            <a:off x="640080" y="2825496"/>
            <a:ext cx="402336" cy="402336"/>
          </a:xfrm>
          <a:prstGeom prst="ellipse">
            <a:avLst/>
          </a:prstGeom>
          <a:solidFill>
            <a:srgbClr val="1F8B5F"/>
          </a:solidFill>
          <a:ln w="12700">
            <a:solidFill>
              <a:srgbClr val="1F8B5F"/>
            </a:solidFill>
            <a:prstDash val="solid"/>
          </a:ln>
        </p:spPr>
      </p:sp>
      <p:sp>
        <p:nvSpPr>
          <p:cNvPr id="9" name="Text 7"/>
          <p:cNvSpPr txBox="1"/>
          <p:nvPr/>
        </p:nvSpPr>
        <p:spPr>
          <a:xfrm>
            <a:off x="640080" y="282549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5</a:t>
            </a:r>
            <a:endParaRPr lang="en-US" sz="1700" dirty="0"/>
          </a:p>
        </p:txBody>
      </p:sp>
      <p:sp>
        <p:nvSpPr>
          <p:cNvPr id="10" name="Text 8"/>
          <p:cNvSpPr txBox="1"/>
          <p:nvPr/>
        </p:nvSpPr>
        <p:spPr>
          <a:xfrm>
            <a:off x="1261872" y="2788920"/>
            <a:ext cx="10259568" cy="219456"/>
          </a:xfrm>
          <a:prstGeom prst="rect">
            <a:avLst/>
          </a:prstGeom>
          <a:noFill/>
          <a:ln/>
        </p:spPr>
        <p:txBody>
          <a:bodyPr wrap="square" lIns="0" tIns="0" rIns="0" bIns="0" rtlCol="0" anchor="ctr"/>
          <a:lstStyle/>
          <a:p>
            <a:pPr indent="0" marL="0">
              <a:buNone/>
            </a:pPr>
            <a:r>
              <a:rPr lang="en-US" sz="1050" b="1" spc="140" kern="0" dirty="0">
                <a:solidFill>
                  <a:srgbClr val="5F6F66"/>
                </a:solidFill>
                <a:latin typeface="Calibri" pitchFamily="34" charset="0"/>
                <a:ea typeface="Calibri" pitchFamily="34" charset="-122"/>
                <a:cs typeface="Calibri" pitchFamily="34" charset="-120"/>
              </a:rPr>
              <a:t>STILL UNPROVEN</a:t>
            </a:r>
            <a:endParaRPr lang="en-US" sz="1050" dirty="0"/>
          </a:p>
        </p:txBody>
      </p:sp>
      <p:sp>
        <p:nvSpPr>
          <p:cNvPr id="11" name="Text 9"/>
          <p:cNvSpPr txBox="1"/>
          <p:nvPr/>
        </p:nvSpPr>
        <p:spPr>
          <a:xfrm>
            <a:off x="1261872" y="3026664"/>
            <a:ext cx="10259568" cy="1133856"/>
          </a:xfrm>
          <a:prstGeom prst="rect">
            <a:avLst/>
          </a:prstGeom>
          <a:noFill/>
          <a:ln/>
        </p:spPr>
        <p:txBody>
          <a:bodyPr wrap="square" lIns="0" tIns="0" rIns="0" bIns="0" rtlCol="0" anchor="t"/>
          <a:lstStyle/>
          <a:p>
            <a:pPr indent="0" marL="0">
              <a:lnSpc>
                <a:spcPct val="108000"/>
              </a:lnSpc>
              <a:buNone/>
            </a:pPr>
            <a:r>
              <a:rPr lang="en-US" sz="1600" dirty="0">
                <a:solidFill>
                  <a:srgbClr val="132018"/>
                </a:solidFill>
                <a:latin typeface="Calibri" pitchFamily="34" charset="0"/>
                <a:ea typeface="Calibri" pitchFamily="34" charset="-122"/>
                <a:cs typeface="Calibri" pitchFamily="34" charset="-120"/>
              </a:rPr>
              <a:t>Whether that actually happens in real living cells, which nobody on Earth has ever tested, in any organism.</a:t>
            </a:r>
            <a:endParaRPr lang="en-US" sz="1600" dirty="0"/>
          </a:p>
        </p:txBody>
      </p:sp>
      <p:sp>
        <p:nvSpPr>
          <p:cNvPr id="12" name="Shape 10"/>
          <p:cNvSpPr/>
          <p:nvPr/>
        </p:nvSpPr>
        <p:spPr>
          <a:xfrm>
            <a:off x="640080" y="4379976"/>
            <a:ext cx="402336" cy="402336"/>
          </a:xfrm>
          <a:prstGeom prst="ellipse">
            <a:avLst/>
          </a:prstGeom>
          <a:solidFill>
            <a:srgbClr val="1F8B5F"/>
          </a:solidFill>
          <a:ln w="12700">
            <a:solidFill>
              <a:srgbClr val="1F8B5F"/>
            </a:solidFill>
            <a:prstDash val="solid"/>
          </a:ln>
        </p:spPr>
      </p:sp>
      <p:sp>
        <p:nvSpPr>
          <p:cNvPr id="13" name="Text 11"/>
          <p:cNvSpPr txBox="1"/>
          <p:nvPr/>
        </p:nvSpPr>
        <p:spPr>
          <a:xfrm>
            <a:off x="640080" y="437997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6</a:t>
            </a:r>
            <a:endParaRPr lang="en-US" sz="1700" dirty="0"/>
          </a:p>
        </p:txBody>
      </p:sp>
      <p:sp>
        <p:nvSpPr>
          <p:cNvPr id="14" name="Text 12"/>
          <p:cNvSpPr txBox="1"/>
          <p:nvPr/>
        </p:nvSpPr>
        <p:spPr>
          <a:xfrm>
            <a:off x="1261872" y="4343400"/>
            <a:ext cx="10259568" cy="219456"/>
          </a:xfrm>
          <a:prstGeom prst="rect">
            <a:avLst/>
          </a:prstGeom>
          <a:noFill/>
          <a:ln/>
        </p:spPr>
        <p:txBody>
          <a:bodyPr wrap="square" lIns="0" tIns="0" rIns="0" bIns="0" rtlCol="0" anchor="ctr"/>
          <a:lstStyle/>
          <a:p>
            <a:pPr indent="0" marL="0">
              <a:buNone/>
            </a:pPr>
            <a:r>
              <a:rPr lang="en-US" sz="1050" b="1" spc="140" kern="0" dirty="0">
                <a:solidFill>
                  <a:srgbClr val="5F6F66"/>
                </a:solidFill>
                <a:latin typeface="Calibri" pitchFamily="34" charset="0"/>
                <a:ea typeface="Calibri" pitchFamily="34" charset="-122"/>
                <a:cs typeface="Calibri" pitchFamily="34" charset="-120"/>
              </a:rPr>
              <a:t>THE FIRST REAL TEST</a:t>
            </a:r>
            <a:endParaRPr lang="en-US" sz="1050" dirty="0"/>
          </a:p>
        </p:txBody>
      </p:sp>
      <p:sp>
        <p:nvSpPr>
          <p:cNvPr id="15" name="Text 13"/>
          <p:cNvSpPr txBox="1"/>
          <p:nvPr/>
        </p:nvSpPr>
        <p:spPr>
          <a:xfrm>
            <a:off x="1261872" y="4581144"/>
            <a:ext cx="10259568" cy="1316736"/>
          </a:xfrm>
          <a:prstGeom prst="rect">
            <a:avLst/>
          </a:prstGeom>
          <a:noFill/>
          <a:ln/>
        </p:spPr>
        <p:txBody>
          <a:bodyPr wrap="square" lIns="0" tIns="0" rIns="0" bIns="0" rtlCol="0" anchor="t"/>
          <a:lstStyle/>
          <a:p>
            <a:pPr indent="0" marL="0">
              <a:lnSpc>
                <a:spcPct val="108000"/>
              </a:lnSpc>
              <a:buNone/>
            </a:pPr>
            <a:r>
              <a:rPr lang="en-US" sz="1600" dirty="0">
                <a:solidFill>
                  <a:srgbClr val="132018"/>
                </a:solidFill>
                <a:latin typeface="Calibri" pitchFamily="34" charset="0"/>
                <a:ea typeface="Calibri" pitchFamily="34" charset="-122"/>
                <a:cs typeface="Calibri" pitchFamily="34" charset="-120"/>
              </a:rPr>
              <a:t>The first lab test costs roughly $2,000 to $5,000 and takes months, not years, and it only has to answer one question: does the switch really hold two positions inside a real germ.</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603504"/>
            <a:ext cx="155448" cy="155448"/>
          </a:xfrm>
          <a:prstGeom prst="ellipse">
            <a:avLst/>
          </a:prstGeom>
          <a:solidFill>
            <a:srgbClr val="1F8B5F"/>
          </a:solidFill>
          <a:ln w="12700">
            <a:solidFill>
              <a:srgbClr val="1F8B5F"/>
            </a:solidFill>
            <a:prstDash val="solid"/>
          </a:ln>
        </p:spPr>
      </p:sp>
      <p:sp>
        <p:nvSpPr>
          <p:cNvPr id="3" name="Text 1"/>
          <p:cNvSpPr txBox="1"/>
          <p:nvPr/>
        </p:nvSpPr>
        <p:spPr>
          <a:xfrm>
            <a:off x="932688" y="502920"/>
            <a:ext cx="10588752" cy="384048"/>
          </a:xfrm>
          <a:prstGeom prst="rect">
            <a:avLst/>
          </a:prstGeom>
          <a:noFill/>
          <a:ln/>
        </p:spPr>
        <p:txBody>
          <a:bodyPr wrap="square" lIns="0" tIns="0" rIns="0" bIns="0" rtlCol="0" anchor="ctr"/>
          <a:lstStyle/>
          <a:p>
            <a:pPr indent="0" marL="0">
              <a:buNone/>
            </a:pPr>
            <a:r>
              <a:rPr lang="en-US" sz="2300" b="1" dirty="0">
                <a:solidFill>
                  <a:srgbClr val="132018"/>
                </a:solidFill>
                <a:latin typeface="Cambria" pitchFamily="34" charset="0"/>
                <a:ea typeface="Cambria" pitchFamily="34" charset="-122"/>
                <a:cs typeface="Cambria" pitchFamily="34" charset="-120"/>
              </a:rPr>
              <a:t>Why it matters, and where the money comes from</a:t>
            </a:r>
            <a:endParaRPr lang="en-US" sz="2300" dirty="0"/>
          </a:p>
        </p:txBody>
      </p:sp>
      <p:sp>
        <p:nvSpPr>
          <p:cNvPr id="4" name="Shape 2"/>
          <p:cNvSpPr/>
          <p:nvPr/>
        </p:nvSpPr>
        <p:spPr>
          <a:xfrm>
            <a:off x="640080" y="1271016"/>
            <a:ext cx="402336" cy="402336"/>
          </a:xfrm>
          <a:prstGeom prst="ellipse">
            <a:avLst/>
          </a:prstGeom>
          <a:solidFill>
            <a:srgbClr val="1F8B5F"/>
          </a:solidFill>
          <a:ln w="12700">
            <a:solidFill>
              <a:srgbClr val="1F8B5F"/>
            </a:solidFill>
            <a:prstDash val="solid"/>
          </a:ln>
        </p:spPr>
      </p:sp>
      <p:sp>
        <p:nvSpPr>
          <p:cNvPr id="5" name="Text 3"/>
          <p:cNvSpPr txBox="1"/>
          <p:nvPr/>
        </p:nvSpPr>
        <p:spPr>
          <a:xfrm>
            <a:off x="640080" y="127101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7</a:t>
            </a:r>
            <a:endParaRPr lang="en-US" sz="1700" dirty="0"/>
          </a:p>
        </p:txBody>
      </p:sp>
      <p:sp>
        <p:nvSpPr>
          <p:cNvPr id="6" name="Text 4"/>
          <p:cNvSpPr txBox="1"/>
          <p:nvPr/>
        </p:nvSpPr>
        <p:spPr>
          <a:xfrm>
            <a:off x="1261872" y="1234440"/>
            <a:ext cx="10259568" cy="219456"/>
          </a:xfrm>
          <a:prstGeom prst="rect">
            <a:avLst/>
          </a:prstGeom>
          <a:noFill/>
          <a:ln/>
        </p:spPr>
        <p:txBody>
          <a:bodyPr wrap="square" lIns="0" tIns="0" rIns="0" bIns="0" rtlCol="0" anchor="ctr"/>
          <a:lstStyle/>
          <a:p>
            <a:pPr indent="0" marL="0">
              <a:buNone/>
            </a:pPr>
            <a:r>
              <a:rPr lang="en-US" sz="1050" b="1" spc="140" kern="0" dirty="0">
                <a:solidFill>
                  <a:srgbClr val="5F6F66"/>
                </a:solidFill>
                <a:latin typeface="Calibri" pitchFamily="34" charset="0"/>
                <a:ea typeface="Calibri" pitchFamily="34" charset="-122"/>
                <a:cs typeface="Calibri" pitchFamily="34" charset="-120"/>
              </a:rPr>
              <a:t>IF IT WORKS</a:t>
            </a:r>
            <a:endParaRPr lang="en-US" sz="1050" dirty="0"/>
          </a:p>
        </p:txBody>
      </p:sp>
      <p:sp>
        <p:nvSpPr>
          <p:cNvPr id="7" name="Text 5"/>
          <p:cNvSpPr txBox="1"/>
          <p:nvPr/>
        </p:nvSpPr>
        <p:spPr>
          <a:xfrm>
            <a:off x="1261872" y="1472184"/>
            <a:ext cx="10259568" cy="1133856"/>
          </a:xfrm>
          <a:prstGeom prst="rect">
            <a:avLst/>
          </a:prstGeom>
          <a:noFill/>
          <a:ln/>
        </p:spPr>
        <p:txBody>
          <a:bodyPr wrap="square" lIns="0" tIns="0" rIns="0" bIns="0" rtlCol="0" anchor="t"/>
          <a:lstStyle/>
          <a:p>
            <a:pPr indent="0" marL="0">
              <a:lnSpc>
                <a:spcPct val="108000"/>
              </a:lnSpc>
              <a:buNone/>
            </a:pPr>
            <a:r>
              <a:rPr lang="en-US" sz="1600" dirty="0">
                <a:solidFill>
                  <a:srgbClr val="132018"/>
                </a:solidFill>
                <a:latin typeface="Calibri" pitchFamily="34" charset="0"/>
                <a:ea typeface="Calibri" pitchFamily="34" charset="-122"/>
                <a:cs typeface="Calibri" pitchFamily="34" charset="-120"/>
              </a:rPr>
              <a:t>She would own the first evidence that a memory can survive being almost destroyed and rebuild itself, which is the one thing nobody else in this field has.</a:t>
            </a:r>
            <a:endParaRPr lang="en-US" sz="1600" dirty="0"/>
          </a:p>
        </p:txBody>
      </p:sp>
      <p:sp>
        <p:nvSpPr>
          <p:cNvPr id="8" name="Shape 6"/>
          <p:cNvSpPr/>
          <p:nvPr/>
        </p:nvSpPr>
        <p:spPr>
          <a:xfrm>
            <a:off x="640080" y="2825496"/>
            <a:ext cx="402336" cy="402336"/>
          </a:xfrm>
          <a:prstGeom prst="ellipse">
            <a:avLst/>
          </a:prstGeom>
          <a:solidFill>
            <a:srgbClr val="1F8B5F"/>
          </a:solidFill>
          <a:ln w="12700">
            <a:solidFill>
              <a:srgbClr val="1F8B5F"/>
            </a:solidFill>
            <a:prstDash val="solid"/>
          </a:ln>
        </p:spPr>
      </p:sp>
      <p:sp>
        <p:nvSpPr>
          <p:cNvPr id="9" name="Text 7"/>
          <p:cNvSpPr txBox="1"/>
          <p:nvPr/>
        </p:nvSpPr>
        <p:spPr>
          <a:xfrm>
            <a:off x="640080" y="282549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8</a:t>
            </a:r>
            <a:endParaRPr lang="en-US" sz="1700" dirty="0"/>
          </a:p>
        </p:txBody>
      </p:sp>
      <p:sp>
        <p:nvSpPr>
          <p:cNvPr id="10" name="Text 8"/>
          <p:cNvSpPr txBox="1"/>
          <p:nvPr/>
        </p:nvSpPr>
        <p:spPr>
          <a:xfrm>
            <a:off x="1261872" y="2788920"/>
            <a:ext cx="10259568" cy="219456"/>
          </a:xfrm>
          <a:prstGeom prst="rect">
            <a:avLst/>
          </a:prstGeom>
          <a:noFill/>
          <a:ln/>
        </p:spPr>
        <p:txBody>
          <a:bodyPr wrap="square" lIns="0" tIns="0" rIns="0" bIns="0" rtlCol="0" anchor="ctr"/>
          <a:lstStyle/>
          <a:p>
            <a:pPr indent="0" marL="0">
              <a:buNone/>
            </a:pPr>
            <a:r>
              <a:rPr lang="en-US" sz="1050" b="1" spc="140" kern="0" dirty="0">
                <a:solidFill>
                  <a:srgbClr val="5F6F66"/>
                </a:solidFill>
                <a:latin typeface="Calibri" pitchFamily="34" charset="0"/>
                <a:ea typeface="Calibri" pitchFamily="34" charset="-122"/>
                <a:cs typeface="Calibri" pitchFamily="34" charset="-120"/>
              </a:rPr>
              <a:t>WHY IT IS NEW</a:t>
            </a:r>
            <a:endParaRPr lang="en-US" sz="1050" dirty="0"/>
          </a:p>
        </p:txBody>
      </p:sp>
      <p:sp>
        <p:nvSpPr>
          <p:cNvPr id="11" name="Text 9"/>
          <p:cNvSpPr txBox="1"/>
          <p:nvPr/>
        </p:nvSpPr>
        <p:spPr>
          <a:xfrm>
            <a:off x="1261872" y="3026664"/>
            <a:ext cx="10259568" cy="1133856"/>
          </a:xfrm>
          <a:prstGeom prst="rect">
            <a:avLst/>
          </a:prstGeom>
          <a:noFill/>
          <a:ln/>
        </p:spPr>
        <p:txBody>
          <a:bodyPr wrap="square" lIns="0" tIns="0" rIns="0" bIns="0" rtlCol="0" anchor="t"/>
          <a:lstStyle/>
          <a:p>
            <a:pPr indent="0" marL="0">
              <a:lnSpc>
                <a:spcPct val="108000"/>
              </a:lnSpc>
              <a:buNone/>
            </a:pPr>
            <a:r>
              <a:rPr lang="en-US" sz="1600" dirty="0">
                <a:solidFill>
                  <a:srgbClr val="132018"/>
                </a:solidFill>
                <a:latin typeface="Calibri" pitchFamily="34" charset="0"/>
                <a:ea typeface="Calibri" pitchFamily="34" charset="-122"/>
                <a:cs typeface="Calibri" pitchFamily="34" charset="-120"/>
              </a:rPr>
              <a:t>Other labs have already put data into cells, so the new part is not storing it, it is whether the memory lives through the cells being mostly killed and regrown.</a:t>
            </a:r>
            <a:endParaRPr lang="en-US" sz="1600" dirty="0"/>
          </a:p>
        </p:txBody>
      </p:sp>
      <p:sp>
        <p:nvSpPr>
          <p:cNvPr id="12" name="Shape 10"/>
          <p:cNvSpPr/>
          <p:nvPr/>
        </p:nvSpPr>
        <p:spPr>
          <a:xfrm>
            <a:off x="640080" y="4379976"/>
            <a:ext cx="402336" cy="402336"/>
          </a:xfrm>
          <a:prstGeom prst="ellipse">
            <a:avLst/>
          </a:prstGeom>
          <a:solidFill>
            <a:srgbClr val="1F8B5F"/>
          </a:solidFill>
          <a:ln w="12700">
            <a:solidFill>
              <a:srgbClr val="1F8B5F"/>
            </a:solidFill>
            <a:prstDash val="solid"/>
          </a:ln>
        </p:spPr>
      </p:sp>
      <p:sp>
        <p:nvSpPr>
          <p:cNvPr id="13" name="Text 11"/>
          <p:cNvSpPr txBox="1"/>
          <p:nvPr/>
        </p:nvSpPr>
        <p:spPr>
          <a:xfrm>
            <a:off x="640080" y="437997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9</a:t>
            </a:r>
            <a:endParaRPr lang="en-US" sz="1700" dirty="0"/>
          </a:p>
        </p:txBody>
      </p:sp>
      <p:sp>
        <p:nvSpPr>
          <p:cNvPr id="14" name="Text 12"/>
          <p:cNvSpPr txBox="1"/>
          <p:nvPr/>
        </p:nvSpPr>
        <p:spPr>
          <a:xfrm>
            <a:off x="1261872" y="4343400"/>
            <a:ext cx="10259568" cy="219456"/>
          </a:xfrm>
          <a:prstGeom prst="rect">
            <a:avLst/>
          </a:prstGeom>
          <a:noFill/>
          <a:ln/>
        </p:spPr>
        <p:txBody>
          <a:bodyPr wrap="square" lIns="0" tIns="0" rIns="0" bIns="0" rtlCol="0" anchor="ctr"/>
          <a:lstStyle/>
          <a:p>
            <a:pPr indent="0" marL="0">
              <a:buNone/>
            </a:pPr>
            <a:r>
              <a:rPr lang="en-US" sz="1050" b="1" spc="140" kern="0" dirty="0">
                <a:solidFill>
                  <a:srgbClr val="5F6F66"/>
                </a:solidFill>
                <a:latin typeface="Calibri" pitchFamily="34" charset="0"/>
                <a:ea typeface="Calibri" pitchFamily="34" charset="-122"/>
                <a:cs typeface="Calibri" pitchFamily="34" charset="-120"/>
              </a:rPr>
              <a:t>THE MONEY, HONESTLY</a:t>
            </a:r>
            <a:endParaRPr lang="en-US" sz="1050" dirty="0"/>
          </a:p>
        </p:txBody>
      </p:sp>
      <p:sp>
        <p:nvSpPr>
          <p:cNvPr id="15" name="Text 13"/>
          <p:cNvSpPr txBox="1"/>
          <p:nvPr/>
        </p:nvSpPr>
        <p:spPr>
          <a:xfrm>
            <a:off x="1261872" y="4581144"/>
            <a:ext cx="10259568" cy="1316736"/>
          </a:xfrm>
          <a:prstGeom prst="rect">
            <a:avLst/>
          </a:prstGeom>
          <a:noFill/>
          <a:ln/>
        </p:spPr>
        <p:txBody>
          <a:bodyPr wrap="square" lIns="0" tIns="0" rIns="0" bIns="0" rtlCol="0" anchor="t"/>
          <a:lstStyle/>
          <a:p>
            <a:pPr indent="0" marL="0">
              <a:lnSpc>
                <a:spcPct val="108000"/>
              </a:lnSpc>
              <a:buNone/>
            </a:pPr>
            <a:r>
              <a:rPr lang="en-US" sz="1600" dirty="0">
                <a:solidFill>
                  <a:srgbClr val="132018"/>
                </a:solidFill>
                <a:latin typeface="Calibri" pitchFamily="34" charset="0"/>
                <a:ea typeface="Calibri" pitchFamily="34" charset="-122"/>
                <a:cs typeface="Calibri" pitchFamily="34" charset="-120"/>
              </a:rPr>
              <a:t>The money comes from research grants first, up to about $305,000 from one US government programme, and not from selling anything, because nothing in this field sells yet.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603504"/>
            <a:ext cx="155448" cy="155448"/>
          </a:xfrm>
          <a:prstGeom prst="ellipse">
            <a:avLst/>
          </a:prstGeom>
          <a:solidFill>
            <a:srgbClr val="1F8B5F"/>
          </a:solidFill>
          <a:ln w="12700">
            <a:solidFill>
              <a:srgbClr val="1F8B5F"/>
            </a:solidFill>
            <a:prstDash val="solid"/>
          </a:ln>
        </p:spPr>
      </p:sp>
      <p:sp>
        <p:nvSpPr>
          <p:cNvPr id="3" name="Text 1"/>
          <p:cNvSpPr txBox="1"/>
          <p:nvPr/>
        </p:nvSpPr>
        <p:spPr>
          <a:xfrm>
            <a:off x="932688" y="502920"/>
            <a:ext cx="10588752" cy="384048"/>
          </a:xfrm>
          <a:prstGeom prst="rect">
            <a:avLst/>
          </a:prstGeom>
          <a:noFill/>
          <a:ln/>
        </p:spPr>
        <p:txBody>
          <a:bodyPr wrap="square" lIns="0" tIns="0" rIns="0" bIns="0" rtlCol="0" anchor="ctr"/>
          <a:lstStyle/>
          <a:p>
            <a:pPr indent="0" marL="0">
              <a:buNone/>
            </a:pPr>
            <a:r>
              <a:rPr lang="en-US" sz="2300" b="1" dirty="0">
                <a:solidFill>
                  <a:srgbClr val="132018"/>
                </a:solidFill>
                <a:latin typeface="Cambria" pitchFamily="34" charset="0"/>
                <a:ea typeface="Cambria" pitchFamily="34" charset="-122"/>
                <a:cs typeface="Cambria" pitchFamily="34" charset="-120"/>
              </a:rPr>
              <a:t>The whole alphabet is two colours</a:t>
            </a:r>
            <a:endParaRPr lang="en-US" sz="2300" dirty="0"/>
          </a:p>
        </p:txBody>
      </p:sp>
      <p:sp>
        <p:nvSpPr>
          <p:cNvPr id="4" name="Text 2"/>
          <p:cNvSpPr txBox="1"/>
          <p:nvPr/>
        </p:nvSpPr>
        <p:spPr>
          <a:xfrm>
            <a:off x="640080" y="1143000"/>
            <a:ext cx="6035040" cy="1737360"/>
          </a:xfrm>
          <a:prstGeom prst="rect">
            <a:avLst/>
          </a:prstGeom>
          <a:noFill/>
          <a:ln/>
        </p:spPr>
        <p:txBody>
          <a:bodyPr wrap="square" lIns="0" tIns="0" rIns="0" bIns="0" rtlCol="0" anchor="ctr"/>
          <a:lstStyle/>
          <a:p>
            <a:pPr indent="0" marL="0">
              <a:lnSpc>
                <a:spcPct val="115000"/>
              </a:lnSpc>
              <a:buNone/>
            </a:pPr>
            <a:r>
              <a:rPr lang="en-US" sz="1600" dirty="0">
                <a:solidFill>
                  <a:srgbClr val="132018"/>
                </a:solidFill>
                <a:latin typeface="Calibri" pitchFamily="34" charset="0"/>
                <a:ea typeface="Calibri" pitchFamily="34" charset="-122"/>
                <a:cs typeface="Calibri" pitchFamily="34" charset="-120"/>
              </a:rPr>
              <a:t>Inside each germ sits a tiny switch built out of genes: two genes that each tell the other to be quiet. Whichever one is winning keeps winning, so the switch stays where you leave it. One position makes the germ glow green, the other makes it glow red.</a:t>
            </a:r>
            <a:endParaRPr lang="en-US" sz="1600" dirty="0"/>
          </a:p>
        </p:txBody>
      </p:sp>
      <p:sp>
        <p:nvSpPr>
          <p:cNvPr id="5" name="Text 3"/>
          <p:cNvSpPr txBox="1"/>
          <p:nvPr/>
        </p:nvSpPr>
        <p:spPr>
          <a:xfrm>
            <a:off x="640080" y="3017520"/>
            <a:ext cx="6035040" cy="914400"/>
          </a:xfrm>
          <a:prstGeom prst="rect">
            <a:avLst/>
          </a:prstGeom>
          <a:noFill/>
          <a:ln/>
        </p:spPr>
        <p:txBody>
          <a:bodyPr wrap="square" lIns="0" tIns="0" rIns="0" bIns="0" rtlCol="0" anchor="ctr"/>
          <a:lstStyle/>
          <a:p>
            <a:pPr indent="0" marL="0">
              <a:lnSpc>
                <a:spcPct val="115000"/>
              </a:lnSpc>
              <a:buNone/>
            </a:pPr>
            <a:r>
              <a:rPr lang="en-US" sz="1600" i="1" dirty="0">
                <a:solidFill>
                  <a:srgbClr val="5F6F66"/>
                </a:solidFill>
                <a:latin typeface="Calibri" pitchFamily="34" charset="0"/>
                <a:ea typeface="Calibri" pitchFamily="34" charset="-122"/>
                <a:cs typeface="Calibri" pitchFamily="34" charset="-120"/>
              </a:rPr>
              <a:t>Reading it does not kill anything, so the same dish can be read again and again.</a:t>
            </a:r>
            <a:endParaRPr lang="en-US" sz="1600" dirty="0"/>
          </a:p>
        </p:txBody>
      </p:sp>
      <p:sp>
        <p:nvSpPr>
          <p:cNvPr id="6" name="Shape 4"/>
          <p:cNvSpPr/>
          <p:nvPr/>
        </p:nvSpPr>
        <p:spPr>
          <a:xfrm>
            <a:off x="7498080" y="1417320"/>
            <a:ext cx="1737360" cy="1737360"/>
          </a:xfrm>
          <a:prstGeom prst="ellipse">
            <a:avLst/>
          </a:prstGeom>
          <a:solidFill>
            <a:srgbClr val="1F8B5F"/>
          </a:solidFill>
          <a:ln w="12700">
            <a:solidFill>
              <a:srgbClr val="1F8B5F"/>
            </a:solidFill>
            <a:prstDash val="solid"/>
          </a:ln>
        </p:spPr>
      </p:sp>
      <p:sp>
        <p:nvSpPr>
          <p:cNvPr id="7" name="Text 5"/>
          <p:cNvSpPr txBox="1"/>
          <p:nvPr/>
        </p:nvSpPr>
        <p:spPr>
          <a:xfrm>
            <a:off x="7498080" y="1417320"/>
            <a:ext cx="1737360" cy="173736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a:t>
            </a:r>
            <a:endParaRPr lang="en-US" sz="6000" dirty="0"/>
          </a:p>
        </p:txBody>
      </p:sp>
      <p:sp>
        <p:nvSpPr>
          <p:cNvPr id="8" name="Text 6"/>
          <p:cNvSpPr txBox="1"/>
          <p:nvPr/>
        </p:nvSpPr>
        <p:spPr>
          <a:xfrm>
            <a:off x="7498080" y="3291840"/>
            <a:ext cx="1737360" cy="320040"/>
          </a:xfrm>
          <a:prstGeom prst="rect">
            <a:avLst/>
          </a:prstGeom>
          <a:noFill/>
          <a:ln/>
        </p:spPr>
        <p:txBody>
          <a:bodyPr wrap="square" lIns="0" tIns="0" rIns="0" bIns="0" rtlCol="0" anchor="ctr"/>
          <a:lstStyle/>
          <a:p>
            <a:pPr algn="ctr" indent="0" marL="0">
              <a:buNone/>
            </a:pPr>
            <a:r>
              <a:rPr lang="en-US" sz="1250" dirty="0">
                <a:solidFill>
                  <a:srgbClr val="5F6F66"/>
                </a:solidFill>
                <a:latin typeface="Calibri" pitchFamily="34" charset="0"/>
                <a:ea typeface="Calibri" pitchFamily="34" charset="-122"/>
                <a:cs typeface="Calibri" pitchFamily="34" charset="-120"/>
              </a:rPr>
              <a:t>glows green</a:t>
            </a:r>
            <a:endParaRPr lang="en-US" sz="1250" dirty="0"/>
          </a:p>
        </p:txBody>
      </p:sp>
      <p:sp>
        <p:nvSpPr>
          <p:cNvPr id="9" name="Shape 7"/>
          <p:cNvSpPr/>
          <p:nvPr/>
        </p:nvSpPr>
        <p:spPr>
          <a:xfrm>
            <a:off x="9784080" y="1417320"/>
            <a:ext cx="1737360" cy="1737360"/>
          </a:xfrm>
          <a:prstGeom prst="ellipse">
            <a:avLst/>
          </a:prstGeom>
          <a:solidFill>
            <a:srgbClr val="C8453C"/>
          </a:solidFill>
          <a:ln w="12700">
            <a:solidFill>
              <a:srgbClr val="C8453C"/>
            </a:solidFill>
            <a:prstDash val="solid"/>
          </a:ln>
        </p:spPr>
      </p:sp>
      <p:sp>
        <p:nvSpPr>
          <p:cNvPr id="10" name="Text 8"/>
          <p:cNvSpPr txBox="1"/>
          <p:nvPr/>
        </p:nvSpPr>
        <p:spPr>
          <a:xfrm>
            <a:off x="9784080" y="1417320"/>
            <a:ext cx="1737360" cy="173736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a:t>
            </a:r>
            <a:endParaRPr lang="en-US" sz="6000" dirty="0"/>
          </a:p>
        </p:txBody>
      </p:sp>
      <p:sp>
        <p:nvSpPr>
          <p:cNvPr id="11" name="Text 9"/>
          <p:cNvSpPr txBox="1"/>
          <p:nvPr/>
        </p:nvSpPr>
        <p:spPr>
          <a:xfrm>
            <a:off x="9784080" y="3291840"/>
            <a:ext cx="1737360" cy="320040"/>
          </a:xfrm>
          <a:prstGeom prst="rect">
            <a:avLst/>
          </a:prstGeom>
          <a:noFill/>
          <a:ln/>
        </p:spPr>
        <p:txBody>
          <a:bodyPr wrap="square" lIns="0" tIns="0" rIns="0" bIns="0" rtlCol="0" anchor="ctr"/>
          <a:lstStyle/>
          <a:p>
            <a:pPr algn="ctr" indent="0" marL="0">
              <a:buNone/>
            </a:pPr>
            <a:r>
              <a:rPr lang="en-US" sz="1250" dirty="0">
                <a:solidFill>
                  <a:srgbClr val="5F6F66"/>
                </a:solidFill>
                <a:latin typeface="Calibri" pitchFamily="34" charset="0"/>
                <a:ea typeface="Calibri" pitchFamily="34" charset="-122"/>
                <a:cs typeface="Calibri" pitchFamily="34" charset="-120"/>
              </a:rPr>
              <a:t>glows red</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603504"/>
            <a:ext cx="155448" cy="155448"/>
          </a:xfrm>
          <a:prstGeom prst="ellipse">
            <a:avLst/>
          </a:prstGeom>
          <a:solidFill>
            <a:srgbClr val="1F8B5F"/>
          </a:solidFill>
          <a:ln w="12700">
            <a:solidFill>
              <a:srgbClr val="1F8B5F"/>
            </a:solidFill>
            <a:prstDash val="solid"/>
          </a:ln>
        </p:spPr>
      </p:sp>
      <p:sp>
        <p:nvSpPr>
          <p:cNvPr id="3" name="Text 1"/>
          <p:cNvSpPr txBox="1"/>
          <p:nvPr/>
        </p:nvSpPr>
        <p:spPr>
          <a:xfrm>
            <a:off x="932688" y="502920"/>
            <a:ext cx="10588752" cy="384048"/>
          </a:xfrm>
          <a:prstGeom prst="rect">
            <a:avLst/>
          </a:prstGeom>
          <a:noFill/>
          <a:ln/>
        </p:spPr>
        <p:txBody>
          <a:bodyPr wrap="square" lIns="0" tIns="0" rIns="0" bIns="0" rtlCol="0" anchor="ctr"/>
          <a:lstStyle/>
          <a:p>
            <a:pPr indent="0" marL="0">
              <a:buNone/>
            </a:pPr>
            <a:r>
              <a:rPr lang="en-US" sz="2300" b="1" dirty="0">
                <a:solidFill>
                  <a:srgbClr val="132018"/>
                </a:solidFill>
                <a:latin typeface="Cambria" pitchFamily="34" charset="0"/>
                <a:ea typeface="Cambria" pitchFamily="34" charset="-122"/>
                <a:cs typeface="Cambria" pitchFamily="34" charset="-120"/>
              </a:rPr>
              <a:t>Why splitting in half is the whole trick</a:t>
            </a:r>
            <a:endParaRPr lang="en-US" sz="2300" dirty="0"/>
          </a:p>
        </p:txBody>
      </p:sp>
      <p:sp>
        <p:nvSpPr>
          <p:cNvPr id="4" name="Text 2"/>
          <p:cNvSpPr txBox="1"/>
          <p:nvPr/>
        </p:nvSpPr>
        <p:spPr>
          <a:xfrm>
            <a:off x="640080" y="1143000"/>
            <a:ext cx="10881360" cy="868680"/>
          </a:xfrm>
          <a:prstGeom prst="rect">
            <a:avLst/>
          </a:prstGeom>
          <a:noFill/>
          <a:ln/>
        </p:spPr>
        <p:txBody>
          <a:bodyPr wrap="square" lIns="0" tIns="0" rIns="0" bIns="0" rtlCol="0" anchor="ctr"/>
          <a:lstStyle/>
          <a:p>
            <a:pPr indent="0" marL="0">
              <a:lnSpc>
                <a:spcPct val="115000"/>
              </a:lnSpc>
              <a:buNone/>
            </a:pPr>
            <a:r>
              <a:rPr lang="en-US" sz="1600" dirty="0">
                <a:solidFill>
                  <a:srgbClr val="132018"/>
                </a:solidFill>
                <a:latin typeface="Calibri" pitchFamily="34" charset="0"/>
                <a:ea typeface="Calibri" pitchFamily="34" charset="-122"/>
                <a:cs typeface="Calibri" pitchFamily="34" charset="-120"/>
              </a:rPr>
              <a:t>When a germ divides, both halves keep the switch in the same position. So the memory copies itself, for free, every half hour. Nobody has to back it up.</a:t>
            </a:r>
            <a:endParaRPr lang="en-US" sz="1600" dirty="0"/>
          </a:p>
        </p:txBody>
      </p:sp>
      <p:sp>
        <p:nvSpPr>
          <p:cNvPr id="5" name="Text 3"/>
          <p:cNvSpPr txBox="1"/>
          <p:nvPr/>
        </p:nvSpPr>
        <p:spPr>
          <a:xfrm>
            <a:off x="640080" y="2313432"/>
            <a:ext cx="1371600" cy="365760"/>
          </a:xfrm>
          <a:prstGeom prst="rect">
            <a:avLst/>
          </a:prstGeom>
          <a:noFill/>
          <a:ln/>
        </p:spPr>
        <p:txBody>
          <a:bodyPr wrap="square" lIns="0" tIns="0" rIns="0" bIns="0" rtlCol="0" anchor="ctr"/>
          <a:lstStyle/>
          <a:p>
            <a:pPr indent="0" marL="0">
              <a:buNone/>
            </a:pPr>
            <a:r>
              <a:rPr lang="en-US" sz="1300" b="1" dirty="0">
                <a:solidFill>
                  <a:srgbClr val="C8453C"/>
                </a:solidFill>
                <a:latin typeface="Calibri" pitchFamily="34" charset="0"/>
                <a:ea typeface="Calibri" pitchFamily="34" charset="-122"/>
                <a:cs typeface="Calibri" pitchFamily="34" charset="-120"/>
              </a:rPr>
              <a:t>1 survivor</a:t>
            </a:r>
            <a:endParaRPr lang="en-US" sz="1300" dirty="0"/>
          </a:p>
        </p:txBody>
      </p:sp>
      <p:sp>
        <p:nvSpPr>
          <p:cNvPr id="6" name="Shape 4"/>
          <p:cNvSpPr/>
          <p:nvPr/>
        </p:nvSpPr>
        <p:spPr>
          <a:xfrm>
            <a:off x="2148840" y="2331720"/>
            <a:ext cx="310896" cy="310896"/>
          </a:xfrm>
          <a:prstGeom prst="ellipse">
            <a:avLst/>
          </a:prstGeom>
          <a:solidFill>
            <a:srgbClr val="1F8B5F"/>
          </a:solidFill>
          <a:ln w="12700">
            <a:solidFill>
              <a:srgbClr val="1F8B5F"/>
            </a:solidFill>
            <a:prstDash val="solid"/>
          </a:ln>
        </p:spPr>
      </p:sp>
      <p:sp>
        <p:nvSpPr>
          <p:cNvPr id="7" name="Text 5"/>
          <p:cNvSpPr txBox="1"/>
          <p:nvPr/>
        </p:nvSpPr>
        <p:spPr>
          <a:xfrm>
            <a:off x="5852160" y="2313432"/>
            <a:ext cx="5669280" cy="365760"/>
          </a:xfrm>
          <a:prstGeom prst="rect">
            <a:avLst/>
          </a:prstGeom>
          <a:noFill/>
          <a:ln/>
        </p:spPr>
        <p:txBody>
          <a:bodyPr wrap="square" lIns="0" tIns="0" rIns="0" bIns="0" rtlCol="0" anchor="ctr"/>
          <a:lstStyle/>
          <a:p>
            <a:pPr indent="0" marL="0">
              <a:buNone/>
            </a:pPr>
            <a:r>
              <a:rPr lang="en-US" sz="1250" i="1" dirty="0">
                <a:solidFill>
                  <a:srgbClr val="5F6F66"/>
                </a:solidFill>
                <a:latin typeface="Calibri" pitchFamily="34" charset="0"/>
                <a:ea typeface="Calibri" pitchFamily="34" charset="-122"/>
                <a:cs typeface="Calibri" pitchFamily="34" charset="-120"/>
              </a:rPr>
              <a:t>the dish gets wiped out, one germ lives</a:t>
            </a:r>
            <a:endParaRPr lang="en-US" sz="1250" dirty="0"/>
          </a:p>
        </p:txBody>
      </p:sp>
      <p:sp>
        <p:nvSpPr>
          <p:cNvPr id="8" name="Text 6"/>
          <p:cNvSpPr txBox="1"/>
          <p:nvPr/>
        </p:nvSpPr>
        <p:spPr>
          <a:xfrm>
            <a:off x="640080" y="3026664"/>
            <a:ext cx="1371600" cy="365760"/>
          </a:xfrm>
          <a:prstGeom prst="rect">
            <a:avLst/>
          </a:prstGeom>
          <a:noFill/>
          <a:ln/>
        </p:spPr>
        <p:txBody>
          <a:bodyPr wrap="square" lIns="0" tIns="0" rIns="0" bIns="0" rtlCol="0" anchor="ctr"/>
          <a:lstStyle/>
          <a:p>
            <a:pPr indent="0" marL="0">
              <a:buNone/>
            </a:pPr>
            <a:r>
              <a:rPr lang="en-US" sz="1300" dirty="0">
                <a:solidFill>
                  <a:srgbClr val="5F6F66"/>
                </a:solidFill>
                <a:latin typeface="Calibri" pitchFamily="34" charset="0"/>
                <a:ea typeface="Calibri" pitchFamily="34" charset="-122"/>
                <a:cs typeface="Calibri" pitchFamily="34" charset="-120"/>
              </a:rPr>
              <a:t>2 germs</a:t>
            </a:r>
            <a:endParaRPr lang="en-US" sz="1300" dirty="0"/>
          </a:p>
        </p:txBody>
      </p:sp>
      <p:sp>
        <p:nvSpPr>
          <p:cNvPr id="9" name="Shape 7"/>
          <p:cNvSpPr/>
          <p:nvPr/>
        </p:nvSpPr>
        <p:spPr>
          <a:xfrm>
            <a:off x="2148840" y="3044952"/>
            <a:ext cx="310896" cy="310896"/>
          </a:xfrm>
          <a:prstGeom prst="ellipse">
            <a:avLst/>
          </a:prstGeom>
          <a:solidFill>
            <a:srgbClr val="1F8B5F"/>
          </a:solidFill>
          <a:ln w="12700">
            <a:solidFill>
              <a:srgbClr val="1F8B5F"/>
            </a:solidFill>
            <a:prstDash val="solid"/>
          </a:ln>
        </p:spPr>
      </p:sp>
      <p:sp>
        <p:nvSpPr>
          <p:cNvPr id="10" name="Shape 8"/>
          <p:cNvSpPr/>
          <p:nvPr/>
        </p:nvSpPr>
        <p:spPr>
          <a:xfrm>
            <a:off x="2569464" y="3044952"/>
            <a:ext cx="310896" cy="310896"/>
          </a:xfrm>
          <a:prstGeom prst="ellipse">
            <a:avLst/>
          </a:prstGeom>
          <a:solidFill>
            <a:srgbClr val="1F8B5F"/>
          </a:solidFill>
          <a:ln w="12700">
            <a:solidFill>
              <a:srgbClr val="1F8B5F"/>
            </a:solidFill>
            <a:prstDash val="solid"/>
          </a:ln>
        </p:spPr>
      </p:sp>
      <p:sp>
        <p:nvSpPr>
          <p:cNvPr id="11" name="Text 9"/>
          <p:cNvSpPr txBox="1"/>
          <p:nvPr/>
        </p:nvSpPr>
        <p:spPr>
          <a:xfrm>
            <a:off x="5852160" y="3026664"/>
            <a:ext cx="5669280" cy="365760"/>
          </a:xfrm>
          <a:prstGeom prst="rect">
            <a:avLst/>
          </a:prstGeom>
          <a:noFill/>
          <a:ln/>
        </p:spPr>
        <p:txBody>
          <a:bodyPr wrap="square" lIns="0" tIns="0" rIns="0" bIns="0" rtlCol="0" anchor="ctr"/>
          <a:lstStyle/>
          <a:p>
            <a:pPr indent="0" marL="0">
              <a:buNone/>
            </a:pPr>
            <a:r>
              <a:rPr lang="en-US" sz="1250" i="1" dirty="0">
                <a:solidFill>
                  <a:srgbClr val="5F6F66"/>
                </a:solidFill>
                <a:latin typeface="Calibri" pitchFamily="34" charset="0"/>
                <a:ea typeface="Calibri" pitchFamily="34" charset="-122"/>
                <a:cs typeface="Calibri" pitchFamily="34" charset="-120"/>
              </a:rPr>
              <a:t>half an hour later, it has split, and both halves agree</a:t>
            </a:r>
            <a:endParaRPr lang="en-US" sz="1250" dirty="0"/>
          </a:p>
        </p:txBody>
      </p:sp>
      <p:sp>
        <p:nvSpPr>
          <p:cNvPr id="12" name="Text 10"/>
          <p:cNvSpPr txBox="1"/>
          <p:nvPr/>
        </p:nvSpPr>
        <p:spPr>
          <a:xfrm>
            <a:off x="640080" y="3739896"/>
            <a:ext cx="1371600" cy="365760"/>
          </a:xfrm>
          <a:prstGeom prst="rect">
            <a:avLst/>
          </a:prstGeom>
          <a:noFill/>
          <a:ln/>
        </p:spPr>
        <p:txBody>
          <a:bodyPr wrap="square" lIns="0" tIns="0" rIns="0" bIns="0" rtlCol="0" anchor="ctr"/>
          <a:lstStyle/>
          <a:p>
            <a:pPr indent="0" marL="0">
              <a:buNone/>
            </a:pPr>
            <a:r>
              <a:rPr lang="en-US" sz="1300" dirty="0">
                <a:solidFill>
                  <a:srgbClr val="5F6F66"/>
                </a:solidFill>
                <a:latin typeface="Calibri" pitchFamily="34" charset="0"/>
                <a:ea typeface="Calibri" pitchFamily="34" charset="-122"/>
                <a:cs typeface="Calibri" pitchFamily="34" charset="-120"/>
              </a:rPr>
              <a:t>4 germs</a:t>
            </a:r>
            <a:endParaRPr lang="en-US" sz="1300" dirty="0"/>
          </a:p>
        </p:txBody>
      </p:sp>
      <p:sp>
        <p:nvSpPr>
          <p:cNvPr id="13" name="Shape 11"/>
          <p:cNvSpPr/>
          <p:nvPr/>
        </p:nvSpPr>
        <p:spPr>
          <a:xfrm>
            <a:off x="2148840" y="3758184"/>
            <a:ext cx="310896" cy="310896"/>
          </a:xfrm>
          <a:prstGeom prst="ellipse">
            <a:avLst/>
          </a:prstGeom>
          <a:solidFill>
            <a:srgbClr val="1F8B5F"/>
          </a:solidFill>
          <a:ln w="12700">
            <a:solidFill>
              <a:srgbClr val="1F8B5F"/>
            </a:solidFill>
            <a:prstDash val="solid"/>
          </a:ln>
        </p:spPr>
      </p:sp>
      <p:sp>
        <p:nvSpPr>
          <p:cNvPr id="14" name="Shape 12"/>
          <p:cNvSpPr/>
          <p:nvPr/>
        </p:nvSpPr>
        <p:spPr>
          <a:xfrm>
            <a:off x="2569464" y="3758184"/>
            <a:ext cx="310896" cy="310896"/>
          </a:xfrm>
          <a:prstGeom prst="ellipse">
            <a:avLst/>
          </a:prstGeom>
          <a:solidFill>
            <a:srgbClr val="1F8B5F"/>
          </a:solidFill>
          <a:ln w="12700">
            <a:solidFill>
              <a:srgbClr val="1F8B5F"/>
            </a:solidFill>
            <a:prstDash val="solid"/>
          </a:ln>
        </p:spPr>
      </p:sp>
      <p:sp>
        <p:nvSpPr>
          <p:cNvPr id="15" name="Shape 13"/>
          <p:cNvSpPr/>
          <p:nvPr/>
        </p:nvSpPr>
        <p:spPr>
          <a:xfrm>
            <a:off x="2990088" y="3758184"/>
            <a:ext cx="310896" cy="310896"/>
          </a:xfrm>
          <a:prstGeom prst="ellipse">
            <a:avLst/>
          </a:prstGeom>
          <a:solidFill>
            <a:srgbClr val="1F8B5F"/>
          </a:solidFill>
          <a:ln w="12700">
            <a:solidFill>
              <a:srgbClr val="1F8B5F"/>
            </a:solidFill>
            <a:prstDash val="solid"/>
          </a:ln>
        </p:spPr>
      </p:sp>
      <p:sp>
        <p:nvSpPr>
          <p:cNvPr id="16" name="Shape 14"/>
          <p:cNvSpPr/>
          <p:nvPr/>
        </p:nvSpPr>
        <p:spPr>
          <a:xfrm>
            <a:off x="3410712" y="3758184"/>
            <a:ext cx="310896" cy="310896"/>
          </a:xfrm>
          <a:prstGeom prst="ellipse">
            <a:avLst/>
          </a:prstGeom>
          <a:solidFill>
            <a:srgbClr val="1F8B5F"/>
          </a:solidFill>
          <a:ln w="12700">
            <a:solidFill>
              <a:srgbClr val="1F8B5F"/>
            </a:solidFill>
            <a:prstDash val="solid"/>
          </a:ln>
        </p:spPr>
      </p:sp>
      <p:sp>
        <p:nvSpPr>
          <p:cNvPr id="17" name="Text 15"/>
          <p:cNvSpPr txBox="1"/>
          <p:nvPr/>
        </p:nvSpPr>
        <p:spPr>
          <a:xfrm>
            <a:off x="5852160" y="3739896"/>
            <a:ext cx="5669280" cy="365760"/>
          </a:xfrm>
          <a:prstGeom prst="rect">
            <a:avLst/>
          </a:prstGeom>
          <a:noFill/>
          <a:ln/>
        </p:spPr>
        <p:txBody>
          <a:bodyPr wrap="square" lIns="0" tIns="0" rIns="0" bIns="0" rtlCol="0" anchor="ctr"/>
          <a:lstStyle/>
          <a:p>
            <a:pPr indent="0" marL="0">
              <a:buNone/>
            </a:pPr>
            <a:r>
              <a:rPr lang="en-US" sz="1250" i="1" dirty="0">
                <a:solidFill>
                  <a:srgbClr val="5F6F66"/>
                </a:solidFill>
                <a:latin typeface="Calibri" pitchFamily="34" charset="0"/>
                <a:ea typeface="Calibri" pitchFamily="34" charset="-122"/>
                <a:cs typeface="Calibri" pitchFamily="34" charset="-120"/>
              </a:rPr>
              <a:t>an hour later</a:t>
            </a:r>
            <a:endParaRPr lang="en-US" sz="1250" dirty="0"/>
          </a:p>
        </p:txBody>
      </p:sp>
      <p:sp>
        <p:nvSpPr>
          <p:cNvPr id="18" name="Text 16"/>
          <p:cNvSpPr txBox="1"/>
          <p:nvPr/>
        </p:nvSpPr>
        <p:spPr>
          <a:xfrm>
            <a:off x="640080" y="4453128"/>
            <a:ext cx="1371600" cy="365760"/>
          </a:xfrm>
          <a:prstGeom prst="rect">
            <a:avLst/>
          </a:prstGeom>
          <a:noFill/>
          <a:ln/>
        </p:spPr>
        <p:txBody>
          <a:bodyPr wrap="square" lIns="0" tIns="0" rIns="0" bIns="0" rtlCol="0" anchor="ctr"/>
          <a:lstStyle/>
          <a:p>
            <a:pPr indent="0" marL="0">
              <a:buNone/>
            </a:pPr>
            <a:r>
              <a:rPr lang="en-US" sz="1300" dirty="0">
                <a:solidFill>
                  <a:srgbClr val="5F6F66"/>
                </a:solidFill>
                <a:latin typeface="Calibri" pitchFamily="34" charset="0"/>
                <a:ea typeface="Calibri" pitchFamily="34" charset="-122"/>
                <a:cs typeface="Calibri" pitchFamily="34" charset="-120"/>
              </a:rPr>
              <a:t>8 germs</a:t>
            </a:r>
            <a:endParaRPr lang="en-US" sz="1300" dirty="0"/>
          </a:p>
        </p:txBody>
      </p:sp>
      <p:sp>
        <p:nvSpPr>
          <p:cNvPr id="19" name="Shape 17"/>
          <p:cNvSpPr/>
          <p:nvPr/>
        </p:nvSpPr>
        <p:spPr>
          <a:xfrm>
            <a:off x="2148840" y="4471416"/>
            <a:ext cx="310896" cy="310896"/>
          </a:xfrm>
          <a:prstGeom prst="ellipse">
            <a:avLst/>
          </a:prstGeom>
          <a:solidFill>
            <a:srgbClr val="1F8B5F"/>
          </a:solidFill>
          <a:ln w="12700">
            <a:solidFill>
              <a:srgbClr val="1F8B5F"/>
            </a:solidFill>
            <a:prstDash val="solid"/>
          </a:ln>
        </p:spPr>
      </p:sp>
      <p:sp>
        <p:nvSpPr>
          <p:cNvPr id="20" name="Shape 18"/>
          <p:cNvSpPr/>
          <p:nvPr/>
        </p:nvSpPr>
        <p:spPr>
          <a:xfrm>
            <a:off x="2569464" y="4471416"/>
            <a:ext cx="310896" cy="310896"/>
          </a:xfrm>
          <a:prstGeom prst="ellipse">
            <a:avLst/>
          </a:prstGeom>
          <a:solidFill>
            <a:srgbClr val="1F8B5F"/>
          </a:solidFill>
          <a:ln w="12700">
            <a:solidFill>
              <a:srgbClr val="1F8B5F"/>
            </a:solidFill>
            <a:prstDash val="solid"/>
          </a:ln>
        </p:spPr>
      </p:sp>
      <p:sp>
        <p:nvSpPr>
          <p:cNvPr id="21" name="Shape 19"/>
          <p:cNvSpPr/>
          <p:nvPr/>
        </p:nvSpPr>
        <p:spPr>
          <a:xfrm>
            <a:off x="2990088" y="4471416"/>
            <a:ext cx="310896" cy="310896"/>
          </a:xfrm>
          <a:prstGeom prst="ellipse">
            <a:avLst/>
          </a:prstGeom>
          <a:solidFill>
            <a:srgbClr val="1F8B5F"/>
          </a:solidFill>
          <a:ln w="12700">
            <a:solidFill>
              <a:srgbClr val="1F8B5F"/>
            </a:solidFill>
            <a:prstDash val="solid"/>
          </a:ln>
        </p:spPr>
      </p:sp>
      <p:sp>
        <p:nvSpPr>
          <p:cNvPr id="22" name="Shape 20"/>
          <p:cNvSpPr/>
          <p:nvPr/>
        </p:nvSpPr>
        <p:spPr>
          <a:xfrm>
            <a:off x="3410712" y="4471416"/>
            <a:ext cx="310896" cy="310896"/>
          </a:xfrm>
          <a:prstGeom prst="ellipse">
            <a:avLst/>
          </a:prstGeom>
          <a:solidFill>
            <a:srgbClr val="1F8B5F"/>
          </a:solidFill>
          <a:ln w="12700">
            <a:solidFill>
              <a:srgbClr val="1F8B5F"/>
            </a:solidFill>
            <a:prstDash val="solid"/>
          </a:ln>
        </p:spPr>
      </p:sp>
      <p:sp>
        <p:nvSpPr>
          <p:cNvPr id="23" name="Shape 21"/>
          <p:cNvSpPr/>
          <p:nvPr/>
        </p:nvSpPr>
        <p:spPr>
          <a:xfrm>
            <a:off x="3831336" y="4471416"/>
            <a:ext cx="310896" cy="310896"/>
          </a:xfrm>
          <a:prstGeom prst="ellipse">
            <a:avLst/>
          </a:prstGeom>
          <a:solidFill>
            <a:srgbClr val="1F8B5F"/>
          </a:solidFill>
          <a:ln w="12700">
            <a:solidFill>
              <a:srgbClr val="1F8B5F"/>
            </a:solidFill>
            <a:prstDash val="solid"/>
          </a:ln>
        </p:spPr>
      </p:sp>
      <p:sp>
        <p:nvSpPr>
          <p:cNvPr id="24" name="Shape 22"/>
          <p:cNvSpPr/>
          <p:nvPr/>
        </p:nvSpPr>
        <p:spPr>
          <a:xfrm>
            <a:off x="4251960" y="4471416"/>
            <a:ext cx="310896" cy="310896"/>
          </a:xfrm>
          <a:prstGeom prst="ellipse">
            <a:avLst/>
          </a:prstGeom>
          <a:solidFill>
            <a:srgbClr val="1F8B5F"/>
          </a:solidFill>
          <a:ln w="12700">
            <a:solidFill>
              <a:srgbClr val="1F8B5F"/>
            </a:solidFill>
            <a:prstDash val="solid"/>
          </a:ln>
        </p:spPr>
      </p:sp>
      <p:sp>
        <p:nvSpPr>
          <p:cNvPr id="25" name="Shape 23"/>
          <p:cNvSpPr/>
          <p:nvPr/>
        </p:nvSpPr>
        <p:spPr>
          <a:xfrm>
            <a:off x="4672584" y="4471416"/>
            <a:ext cx="310896" cy="310896"/>
          </a:xfrm>
          <a:prstGeom prst="ellipse">
            <a:avLst/>
          </a:prstGeom>
          <a:solidFill>
            <a:srgbClr val="1F8B5F"/>
          </a:solidFill>
          <a:ln w="12700">
            <a:solidFill>
              <a:srgbClr val="1F8B5F"/>
            </a:solidFill>
            <a:prstDash val="solid"/>
          </a:ln>
        </p:spPr>
      </p:sp>
      <p:sp>
        <p:nvSpPr>
          <p:cNvPr id="26" name="Shape 24"/>
          <p:cNvSpPr/>
          <p:nvPr/>
        </p:nvSpPr>
        <p:spPr>
          <a:xfrm>
            <a:off x="5093208" y="4471416"/>
            <a:ext cx="310896" cy="310896"/>
          </a:xfrm>
          <a:prstGeom prst="ellipse">
            <a:avLst/>
          </a:prstGeom>
          <a:solidFill>
            <a:srgbClr val="1F8B5F"/>
          </a:solidFill>
          <a:ln w="12700">
            <a:solidFill>
              <a:srgbClr val="1F8B5F"/>
            </a:solidFill>
            <a:prstDash val="solid"/>
          </a:ln>
        </p:spPr>
      </p:sp>
      <p:sp>
        <p:nvSpPr>
          <p:cNvPr id="27" name="Text 25"/>
          <p:cNvSpPr txBox="1"/>
          <p:nvPr/>
        </p:nvSpPr>
        <p:spPr>
          <a:xfrm>
            <a:off x="5852160" y="4453128"/>
            <a:ext cx="5669280" cy="365760"/>
          </a:xfrm>
          <a:prstGeom prst="rect">
            <a:avLst/>
          </a:prstGeom>
          <a:noFill/>
          <a:ln/>
        </p:spPr>
        <p:txBody>
          <a:bodyPr wrap="square" lIns="0" tIns="0" rIns="0" bIns="0" rtlCol="0" anchor="ctr"/>
          <a:lstStyle/>
          <a:p>
            <a:pPr indent="0" marL="0">
              <a:buNone/>
            </a:pPr>
            <a:r>
              <a:rPr lang="en-US" sz="1250" i="1" dirty="0">
                <a:solidFill>
                  <a:srgbClr val="5F6F66"/>
                </a:solidFill>
                <a:latin typeface="Calibri" pitchFamily="34" charset="0"/>
                <a:ea typeface="Calibri" pitchFamily="34" charset="-122"/>
                <a:cs typeface="Calibri" pitchFamily="34" charset="-120"/>
              </a:rPr>
              <a:t>ninety minutes later, and the message is still the message</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2018"/>
        </a:solidFill>
      </p:bgPr>
    </p:bg>
    <p:spTree>
      <p:nvGrpSpPr>
        <p:cNvPr id="1" name=""/>
        <p:cNvGrpSpPr/>
        <p:nvPr/>
      </p:nvGrpSpPr>
      <p:grpSpPr>
        <a:xfrm>
          <a:off x="0" y="0"/>
          <a:ext cx="0" cy="0"/>
          <a:chOff x="0" y="0"/>
          <a:chExt cx="0" cy="0"/>
        </a:xfrm>
      </p:grpSpPr>
      <p:sp>
        <p:nvSpPr>
          <p:cNvPr id="2" name="Shape 0"/>
          <p:cNvSpPr/>
          <p:nvPr/>
        </p:nvSpPr>
        <p:spPr>
          <a:xfrm>
            <a:off x="640080" y="603504"/>
            <a:ext cx="155448" cy="155448"/>
          </a:xfrm>
          <a:prstGeom prst="ellipse">
            <a:avLst/>
          </a:prstGeom>
          <a:solidFill>
            <a:srgbClr val="1F8B5F"/>
          </a:solidFill>
          <a:ln w="12700">
            <a:solidFill>
              <a:srgbClr val="1F8B5F"/>
            </a:solidFill>
            <a:prstDash val="solid"/>
          </a:ln>
        </p:spPr>
      </p:sp>
      <p:sp>
        <p:nvSpPr>
          <p:cNvPr id="3" name="Text 1"/>
          <p:cNvSpPr txBox="1"/>
          <p:nvPr/>
        </p:nvSpPr>
        <p:spPr>
          <a:xfrm>
            <a:off x="932688" y="502920"/>
            <a:ext cx="10588752" cy="384048"/>
          </a:xfrm>
          <a:prstGeom prst="rect">
            <a:avLst/>
          </a:prstGeom>
          <a:noFill/>
          <a:ln/>
        </p:spPr>
        <p:txBody>
          <a:bodyPr wrap="square" lIns="0" tIns="0" rIns="0" bIns="0" rtlCol="0" anchor="ctr"/>
          <a:lstStyle/>
          <a:p>
            <a:pPr indent="0" marL="0">
              <a:buNone/>
            </a:pPr>
            <a:r>
              <a:rPr lang="en-US" sz="2300" b="1" dirty="0">
                <a:solidFill>
                  <a:srgbClr val="FFFFFF"/>
                </a:solidFill>
                <a:latin typeface="Cambria" pitchFamily="34" charset="0"/>
                <a:ea typeface="Cambria" pitchFamily="34" charset="-122"/>
                <a:cs typeface="Cambria" pitchFamily="34" charset="-120"/>
              </a:rPr>
              <a:t>The result the whole project rests on</a:t>
            </a:r>
            <a:endParaRPr lang="en-US" sz="2300" dirty="0"/>
          </a:p>
        </p:txBody>
      </p:sp>
      <p:sp>
        <p:nvSpPr>
          <p:cNvPr id="4" name="Text 2"/>
          <p:cNvSpPr txBox="1"/>
          <p:nvPr/>
        </p:nvSpPr>
        <p:spPr>
          <a:xfrm>
            <a:off x="640080" y="1371600"/>
            <a:ext cx="4206240" cy="1554480"/>
          </a:xfrm>
          <a:prstGeom prst="rect">
            <a:avLst/>
          </a:prstGeom>
          <a:noFill/>
          <a:ln/>
        </p:spPr>
        <p:txBody>
          <a:bodyPr wrap="square" lIns="0" tIns="0" rIns="0" bIns="0" rtlCol="0" anchor="ctr"/>
          <a:lstStyle/>
          <a:p>
            <a:pPr indent="0" marL="0">
              <a:buNone/>
            </a:pPr>
            <a:r>
              <a:rPr lang="en-US" sz="9200" b="1" dirty="0">
                <a:solidFill>
                  <a:srgbClr val="1F8B5F"/>
                </a:solidFill>
                <a:latin typeface="Cambria" pitchFamily="34" charset="0"/>
                <a:ea typeface="Cambria" pitchFamily="34" charset="-122"/>
                <a:cs typeface="Cambria" pitchFamily="34" charset="-120"/>
              </a:rPr>
              <a:t>100%</a:t>
            </a:r>
            <a:endParaRPr lang="en-US" sz="9200" dirty="0"/>
          </a:p>
        </p:txBody>
      </p:sp>
      <p:sp>
        <p:nvSpPr>
          <p:cNvPr id="5" name="Text 3"/>
          <p:cNvSpPr txBox="1"/>
          <p:nvPr/>
        </p:nvSpPr>
        <p:spPr>
          <a:xfrm>
            <a:off x="640080" y="2880360"/>
            <a:ext cx="4937760" cy="914400"/>
          </a:xfrm>
          <a:prstGeom prst="rect">
            <a:avLst/>
          </a:prstGeom>
          <a:noFill/>
          <a:ln/>
        </p:spPr>
        <p:txBody>
          <a:bodyPr wrap="square" lIns="0" tIns="0" rIns="0" bIns="0" rtlCol="0" anchor="ctr"/>
          <a:lstStyle/>
          <a:p>
            <a:pPr indent="0" marL="0">
              <a:lnSpc>
                <a:spcPct val="115000"/>
              </a:lnSpc>
              <a:buNone/>
            </a:pPr>
            <a:r>
              <a:rPr lang="en-US" sz="1600" dirty="0">
                <a:solidFill>
                  <a:srgbClr val="FFFFFF"/>
                </a:solidFill>
                <a:latin typeface="Calibri" pitchFamily="34" charset="0"/>
                <a:ea typeface="Calibri" pitchFamily="34" charset="-122"/>
                <a:cs typeface="Calibri" pitchFamily="34" charset="-120"/>
              </a:rPr>
              <a:t>of the message came back, from as few as 2 germs in every 100 surviving</a:t>
            </a:r>
            <a:endParaRPr lang="en-US" sz="1600" dirty="0"/>
          </a:p>
        </p:txBody>
      </p:sp>
      <p:sp>
        <p:nvSpPr>
          <p:cNvPr id="6" name="Text 4"/>
          <p:cNvSpPr txBox="1"/>
          <p:nvPr/>
        </p:nvSpPr>
        <p:spPr>
          <a:xfrm>
            <a:off x="640080" y="3931920"/>
            <a:ext cx="4937760" cy="1005840"/>
          </a:xfrm>
          <a:prstGeom prst="rect">
            <a:avLst/>
          </a:prstGeom>
          <a:noFill/>
          <a:ln/>
        </p:spPr>
        <p:txBody>
          <a:bodyPr wrap="square" lIns="0" tIns="0" rIns="0" bIns="0" rtlCol="0" anchor="ctr"/>
          <a:lstStyle/>
          <a:p>
            <a:pPr indent="0" marL="0">
              <a:lnSpc>
                <a:spcPct val="115000"/>
              </a:lnSpc>
              <a:buNone/>
            </a:pPr>
            <a:r>
              <a:rPr lang="en-US" sz="1350" dirty="0">
                <a:solidFill>
                  <a:srgbClr val="B9C7BF"/>
                </a:solidFill>
                <a:latin typeface="Calibri" pitchFamily="34" charset="0"/>
                <a:ea typeface="Calibri" pitchFamily="34" charset="-122"/>
                <a:cs typeface="Calibri" pitchFamily="34" charset="-120"/>
              </a:rPr>
              <a:t>The glowing colour was right too, not just the genes underneath it. Tested at every survival level from 2 percent up to no damage at all.</a:t>
            </a:r>
            <a:endParaRPr lang="en-US" sz="1350" dirty="0"/>
          </a:p>
        </p:txBody>
      </p:sp>
      <p:sp>
        <p:nvSpPr>
          <p:cNvPr id="7" name="Shape 5"/>
          <p:cNvSpPr/>
          <p:nvPr/>
        </p:nvSpPr>
        <p:spPr>
          <a:xfrm>
            <a:off x="6400800" y="1371600"/>
            <a:ext cx="5120640" cy="3566160"/>
          </a:xfrm>
          <a:prstGeom prst="roundRect">
            <a:avLst>
              <a:gd name="adj" fmla="val 2564"/>
            </a:avLst>
          </a:prstGeom>
          <a:solidFill>
            <a:srgbClr val="1E2E24"/>
          </a:solidFill>
          <a:ln w="12700">
            <a:solidFill>
              <a:srgbClr val="C8453C"/>
            </a:solidFill>
            <a:prstDash val="solid"/>
          </a:ln>
        </p:spPr>
      </p:sp>
      <p:sp>
        <p:nvSpPr>
          <p:cNvPr id="8" name="Text 6"/>
          <p:cNvSpPr txBox="1"/>
          <p:nvPr/>
        </p:nvSpPr>
        <p:spPr>
          <a:xfrm>
            <a:off x="6675120" y="1600200"/>
            <a:ext cx="4572000" cy="365760"/>
          </a:xfrm>
          <a:prstGeom prst="rect">
            <a:avLst/>
          </a:prstGeom>
          <a:noFill/>
          <a:ln/>
        </p:spPr>
        <p:txBody>
          <a:bodyPr wrap="square" lIns="0" tIns="0" rIns="0" bIns="0" rtlCol="0" anchor="ctr"/>
          <a:lstStyle/>
          <a:p>
            <a:pPr indent="0" marL="0">
              <a:buNone/>
            </a:pPr>
            <a:r>
              <a:rPr lang="en-US" sz="1100" b="1" spc="140" kern="0" dirty="0">
                <a:solidFill>
                  <a:srgbClr val="C8453C"/>
                </a:solidFill>
                <a:latin typeface="Calibri" pitchFamily="34" charset="0"/>
                <a:ea typeface="Calibri" pitchFamily="34" charset="-122"/>
                <a:cs typeface="Calibri" pitchFamily="34" charset="-120"/>
              </a:rPr>
              <a:t>Read this part twice</a:t>
            </a:r>
            <a:endParaRPr lang="en-US" sz="1100" dirty="0"/>
          </a:p>
        </p:txBody>
      </p:sp>
      <p:sp>
        <p:nvSpPr>
          <p:cNvPr id="9" name="Text 7"/>
          <p:cNvSpPr txBox="1"/>
          <p:nvPr/>
        </p:nvSpPr>
        <p:spPr>
          <a:xfrm>
            <a:off x="6675120" y="2011680"/>
            <a:ext cx="4572000" cy="2743200"/>
          </a:xfrm>
          <a:prstGeom prst="rect">
            <a:avLst/>
          </a:prstGeom>
          <a:noFill/>
          <a:ln/>
        </p:spPr>
        <p:txBody>
          <a:bodyPr wrap="square" lIns="0" tIns="0" rIns="0" bIns="0" rtlCol="0" anchor="ctr"/>
          <a:lstStyle/>
          <a:p>
            <a:pPr indent="0" marL="0">
              <a:lnSpc>
                <a:spcPct val="112000"/>
              </a:lnSpc>
              <a:buNone/>
            </a:pPr>
            <a:r>
              <a:rPr lang="en-US" sz="1300" dirty="0">
                <a:solidFill>
                  <a:srgbClr val="FFFFFF"/>
                </a:solidFill>
                <a:latin typeface="Calibri" pitchFamily="34" charset="0"/>
                <a:ea typeface="Calibri" pitchFamily="34" charset="-122"/>
                <a:cs typeface="Calibri" pitchFamily="34" charset="-120"/>
              </a:rPr>
              <a:t>This happened in a computer simulation, not in a laboratory. No living germ has ever been tested this way, by anyone.</a:t>
            </a:r>
            <a:endParaRPr lang="en-US" sz="1300" dirty="0"/>
          </a:p>
          <a:p>
            <a:pPr indent="0" marL="0">
              <a:lnSpc>
                <a:spcPct val="112000"/>
              </a:lnSpc>
              <a:buNone/>
            </a:pPr>
            <a:endParaRPr lang="en-US" sz="1300" dirty="0"/>
          </a:p>
          <a:p>
            <a:pPr indent="0" marL="0">
              <a:lnSpc>
                <a:spcPct val="112000"/>
              </a:lnSpc>
              <a:buNone/>
            </a:pPr>
            <a:r>
              <a:rPr lang="en-US" sz="1300" dirty="0">
                <a:solidFill>
                  <a:srgbClr val="FFFFFF"/>
                </a:solidFill>
                <a:latin typeface="Calibri" pitchFamily="34" charset="0"/>
                <a:ea typeface="Calibri" pitchFamily="34" charset="-122"/>
                <a:cs typeface="Calibri" pitchFamily="34" charset="-120"/>
              </a:rPr>
              <a:t>2 percent is simply the lowest amount the test tried. Everything from 2 percent upward worked perfectly, so the real breaking point is somewhere below 2 percent and nobody has found it.</a:t>
            </a:r>
            <a:endParaRPr lang="en-US" sz="1300" dirty="0"/>
          </a:p>
          <a:p>
            <a:pPr indent="0" marL="0">
              <a:lnSpc>
                <a:spcPct val="112000"/>
              </a:lnSpc>
              <a:buNone/>
            </a:pPr>
            <a:endParaRPr lang="en-US" sz="1300" dirty="0"/>
          </a:p>
          <a:p>
            <a:pPr indent="0" marL="0">
              <a:lnSpc>
                <a:spcPct val="112000"/>
              </a:lnSpc>
              <a:buNone/>
            </a:pPr>
            <a:r>
              <a:rPr lang="en-US" sz="1300" dirty="0">
                <a:solidFill>
                  <a:srgbClr val="FFFFFF"/>
                </a:solidFill>
                <a:latin typeface="Calibri" pitchFamily="34" charset="0"/>
                <a:ea typeface="Calibri" pitchFamily="34" charset="-122"/>
                <a:cs typeface="Calibri" pitchFamily="34" charset="-120"/>
              </a:rPr>
              <a:t>The honest sentence is "it survived every level we tested, down to 2 percent."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603504"/>
            <a:ext cx="155448" cy="155448"/>
          </a:xfrm>
          <a:prstGeom prst="ellipse">
            <a:avLst/>
          </a:prstGeom>
          <a:solidFill>
            <a:srgbClr val="1F8B5F"/>
          </a:solidFill>
          <a:ln w="12700">
            <a:solidFill>
              <a:srgbClr val="1F8B5F"/>
            </a:solidFill>
            <a:prstDash val="solid"/>
          </a:ln>
        </p:spPr>
      </p:sp>
      <p:sp>
        <p:nvSpPr>
          <p:cNvPr id="3" name="Text 1"/>
          <p:cNvSpPr txBox="1"/>
          <p:nvPr/>
        </p:nvSpPr>
        <p:spPr>
          <a:xfrm>
            <a:off x="932688" y="502920"/>
            <a:ext cx="10588752" cy="384048"/>
          </a:xfrm>
          <a:prstGeom prst="rect">
            <a:avLst/>
          </a:prstGeom>
          <a:noFill/>
          <a:ln/>
        </p:spPr>
        <p:txBody>
          <a:bodyPr wrap="square" lIns="0" tIns="0" rIns="0" bIns="0" rtlCol="0" anchor="ctr"/>
          <a:lstStyle/>
          <a:p>
            <a:pPr indent="0" marL="0">
              <a:buNone/>
            </a:pPr>
            <a:r>
              <a:rPr lang="en-US" sz="2300" b="1" dirty="0">
                <a:solidFill>
                  <a:srgbClr val="132018"/>
                </a:solidFill>
                <a:latin typeface="Cambria" pitchFamily="34" charset="0"/>
                <a:ea typeface="Cambria" pitchFamily="34" charset="-122"/>
                <a:cs typeface="Cambria" pitchFamily="34" charset="-120"/>
              </a:rPr>
              <a:t>The worms, and the famous scientist</a:t>
            </a:r>
            <a:endParaRPr lang="en-US" sz="2300" dirty="0"/>
          </a:p>
        </p:txBody>
      </p:sp>
      <p:sp>
        <p:nvSpPr>
          <p:cNvPr id="4" name="Text 2"/>
          <p:cNvSpPr txBox="1"/>
          <p:nvPr/>
        </p:nvSpPr>
        <p:spPr>
          <a:xfrm>
            <a:off x="640080" y="1188720"/>
            <a:ext cx="5486400" cy="3108960"/>
          </a:xfrm>
          <a:prstGeom prst="rect">
            <a:avLst/>
          </a:prstGeom>
          <a:noFill/>
          <a:ln/>
        </p:spPr>
        <p:txBody>
          <a:bodyPr wrap="square" lIns="0" tIns="0" rIns="0" bIns="0" rtlCol="0" anchor="ctr"/>
          <a:lstStyle/>
          <a:p>
            <a:pPr indent="0" marL="0">
              <a:lnSpc>
                <a:spcPct val="115000"/>
              </a:lnSpc>
              <a:buNone/>
            </a:pPr>
            <a:r>
              <a:rPr lang="en-US" sz="1500" dirty="0">
                <a:solidFill>
                  <a:srgbClr val="132018"/>
                </a:solidFill>
                <a:latin typeface="Calibri" pitchFamily="34" charset="0"/>
                <a:ea typeface="Calibri" pitchFamily="34" charset="-122"/>
                <a:cs typeface="Calibri" pitchFamily="34" charset="-120"/>
              </a:rPr>
              <a:t>Dayana picked flatworms on her own reasoning, before she had heard of Michael Levin. She found his lab afterwards.</a:t>
            </a:r>
            <a:endParaRPr lang="en-US" sz="1500" dirty="0"/>
          </a:p>
          <a:p>
            <a:pPr indent="0" marL="0">
              <a:lnSpc>
                <a:spcPct val="115000"/>
              </a:lnSpc>
              <a:buNone/>
            </a:pPr>
            <a:endParaRPr lang="en-US" sz="1500" dirty="0"/>
          </a:p>
          <a:p>
            <a:pPr indent="0" marL="0">
              <a:lnSpc>
                <a:spcPct val="115000"/>
              </a:lnSpc>
              <a:buNone/>
            </a:pPr>
            <a:r>
              <a:rPr lang="en-US" sz="1500" dirty="0">
                <a:solidFill>
                  <a:srgbClr val="132018"/>
                </a:solidFill>
                <a:latin typeface="Calibri" pitchFamily="34" charset="0"/>
                <a:ea typeface="Calibri" pitchFamily="34" charset="-122"/>
                <a:cs typeface="Calibri" pitchFamily="34" charset="-120"/>
              </a:rPr>
              <a:t>His lab at Tufts showed something genuinely strange. A flatworm's body plan is partly stored as electricity across its cells. Interfere with that electricity and the worm regrows with two heads, and it keeps regrowing two-headed afterwards with no further interference. The instructions were changed, not the genes.</a:t>
            </a:r>
            <a:endParaRPr lang="en-US" sz="1500" dirty="0"/>
          </a:p>
        </p:txBody>
      </p:sp>
      <p:sp>
        <p:nvSpPr>
          <p:cNvPr id="5" name="Shape 3"/>
          <p:cNvSpPr/>
          <p:nvPr/>
        </p:nvSpPr>
        <p:spPr>
          <a:xfrm>
            <a:off x="6583680" y="1188720"/>
            <a:ext cx="4937760" cy="1920240"/>
          </a:xfrm>
          <a:prstGeom prst="roundRect">
            <a:avLst>
              <a:gd name="adj" fmla="val 4762"/>
            </a:avLst>
          </a:prstGeom>
          <a:solidFill>
            <a:srgbClr val="EDF2EE"/>
          </a:solidFill>
          <a:ln w="12700">
            <a:solidFill>
              <a:srgbClr val="EDF2EE"/>
            </a:solidFill>
            <a:prstDash val="solid"/>
          </a:ln>
        </p:spPr>
      </p:sp>
      <p:sp>
        <p:nvSpPr>
          <p:cNvPr id="6" name="Text 4"/>
          <p:cNvSpPr txBox="1"/>
          <p:nvPr/>
        </p:nvSpPr>
        <p:spPr>
          <a:xfrm>
            <a:off x="6858000" y="1371600"/>
            <a:ext cx="4389120" cy="320040"/>
          </a:xfrm>
          <a:prstGeom prst="rect">
            <a:avLst/>
          </a:prstGeom>
          <a:noFill/>
          <a:ln/>
        </p:spPr>
        <p:txBody>
          <a:bodyPr wrap="square" lIns="0" tIns="0" rIns="0" bIns="0" rtlCol="0" anchor="ctr"/>
          <a:lstStyle/>
          <a:p>
            <a:pPr indent="0" marL="0">
              <a:buNone/>
            </a:pPr>
            <a:r>
              <a:rPr lang="en-US" sz="1100" b="1" spc="140" kern="0" dirty="0">
                <a:solidFill>
                  <a:srgbClr val="1F8B5F"/>
                </a:solidFill>
                <a:latin typeface="Calibri" pitchFamily="34" charset="0"/>
                <a:ea typeface="Calibri" pitchFamily="34" charset="-122"/>
                <a:cs typeface="Calibri" pitchFamily="34" charset="-120"/>
              </a:rPr>
              <a:t>What it proves</a:t>
            </a:r>
            <a:endParaRPr lang="en-US" sz="1100" dirty="0"/>
          </a:p>
        </p:txBody>
      </p:sp>
      <p:sp>
        <p:nvSpPr>
          <p:cNvPr id="7" name="Text 5"/>
          <p:cNvSpPr txBox="1"/>
          <p:nvPr/>
        </p:nvSpPr>
        <p:spPr>
          <a:xfrm>
            <a:off x="6858000" y="1737360"/>
            <a:ext cx="4389120" cy="1188720"/>
          </a:xfrm>
          <a:prstGeom prst="rect">
            <a:avLst/>
          </a:prstGeom>
          <a:noFill/>
          <a:ln/>
        </p:spPr>
        <p:txBody>
          <a:bodyPr wrap="square" lIns="0" tIns="0" rIns="0" bIns="0" rtlCol="0" anchor="ctr"/>
          <a:lstStyle/>
          <a:p>
            <a:pPr indent="0" marL="0">
              <a:lnSpc>
                <a:spcPct val="112000"/>
              </a:lnSpc>
              <a:buNone/>
            </a:pPr>
            <a:r>
              <a:rPr lang="en-US" sz="1350" dirty="0">
                <a:solidFill>
                  <a:srgbClr val="132018"/>
                </a:solidFill>
                <a:latin typeface="Calibri" pitchFamily="34" charset="0"/>
                <a:ea typeface="Calibri" pitchFamily="34" charset="-122"/>
                <a:cs typeface="Calibri" pitchFamily="34" charset="-120"/>
              </a:rPr>
              <a:t>A worm's own natural pattern really is stored electrically, and it really does survive the animal being cut apart.</a:t>
            </a:r>
            <a:endParaRPr lang="en-US" sz="1350" dirty="0"/>
          </a:p>
        </p:txBody>
      </p:sp>
      <p:sp>
        <p:nvSpPr>
          <p:cNvPr id="8" name="Shape 6"/>
          <p:cNvSpPr/>
          <p:nvPr/>
        </p:nvSpPr>
        <p:spPr>
          <a:xfrm>
            <a:off x="6583680" y="3383280"/>
            <a:ext cx="4937760" cy="1920240"/>
          </a:xfrm>
          <a:prstGeom prst="roundRect">
            <a:avLst>
              <a:gd name="adj" fmla="val 4762"/>
            </a:avLst>
          </a:prstGeom>
          <a:solidFill>
            <a:srgbClr val="EDF2EE"/>
          </a:solidFill>
          <a:ln w="12700">
            <a:solidFill>
              <a:srgbClr val="EDF2EE"/>
            </a:solidFill>
            <a:prstDash val="solid"/>
          </a:ln>
        </p:spPr>
      </p:sp>
      <p:sp>
        <p:nvSpPr>
          <p:cNvPr id="9" name="Text 7"/>
          <p:cNvSpPr txBox="1"/>
          <p:nvPr/>
        </p:nvSpPr>
        <p:spPr>
          <a:xfrm>
            <a:off x="6858000" y="3566160"/>
            <a:ext cx="4389120" cy="320040"/>
          </a:xfrm>
          <a:prstGeom prst="rect">
            <a:avLst/>
          </a:prstGeom>
          <a:noFill/>
          <a:ln/>
        </p:spPr>
        <p:txBody>
          <a:bodyPr wrap="square" lIns="0" tIns="0" rIns="0" bIns="0" rtlCol="0" anchor="ctr"/>
          <a:lstStyle/>
          <a:p>
            <a:pPr indent="0" marL="0">
              <a:buNone/>
            </a:pPr>
            <a:r>
              <a:rPr lang="en-US" sz="1100" b="1" spc="140" kern="0" dirty="0">
                <a:solidFill>
                  <a:srgbClr val="C8453C"/>
                </a:solidFill>
                <a:latin typeface="Calibri" pitchFamily="34" charset="0"/>
                <a:ea typeface="Calibri" pitchFamily="34" charset="-122"/>
                <a:cs typeface="Calibri" pitchFamily="34" charset="-120"/>
              </a:rPr>
              <a:t>What it does not prove</a:t>
            </a:r>
            <a:endParaRPr lang="en-US" sz="1100" dirty="0"/>
          </a:p>
        </p:txBody>
      </p:sp>
      <p:sp>
        <p:nvSpPr>
          <p:cNvPr id="10" name="Text 8"/>
          <p:cNvSpPr txBox="1"/>
          <p:nvPr/>
        </p:nvSpPr>
        <p:spPr>
          <a:xfrm>
            <a:off x="6858000" y="3931920"/>
            <a:ext cx="4389120" cy="1188720"/>
          </a:xfrm>
          <a:prstGeom prst="rect">
            <a:avLst/>
          </a:prstGeom>
          <a:noFill/>
          <a:ln/>
        </p:spPr>
        <p:txBody>
          <a:bodyPr wrap="square" lIns="0" tIns="0" rIns="0" bIns="0" rtlCol="0" anchor="ctr"/>
          <a:lstStyle/>
          <a:p>
            <a:pPr indent="0" marL="0">
              <a:lnSpc>
                <a:spcPct val="112000"/>
              </a:lnSpc>
              <a:buNone/>
            </a:pPr>
            <a:r>
              <a:rPr lang="en-US" sz="1350" dirty="0">
                <a:solidFill>
                  <a:srgbClr val="132018"/>
                </a:solidFill>
                <a:latin typeface="Calibri" pitchFamily="34" charset="0"/>
                <a:ea typeface="Calibri" pitchFamily="34" charset="-122"/>
                <a:cs typeface="Calibri" pitchFamily="34" charset="-120"/>
              </a:rPr>
              <a:t>That a made-up pattern, a file Dayana invents, behaves the same way. Nobody has shown that, and it is why the project moved to germs.</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603504"/>
            <a:ext cx="155448" cy="155448"/>
          </a:xfrm>
          <a:prstGeom prst="ellipse">
            <a:avLst/>
          </a:prstGeom>
          <a:solidFill>
            <a:srgbClr val="1F8B5F"/>
          </a:solidFill>
          <a:ln w="12700">
            <a:solidFill>
              <a:srgbClr val="1F8B5F"/>
            </a:solidFill>
            <a:prstDash val="solid"/>
          </a:ln>
        </p:spPr>
      </p:sp>
      <p:sp>
        <p:nvSpPr>
          <p:cNvPr id="3" name="Text 1"/>
          <p:cNvSpPr txBox="1"/>
          <p:nvPr/>
        </p:nvSpPr>
        <p:spPr>
          <a:xfrm>
            <a:off x="932688" y="502920"/>
            <a:ext cx="10588752" cy="384048"/>
          </a:xfrm>
          <a:prstGeom prst="rect">
            <a:avLst/>
          </a:prstGeom>
          <a:noFill/>
          <a:ln/>
        </p:spPr>
        <p:txBody>
          <a:bodyPr wrap="square" lIns="0" tIns="0" rIns="0" bIns="0" rtlCol="0" anchor="ctr"/>
          <a:lstStyle/>
          <a:p>
            <a:pPr indent="0" marL="0">
              <a:buNone/>
            </a:pPr>
            <a:r>
              <a:rPr lang="en-US" sz="2300" b="1" dirty="0">
                <a:solidFill>
                  <a:srgbClr val="132018"/>
                </a:solidFill>
                <a:latin typeface="Cambria" pitchFamily="34" charset="0"/>
                <a:ea typeface="Cambria" pitchFamily="34" charset="-122"/>
                <a:cs typeface="Cambria" pitchFamily="34" charset="-120"/>
              </a:rPr>
              <a:t>Where it could be used, if it works</a:t>
            </a:r>
            <a:endParaRPr lang="en-US" sz="2300" dirty="0"/>
          </a:p>
        </p:txBody>
      </p:sp>
      <p:sp>
        <p:nvSpPr>
          <p:cNvPr id="4" name="Text 2"/>
          <p:cNvSpPr txBox="1"/>
          <p:nvPr/>
        </p:nvSpPr>
        <p:spPr>
          <a:xfrm>
            <a:off x="640080" y="1097280"/>
            <a:ext cx="10881360" cy="365760"/>
          </a:xfrm>
          <a:prstGeom prst="rect">
            <a:avLst/>
          </a:prstGeom>
          <a:noFill/>
          <a:ln/>
        </p:spPr>
        <p:txBody>
          <a:bodyPr wrap="square" lIns="0" tIns="0" rIns="0" bIns="0" rtlCol="0" anchor="ctr"/>
          <a:lstStyle/>
          <a:p>
            <a:pPr indent="0" marL="0">
              <a:buNone/>
            </a:pPr>
            <a:r>
              <a:rPr lang="en-US" sz="1400" i="1" dirty="0">
                <a:solidFill>
                  <a:srgbClr val="5F6F66"/>
                </a:solidFill>
                <a:latin typeface="Calibri" pitchFamily="34" charset="0"/>
                <a:ea typeface="Calibri" pitchFamily="34" charset="-122"/>
                <a:cs typeface="Calibri" pitchFamily="34" charset="-120"/>
              </a:rPr>
              <a:t>Places people would plausibly want this. None of them is a customer, a deal, or a promise.</a:t>
            </a:r>
            <a:endParaRPr lang="en-US" sz="1400" dirty="0"/>
          </a:p>
        </p:txBody>
      </p:sp>
      <p:sp>
        <p:nvSpPr>
          <p:cNvPr id="5" name="Shape 3"/>
          <p:cNvSpPr/>
          <p:nvPr/>
        </p:nvSpPr>
        <p:spPr>
          <a:xfrm>
            <a:off x="640080" y="1691640"/>
            <a:ext cx="5349240" cy="1691640"/>
          </a:xfrm>
          <a:prstGeom prst="roundRect">
            <a:avLst>
              <a:gd name="adj" fmla="val 5405"/>
            </a:avLst>
          </a:prstGeom>
          <a:solidFill>
            <a:srgbClr val="EDF2EE"/>
          </a:solidFill>
          <a:ln w="12700">
            <a:solidFill>
              <a:srgbClr val="EDF2EE"/>
            </a:solidFill>
            <a:prstDash val="solid"/>
          </a:ln>
        </p:spPr>
      </p:sp>
      <p:sp>
        <p:nvSpPr>
          <p:cNvPr id="6" name="Shape 4"/>
          <p:cNvSpPr/>
          <p:nvPr/>
        </p:nvSpPr>
        <p:spPr>
          <a:xfrm>
            <a:off x="914400" y="1984248"/>
            <a:ext cx="146304" cy="146304"/>
          </a:xfrm>
          <a:prstGeom prst="ellipse">
            <a:avLst/>
          </a:prstGeom>
          <a:solidFill>
            <a:srgbClr val="1F8B5F"/>
          </a:solidFill>
          <a:ln w="12700">
            <a:solidFill>
              <a:srgbClr val="1F8B5F"/>
            </a:solidFill>
            <a:prstDash val="solid"/>
          </a:ln>
        </p:spPr>
      </p:sp>
      <p:sp>
        <p:nvSpPr>
          <p:cNvPr id="7" name="Text 5"/>
          <p:cNvSpPr txBox="1"/>
          <p:nvPr/>
        </p:nvSpPr>
        <p:spPr>
          <a:xfrm>
            <a:off x="1188720" y="1892808"/>
            <a:ext cx="4572000" cy="347472"/>
          </a:xfrm>
          <a:prstGeom prst="rect">
            <a:avLst/>
          </a:prstGeom>
          <a:noFill/>
          <a:ln/>
        </p:spPr>
        <p:txBody>
          <a:bodyPr wrap="square" lIns="0" tIns="0" rIns="0" bIns="0" rtlCol="0" anchor="ctr"/>
          <a:lstStyle/>
          <a:p>
            <a:pPr indent="0" marL="0">
              <a:buNone/>
            </a:pPr>
            <a:r>
              <a:rPr lang="en-US" sz="1700" b="1" dirty="0">
                <a:solidFill>
                  <a:srgbClr val="132018"/>
                </a:solidFill>
                <a:latin typeface="Cambria" pitchFamily="34" charset="0"/>
                <a:ea typeface="Cambria" pitchFamily="34" charset="-122"/>
                <a:cs typeface="Cambria" pitchFamily="34" charset="-120"/>
              </a:rPr>
              <a:t>Long-term archives</a:t>
            </a:r>
            <a:endParaRPr lang="en-US" sz="1700" dirty="0"/>
          </a:p>
        </p:txBody>
      </p:sp>
      <p:sp>
        <p:nvSpPr>
          <p:cNvPr id="8" name="Text 6"/>
          <p:cNvSpPr txBox="1"/>
          <p:nvPr/>
        </p:nvSpPr>
        <p:spPr>
          <a:xfrm>
            <a:off x="1188720" y="2313432"/>
            <a:ext cx="4572000" cy="868680"/>
          </a:xfrm>
          <a:prstGeom prst="rect">
            <a:avLst/>
          </a:prstGeom>
          <a:noFill/>
          <a:ln/>
        </p:spPr>
        <p:txBody>
          <a:bodyPr wrap="square" lIns="0" tIns="0" rIns="0" bIns="0" rtlCol="0" anchor="ctr"/>
          <a:lstStyle/>
          <a:p>
            <a:pPr indent="0" marL="0">
              <a:lnSpc>
                <a:spcPct val="110000"/>
              </a:lnSpc>
              <a:buNone/>
            </a:pPr>
            <a:r>
              <a:rPr lang="en-US" sz="1350" dirty="0">
                <a:solidFill>
                  <a:srgbClr val="5F6F66"/>
                </a:solidFill>
                <a:latin typeface="Calibri" pitchFamily="34" charset="0"/>
                <a:ea typeface="Calibri" pitchFamily="34" charset="-122"/>
                <a:cs typeface="Calibri" pitchFamily="34" charset="-120"/>
              </a:rPr>
              <a:t>Things meant to last centuries, where every storage format we have today dies first.</a:t>
            </a:r>
            <a:endParaRPr lang="en-US" sz="1350" dirty="0"/>
          </a:p>
        </p:txBody>
      </p:sp>
      <p:sp>
        <p:nvSpPr>
          <p:cNvPr id="9" name="Shape 7"/>
          <p:cNvSpPr/>
          <p:nvPr/>
        </p:nvSpPr>
        <p:spPr>
          <a:xfrm>
            <a:off x="6172200" y="1691640"/>
            <a:ext cx="5349240" cy="1691640"/>
          </a:xfrm>
          <a:prstGeom prst="roundRect">
            <a:avLst>
              <a:gd name="adj" fmla="val 5405"/>
            </a:avLst>
          </a:prstGeom>
          <a:solidFill>
            <a:srgbClr val="EDF2EE"/>
          </a:solidFill>
          <a:ln w="12700">
            <a:solidFill>
              <a:srgbClr val="EDF2EE"/>
            </a:solidFill>
            <a:prstDash val="solid"/>
          </a:ln>
        </p:spPr>
      </p:sp>
      <p:sp>
        <p:nvSpPr>
          <p:cNvPr id="10" name="Shape 8"/>
          <p:cNvSpPr/>
          <p:nvPr/>
        </p:nvSpPr>
        <p:spPr>
          <a:xfrm>
            <a:off x="6446520" y="1984248"/>
            <a:ext cx="146304" cy="146304"/>
          </a:xfrm>
          <a:prstGeom prst="ellipse">
            <a:avLst/>
          </a:prstGeom>
          <a:solidFill>
            <a:srgbClr val="1F8B5F"/>
          </a:solidFill>
          <a:ln w="12700">
            <a:solidFill>
              <a:srgbClr val="1F8B5F"/>
            </a:solidFill>
            <a:prstDash val="solid"/>
          </a:ln>
        </p:spPr>
      </p:sp>
      <p:sp>
        <p:nvSpPr>
          <p:cNvPr id="11" name="Text 9"/>
          <p:cNvSpPr txBox="1"/>
          <p:nvPr/>
        </p:nvSpPr>
        <p:spPr>
          <a:xfrm>
            <a:off x="6720840" y="1892808"/>
            <a:ext cx="4572000" cy="347472"/>
          </a:xfrm>
          <a:prstGeom prst="rect">
            <a:avLst/>
          </a:prstGeom>
          <a:noFill/>
          <a:ln/>
        </p:spPr>
        <p:txBody>
          <a:bodyPr wrap="square" lIns="0" tIns="0" rIns="0" bIns="0" rtlCol="0" anchor="ctr"/>
          <a:lstStyle/>
          <a:p>
            <a:pPr indent="0" marL="0">
              <a:buNone/>
            </a:pPr>
            <a:r>
              <a:rPr lang="en-US" sz="1700" b="1" dirty="0">
                <a:solidFill>
                  <a:srgbClr val="132018"/>
                </a:solidFill>
                <a:latin typeface="Cambria" pitchFamily="34" charset="0"/>
                <a:ea typeface="Cambria" pitchFamily="34" charset="-122"/>
                <a:cs typeface="Cambria" pitchFamily="34" charset="-120"/>
              </a:rPr>
              <a:t>Space</a:t>
            </a:r>
            <a:endParaRPr lang="en-US" sz="1700" dirty="0"/>
          </a:p>
        </p:txBody>
      </p:sp>
      <p:sp>
        <p:nvSpPr>
          <p:cNvPr id="12" name="Text 10"/>
          <p:cNvSpPr txBox="1"/>
          <p:nvPr/>
        </p:nvSpPr>
        <p:spPr>
          <a:xfrm>
            <a:off x="6720840" y="2313432"/>
            <a:ext cx="4572000" cy="868680"/>
          </a:xfrm>
          <a:prstGeom prst="rect">
            <a:avLst/>
          </a:prstGeom>
          <a:noFill/>
          <a:ln/>
        </p:spPr>
        <p:txBody>
          <a:bodyPr wrap="square" lIns="0" tIns="0" rIns="0" bIns="0" rtlCol="0" anchor="ctr"/>
          <a:lstStyle/>
          <a:p>
            <a:pPr indent="0" marL="0">
              <a:lnSpc>
                <a:spcPct val="110000"/>
              </a:lnSpc>
              <a:buNone/>
            </a:pPr>
            <a:r>
              <a:rPr lang="en-US" sz="1350" dirty="0">
                <a:solidFill>
                  <a:srgbClr val="5F6F66"/>
                </a:solidFill>
                <a:latin typeface="Calibri" pitchFamily="34" charset="0"/>
                <a:ea typeface="Calibri" pitchFamily="34" charset="-122"/>
                <a:cs typeface="Calibri" pitchFamily="34" charset="-120"/>
              </a:rPr>
              <a:t>Radiation destroys electronics. A colony that regrows from survivors behaves differently.</a:t>
            </a:r>
            <a:endParaRPr lang="en-US" sz="1350" dirty="0"/>
          </a:p>
        </p:txBody>
      </p:sp>
      <p:sp>
        <p:nvSpPr>
          <p:cNvPr id="13" name="Shape 11"/>
          <p:cNvSpPr/>
          <p:nvPr/>
        </p:nvSpPr>
        <p:spPr>
          <a:xfrm>
            <a:off x="640080" y="3657600"/>
            <a:ext cx="5349240" cy="1691640"/>
          </a:xfrm>
          <a:prstGeom prst="roundRect">
            <a:avLst>
              <a:gd name="adj" fmla="val 5405"/>
            </a:avLst>
          </a:prstGeom>
          <a:solidFill>
            <a:srgbClr val="EDF2EE"/>
          </a:solidFill>
          <a:ln w="12700">
            <a:solidFill>
              <a:srgbClr val="EDF2EE"/>
            </a:solidFill>
            <a:prstDash val="solid"/>
          </a:ln>
        </p:spPr>
      </p:sp>
      <p:sp>
        <p:nvSpPr>
          <p:cNvPr id="14" name="Shape 12"/>
          <p:cNvSpPr/>
          <p:nvPr/>
        </p:nvSpPr>
        <p:spPr>
          <a:xfrm>
            <a:off x="914400" y="3950208"/>
            <a:ext cx="146304" cy="146304"/>
          </a:xfrm>
          <a:prstGeom prst="ellipse">
            <a:avLst/>
          </a:prstGeom>
          <a:solidFill>
            <a:srgbClr val="1F8B5F"/>
          </a:solidFill>
          <a:ln w="12700">
            <a:solidFill>
              <a:srgbClr val="1F8B5F"/>
            </a:solidFill>
            <a:prstDash val="solid"/>
          </a:ln>
        </p:spPr>
      </p:sp>
      <p:sp>
        <p:nvSpPr>
          <p:cNvPr id="15" name="Text 13"/>
          <p:cNvSpPr txBox="1"/>
          <p:nvPr/>
        </p:nvSpPr>
        <p:spPr>
          <a:xfrm>
            <a:off x="1188720" y="3858768"/>
            <a:ext cx="4572000" cy="347472"/>
          </a:xfrm>
          <a:prstGeom prst="rect">
            <a:avLst/>
          </a:prstGeom>
          <a:noFill/>
          <a:ln/>
        </p:spPr>
        <p:txBody>
          <a:bodyPr wrap="square" lIns="0" tIns="0" rIns="0" bIns="0" rtlCol="0" anchor="ctr"/>
          <a:lstStyle/>
          <a:p>
            <a:pPr indent="0" marL="0">
              <a:buNone/>
            </a:pPr>
            <a:r>
              <a:rPr lang="en-US" sz="1700" b="1" dirty="0">
                <a:solidFill>
                  <a:srgbClr val="132018"/>
                </a:solidFill>
                <a:latin typeface="Cambria" pitchFamily="34" charset="0"/>
                <a:ea typeface="Cambria" pitchFamily="34" charset="-122"/>
                <a:cs typeface="Cambria" pitchFamily="34" charset="-120"/>
              </a:rPr>
              <a:t>Labelling living material</a:t>
            </a:r>
            <a:endParaRPr lang="en-US" sz="1700" dirty="0"/>
          </a:p>
        </p:txBody>
      </p:sp>
      <p:sp>
        <p:nvSpPr>
          <p:cNvPr id="16" name="Text 14"/>
          <p:cNvSpPr txBox="1"/>
          <p:nvPr/>
        </p:nvSpPr>
        <p:spPr>
          <a:xfrm>
            <a:off x="1188720" y="4279392"/>
            <a:ext cx="4572000" cy="868680"/>
          </a:xfrm>
          <a:prstGeom prst="rect">
            <a:avLst/>
          </a:prstGeom>
          <a:noFill/>
          <a:ln/>
        </p:spPr>
        <p:txBody>
          <a:bodyPr wrap="square" lIns="0" tIns="0" rIns="0" bIns="0" rtlCol="0" anchor="ctr"/>
          <a:lstStyle/>
          <a:p>
            <a:pPr indent="0" marL="0">
              <a:lnSpc>
                <a:spcPct val="110000"/>
              </a:lnSpc>
              <a:buNone/>
            </a:pPr>
            <a:r>
              <a:rPr lang="en-US" sz="1350" dirty="0">
                <a:solidFill>
                  <a:srgbClr val="5F6F66"/>
                </a:solidFill>
                <a:latin typeface="Calibri" pitchFamily="34" charset="0"/>
                <a:ea typeface="Calibri" pitchFamily="34" charset="-122"/>
                <a:cs typeface="Calibri" pitchFamily="34" charset="-120"/>
              </a:rPr>
              <a:t>Seeds, cultures and samples that carry their own identity and keep it as they grow.</a:t>
            </a:r>
            <a:endParaRPr lang="en-US" sz="1350" dirty="0"/>
          </a:p>
        </p:txBody>
      </p:sp>
      <p:sp>
        <p:nvSpPr>
          <p:cNvPr id="17" name="Shape 15"/>
          <p:cNvSpPr/>
          <p:nvPr/>
        </p:nvSpPr>
        <p:spPr>
          <a:xfrm>
            <a:off x="6172200" y="3657600"/>
            <a:ext cx="5349240" cy="1691640"/>
          </a:xfrm>
          <a:prstGeom prst="roundRect">
            <a:avLst>
              <a:gd name="adj" fmla="val 5405"/>
            </a:avLst>
          </a:prstGeom>
          <a:solidFill>
            <a:srgbClr val="EDF2EE"/>
          </a:solidFill>
          <a:ln w="12700">
            <a:solidFill>
              <a:srgbClr val="EDF2EE"/>
            </a:solidFill>
            <a:prstDash val="solid"/>
          </a:ln>
        </p:spPr>
      </p:sp>
      <p:sp>
        <p:nvSpPr>
          <p:cNvPr id="18" name="Shape 16"/>
          <p:cNvSpPr/>
          <p:nvPr/>
        </p:nvSpPr>
        <p:spPr>
          <a:xfrm>
            <a:off x="6446520" y="3950208"/>
            <a:ext cx="146304" cy="146304"/>
          </a:xfrm>
          <a:prstGeom prst="ellipse">
            <a:avLst/>
          </a:prstGeom>
          <a:solidFill>
            <a:srgbClr val="1F8B5F"/>
          </a:solidFill>
          <a:ln w="12700">
            <a:solidFill>
              <a:srgbClr val="1F8B5F"/>
            </a:solidFill>
            <a:prstDash val="solid"/>
          </a:ln>
        </p:spPr>
      </p:sp>
      <p:sp>
        <p:nvSpPr>
          <p:cNvPr id="19" name="Text 17"/>
          <p:cNvSpPr txBox="1"/>
          <p:nvPr/>
        </p:nvSpPr>
        <p:spPr>
          <a:xfrm>
            <a:off x="6720840" y="3858768"/>
            <a:ext cx="4572000" cy="347472"/>
          </a:xfrm>
          <a:prstGeom prst="rect">
            <a:avLst/>
          </a:prstGeom>
          <a:noFill/>
          <a:ln/>
        </p:spPr>
        <p:txBody>
          <a:bodyPr wrap="square" lIns="0" tIns="0" rIns="0" bIns="0" rtlCol="0" anchor="ctr"/>
          <a:lstStyle/>
          <a:p>
            <a:pPr indent="0" marL="0">
              <a:buNone/>
            </a:pPr>
            <a:r>
              <a:rPr lang="en-US" sz="1700" b="1" dirty="0">
                <a:solidFill>
                  <a:srgbClr val="132018"/>
                </a:solidFill>
                <a:latin typeface="Cambria" pitchFamily="34" charset="0"/>
                <a:ea typeface="Cambria" pitchFamily="34" charset="-122"/>
                <a:cs typeface="Cambria" pitchFamily="34" charset="-120"/>
              </a:rPr>
              <a:t>Anti-counterfeiting</a:t>
            </a:r>
            <a:endParaRPr lang="en-US" sz="1700" dirty="0"/>
          </a:p>
        </p:txBody>
      </p:sp>
      <p:sp>
        <p:nvSpPr>
          <p:cNvPr id="20" name="Text 18"/>
          <p:cNvSpPr txBox="1"/>
          <p:nvPr/>
        </p:nvSpPr>
        <p:spPr>
          <a:xfrm>
            <a:off x="6720840" y="4279392"/>
            <a:ext cx="4572000" cy="868680"/>
          </a:xfrm>
          <a:prstGeom prst="rect">
            <a:avLst/>
          </a:prstGeom>
          <a:noFill/>
          <a:ln/>
        </p:spPr>
        <p:txBody>
          <a:bodyPr wrap="square" lIns="0" tIns="0" rIns="0" bIns="0" rtlCol="0" anchor="ctr"/>
          <a:lstStyle/>
          <a:p>
            <a:pPr indent="0" marL="0">
              <a:lnSpc>
                <a:spcPct val="110000"/>
              </a:lnSpc>
              <a:buNone/>
            </a:pPr>
            <a:r>
              <a:rPr lang="en-US" sz="1350" dirty="0">
                <a:solidFill>
                  <a:srgbClr val="5F6F66"/>
                </a:solidFill>
                <a:latin typeface="Calibri" pitchFamily="34" charset="0"/>
                <a:ea typeface="Calibri" pitchFamily="34" charset="-122"/>
                <a:cs typeface="Calibri" pitchFamily="34" charset="-120"/>
              </a:rPr>
              <a:t>A mark that is very hard to copy, because copying it means copying life.</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603504"/>
            <a:ext cx="155448" cy="155448"/>
          </a:xfrm>
          <a:prstGeom prst="ellipse">
            <a:avLst/>
          </a:prstGeom>
          <a:solidFill>
            <a:srgbClr val="1F8B5F"/>
          </a:solidFill>
          <a:ln w="12700">
            <a:solidFill>
              <a:srgbClr val="1F8B5F"/>
            </a:solidFill>
            <a:prstDash val="solid"/>
          </a:ln>
        </p:spPr>
      </p:sp>
      <p:sp>
        <p:nvSpPr>
          <p:cNvPr id="3" name="Text 1"/>
          <p:cNvSpPr txBox="1"/>
          <p:nvPr/>
        </p:nvSpPr>
        <p:spPr>
          <a:xfrm>
            <a:off x="932688" y="502920"/>
            <a:ext cx="10588752" cy="384048"/>
          </a:xfrm>
          <a:prstGeom prst="rect">
            <a:avLst/>
          </a:prstGeom>
          <a:noFill/>
          <a:ln/>
        </p:spPr>
        <p:txBody>
          <a:bodyPr wrap="square" lIns="0" tIns="0" rIns="0" bIns="0" rtlCol="0" anchor="ctr"/>
          <a:lstStyle/>
          <a:p>
            <a:pPr indent="0" marL="0">
              <a:buNone/>
            </a:pPr>
            <a:r>
              <a:rPr lang="en-US" sz="2300" b="1" dirty="0">
                <a:solidFill>
                  <a:srgbClr val="132018"/>
                </a:solidFill>
                <a:latin typeface="Cambria" pitchFamily="34" charset="0"/>
                <a:ea typeface="Cambria" pitchFamily="34" charset="-122"/>
                <a:cs typeface="Cambria" pitchFamily="34" charset="-120"/>
              </a:rPr>
              <a:t>How much this can actually make</a:t>
            </a:r>
            <a:endParaRPr lang="en-US" sz="2300" dirty="0"/>
          </a:p>
        </p:txBody>
      </p:sp>
      <p:sp>
        <p:nvSpPr>
          <p:cNvPr id="4" name="Text 2"/>
          <p:cNvSpPr txBox="1"/>
          <p:nvPr/>
        </p:nvSpPr>
        <p:spPr>
          <a:xfrm>
            <a:off x="640080" y="1097280"/>
            <a:ext cx="10881360" cy="365760"/>
          </a:xfrm>
          <a:prstGeom prst="rect">
            <a:avLst/>
          </a:prstGeom>
          <a:noFill/>
          <a:ln/>
        </p:spPr>
        <p:txBody>
          <a:bodyPr wrap="square" lIns="0" tIns="0" rIns="0" bIns="0" rtlCol="0" anchor="ctr"/>
          <a:lstStyle/>
          <a:p>
            <a:pPr indent="0" marL="0">
              <a:buNone/>
            </a:pPr>
            <a:r>
              <a:rPr lang="en-US" sz="1400" i="1" dirty="0">
                <a:solidFill>
                  <a:srgbClr val="5F6F66"/>
                </a:solidFill>
                <a:latin typeface="Calibri" pitchFamily="34" charset="0"/>
                <a:ea typeface="Calibri" pitchFamily="34" charset="-122"/>
                <a:cs typeface="Calibri" pitchFamily="34" charset="-120"/>
              </a:rPr>
              <a:t>Four real figures. None of them invented, all of them checkable.</a:t>
            </a:r>
            <a:endParaRPr lang="en-US" sz="1400" dirty="0"/>
          </a:p>
        </p:txBody>
      </p:sp>
      <p:sp>
        <p:nvSpPr>
          <p:cNvPr id="5" name="Shape 3"/>
          <p:cNvSpPr/>
          <p:nvPr/>
        </p:nvSpPr>
        <p:spPr>
          <a:xfrm>
            <a:off x="640080" y="1645920"/>
            <a:ext cx="2606040" cy="2240280"/>
          </a:xfrm>
          <a:prstGeom prst="roundRect">
            <a:avLst>
              <a:gd name="adj" fmla="val 4082"/>
            </a:avLst>
          </a:prstGeom>
          <a:solidFill>
            <a:srgbClr val="EDF2EE"/>
          </a:solidFill>
          <a:ln w="12700">
            <a:solidFill>
              <a:srgbClr val="EDF2EE"/>
            </a:solidFill>
            <a:prstDash val="solid"/>
          </a:ln>
        </p:spPr>
      </p:sp>
      <p:sp>
        <p:nvSpPr>
          <p:cNvPr id="6" name="Text 4"/>
          <p:cNvSpPr txBox="1"/>
          <p:nvPr/>
        </p:nvSpPr>
        <p:spPr>
          <a:xfrm>
            <a:off x="859536" y="1847088"/>
            <a:ext cx="2167128" cy="713232"/>
          </a:xfrm>
          <a:prstGeom prst="rect">
            <a:avLst/>
          </a:prstGeom>
          <a:noFill/>
          <a:ln/>
        </p:spPr>
        <p:txBody>
          <a:bodyPr wrap="square" lIns="0" tIns="0" rIns="0" bIns="0" rtlCol="0" anchor="ctr"/>
          <a:lstStyle/>
          <a:p>
            <a:pPr indent="0" marL="0">
              <a:buNone/>
            </a:pPr>
            <a:r>
              <a:rPr lang="en-US" sz="3400" b="1" dirty="0">
                <a:solidFill>
                  <a:srgbClr val="1F8B5F"/>
                </a:solidFill>
                <a:latin typeface="Cambria" pitchFamily="34" charset="0"/>
                <a:ea typeface="Cambria" pitchFamily="34" charset="-122"/>
                <a:cs typeface="Cambria" pitchFamily="34" charset="-120"/>
              </a:rPr>
              <a:t>$305,000</a:t>
            </a:r>
            <a:endParaRPr lang="en-US" sz="3400" dirty="0"/>
          </a:p>
        </p:txBody>
      </p:sp>
      <p:sp>
        <p:nvSpPr>
          <p:cNvPr id="7" name="Text 5"/>
          <p:cNvSpPr txBox="1"/>
          <p:nvPr/>
        </p:nvSpPr>
        <p:spPr>
          <a:xfrm>
            <a:off x="859536" y="2560320"/>
            <a:ext cx="2167128" cy="1143000"/>
          </a:xfrm>
          <a:prstGeom prst="rect">
            <a:avLst/>
          </a:prstGeom>
          <a:noFill/>
          <a:ln/>
        </p:spPr>
        <p:txBody>
          <a:bodyPr wrap="square" lIns="0" tIns="0" rIns="0" bIns="0" rtlCol="0" anchor="t"/>
          <a:lstStyle/>
          <a:p>
            <a:pPr indent="0" marL="0">
              <a:lnSpc>
                <a:spcPct val="105000"/>
              </a:lnSpc>
              <a:buNone/>
            </a:pPr>
            <a:r>
              <a:rPr lang="en-US" sz="1250" dirty="0">
                <a:solidFill>
                  <a:srgbClr val="5F6F66"/>
                </a:solidFill>
                <a:latin typeface="Calibri" pitchFamily="34" charset="0"/>
                <a:ea typeface="Calibri" pitchFamily="34" charset="-122"/>
                <a:cs typeface="Calibri" pitchFamily="34" charset="-120"/>
              </a:rPr>
              <a:t>The most one US government grant gives for a first phase, over 6 to 18 months. Up to $1.25M more after that. This money does not cost you part of the company.</a:t>
            </a:r>
            <a:endParaRPr lang="en-US" sz="1250" dirty="0"/>
          </a:p>
        </p:txBody>
      </p:sp>
      <p:sp>
        <p:nvSpPr>
          <p:cNvPr id="8" name="Shape 6"/>
          <p:cNvSpPr/>
          <p:nvPr/>
        </p:nvSpPr>
        <p:spPr>
          <a:xfrm>
            <a:off x="3429000" y="1645920"/>
            <a:ext cx="2606040" cy="2240280"/>
          </a:xfrm>
          <a:prstGeom prst="roundRect">
            <a:avLst>
              <a:gd name="adj" fmla="val 4082"/>
            </a:avLst>
          </a:prstGeom>
          <a:solidFill>
            <a:srgbClr val="EDF2EE"/>
          </a:solidFill>
          <a:ln w="12700">
            <a:solidFill>
              <a:srgbClr val="EDF2EE"/>
            </a:solidFill>
            <a:prstDash val="solid"/>
          </a:ln>
        </p:spPr>
      </p:sp>
      <p:sp>
        <p:nvSpPr>
          <p:cNvPr id="9" name="Text 7"/>
          <p:cNvSpPr txBox="1"/>
          <p:nvPr/>
        </p:nvSpPr>
        <p:spPr>
          <a:xfrm>
            <a:off x="3648456" y="1847088"/>
            <a:ext cx="2167128" cy="713232"/>
          </a:xfrm>
          <a:prstGeom prst="rect">
            <a:avLst/>
          </a:prstGeom>
          <a:noFill/>
          <a:ln/>
        </p:spPr>
        <p:txBody>
          <a:bodyPr wrap="square" lIns="0" tIns="0" rIns="0" bIns="0" rtlCol="0" anchor="ctr"/>
          <a:lstStyle/>
          <a:p>
            <a:pPr indent="0" marL="0">
              <a:buNone/>
            </a:pPr>
            <a:r>
              <a:rPr lang="en-US" sz="3400" b="1" dirty="0">
                <a:solidFill>
                  <a:srgbClr val="132018"/>
                </a:solidFill>
                <a:latin typeface="Cambria" pitchFamily="34" charset="0"/>
                <a:ea typeface="Cambria" pitchFamily="34" charset="-122"/>
                <a:cs typeface="Cambria" pitchFamily="34" charset="-120"/>
              </a:rPr>
              <a:t>$37,700</a:t>
            </a:r>
            <a:endParaRPr lang="en-US" sz="3400" dirty="0"/>
          </a:p>
        </p:txBody>
      </p:sp>
      <p:sp>
        <p:nvSpPr>
          <p:cNvPr id="10" name="Text 8"/>
          <p:cNvSpPr txBox="1"/>
          <p:nvPr/>
        </p:nvSpPr>
        <p:spPr>
          <a:xfrm>
            <a:off x="3648456" y="2560320"/>
            <a:ext cx="2167128" cy="1143000"/>
          </a:xfrm>
          <a:prstGeom prst="rect">
            <a:avLst/>
          </a:prstGeom>
          <a:noFill/>
          <a:ln/>
        </p:spPr>
        <p:txBody>
          <a:bodyPr wrap="square" lIns="0" tIns="0" rIns="0" bIns="0" rtlCol="0" anchor="t"/>
          <a:lstStyle/>
          <a:p>
            <a:pPr indent="0" marL="0">
              <a:lnSpc>
                <a:spcPct val="105000"/>
              </a:lnSpc>
              <a:buNone/>
            </a:pPr>
            <a:r>
              <a:rPr lang="en-US" sz="1250" dirty="0">
                <a:solidFill>
                  <a:srgbClr val="5F6F66"/>
                </a:solidFill>
                <a:latin typeface="Calibri" pitchFamily="34" charset="0"/>
                <a:ea typeface="Calibri" pitchFamily="34" charset="-122"/>
                <a:cs typeface="Calibri" pitchFamily="34" charset="-120"/>
              </a:rPr>
              <a:t>Total raised so far by BioCompute, a company doing almost the same thing with bacteria. This is what this stage really looks like.</a:t>
            </a:r>
            <a:endParaRPr lang="en-US" sz="1250" dirty="0"/>
          </a:p>
        </p:txBody>
      </p:sp>
      <p:sp>
        <p:nvSpPr>
          <p:cNvPr id="11" name="Shape 9"/>
          <p:cNvSpPr/>
          <p:nvPr/>
        </p:nvSpPr>
        <p:spPr>
          <a:xfrm>
            <a:off x="6217920" y="1645920"/>
            <a:ext cx="2606040" cy="2240280"/>
          </a:xfrm>
          <a:prstGeom prst="roundRect">
            <a:avLst>
              <a:gd name="adj" fmla="val 4082"/>
            </a:avLst>
          </a:prstGeom>
          <a:solidFill>
            <a:srgbClr val="EDF2EE"/>
          </a:solidFill>
          <a:ln w="12700">
            <a:solidFill>
              <a:srgbClr val="EDF2EE"/>
            </a:solidFill>
            <a:prstDash val="solid"/>
          </a:ln>
        </p:spPr>
      </p:sp>
      <p:sp>
        <p:nvSpPr>
          <p:cNvPr id="12" name="Text 10"/>
          <p:cNvSpPr txBox="1"/>
          <p:nvPr/>
        </p:nvSpPr>
        <p:spPr>
          <a:xfrm>
            <a:off x="6437376" y="1847088"/>
            <a:ext cx="2167128" cy="713232"/>
          </a:xfrm>
          <a:prstGeom prst="rect">
            <a:avLst/>
          </a:prstGeom>
          <a:noFill/>
          <a:ln/>
        </p:spPr>
        <p:txBody>
          <a:bodyPr wrap="square" lIns="0" tIns="0" rIns="0" bIns="0" rtlCol="0" anchor="ctr"/>
          <a:lstStyle/>
          <a:p>
            <a:pPr indent="0" marL="0">
              <a:buNone/>
            </a:pPr>
            <a:r>
              <a:rPr lang="en-US" sz="2800" b="1" dirty="0">
                <a:solidFill>
                  <a:srgbClr val="132018"/>
                </a:solidFill>
                <a:latin typeface="Cambria" pitchFamily="34" charset="0"/>
                <a:ea typeface="Cambria" pitchFamily="34" charset="-122"/>
                <a:cs typeface="Cambria" pitchFamily="34" charset="-120"/>
              </a:rPr>
              <a:t>$35 million</a:t>
            </a:r>
            <a:endParaRPr lang="en-US" sz="2800" dirty="0"/>
          </a:p>
        </p:txBody>
      </p:sp>
      <p:sp>
        <p:nvSpPr>
          <p:cNvPr id="13" name="Text 11"/>
          <p:cNvSpPr txBox="1"/>
          <p:nvPr/>
        </p:nvSpPr>
        <p:spPr>
          <a:xfrm>
            <a:off x="6437376" y="2560320"/>
            <a:ext cx="2167128" cy="1143000"/>
          </a:xfrm>
          <a:prstGeom prst="rect">
            <a:avLst/>
          </a:prstGeom>
          <a:noFill/>
          <a:ln/>
        </p:spPr>
        <p:txBody>
          <a:bodyPr wrap="square" lIns="0" tIns="0" rIns="0" bIns="0" rtlCol="0" anchor="t"/>
          <a:lstStyle/>
          <a:p>
            <a:pPr indent="0" marL="0">
              <a:lnSpc>
                <a:spcPct val="105000"/>
              </a:lnSpc>
              <a:buNone/>
            </a:pPr>
            <a:r>
              <a:rPr lang="en-US" sz="1250" dirty="0">
                <a:solidFill>
                  <a:srgbClr val="5F6F66"/>
                </a:solidFill>
                <a:latin typeface="Calibri" pitchFamily="34" charset="0"/>
                <a:ea typeface="Calibri" pitchFamily="34" charset="-122"/>
                <a:cs typeface="Calibri" pitchFamily="34" charset="-120"/>
              </a:rPr>
              <a:t>Raised in one round by Catalog, a DNA storage company with real machines. Roughly the ceiling of this field, after years of work.</a:t>
            </a:r>
            <a:endParaRPr lang="en-US" sz="1250" dirty="0"/>
          </a:p>
        </p:txBody>
      </p:sp>
      <p:sp>
        <p:nvSpPr>
          <p:cNvPr id="14" name="Shape 12"/>
          <p:cNvSpPr/>
          <p:nvPr/>
        </p:nvSpPr>
        <p:spPr>
          <a:xfrm>
            <a:off x="9006840" y="1645920"/>
            <a:ext cx="2606040" cy="2240280"/>
          </a:xfrm>
          <a:prstGeom prst="roundRect">
            <a:avLst>
              <a:gd name="adj" fmla="val 4082"/>
            </a:avLst>
          </a:prstGeom>
          <a:solidFill>
            <a:srgbClr val="EDF2EE"/>
          </a:solidFill>
          <a:ln w="12700">
            <a:solidFill>
              <a:srgbClr val="EDF2EE"/>
            </a:solidFill>
            <a:prstDash val="solid"/>
          </a:ln>
        </p:spPr>
      </p:sp>
      <p:sp>
        <p:nvSpPr>
          <p:cNvPr id="15" name="Text 13"/>
          <p:cNvSpPr txBox="1"/>
          <p:nvPr/>
        </p:nvSpPr>
        <p:spPr>
          <a:xfrm>
            <a:off x="9226296" y="1847088"/>
            <a:ext cx="2167128" cy="713232"/>
          </a:xfrm>
          <a:prstGeom prst="rect">
            <a:avLst/>
          </a:prstGeom>
          <a:noFill/>
          <a:ln/>
        </p:spPr>
        <p:txBody>
          <a:bodyPr wrap="square" lIns="0" tIns="0" rIns="0" bIns="0" rtlCol="0" anchor="ctr"/>
          <a:lstStyle/>
          <a:p>
            <a:pPr indent="0" marL="0">
              <a:buNone/>
            </a:pPr>
            <a:r>
              <a:rPr lang="en-US" sz="3400" b="1" dirty="0">
                <a:solidFill>
                  <a:srgbClr val="C8453C"/>
                </a:solidFill>
                <a:latin typeface="Cambria" pitchFamily="34" charset="0"/>
                <a:ea typeface="Cambria" pitchFamily="34" charset="-122"/>
                <a:cs typeface="Cambria" pitchFamily="34" charset="-120"/>
              </a:rPr>
              <a:t>$0</a:t>
            </a:r>
            <a:endParaRPr lang="en-US" sz="3400" dirty="0"/>
          </a:p>
        </p:txBody>
      </p:sp>
      <p:sp>
        <p:nvSpPr>
          <p:cNvPr id="16" name="Text 14"/>
          <p:cNvSpPr txBox="1"/>
          <p:nvPr/>
        </p:nvSpPr>
        <p:spPr>
          <a:xfrm>
            <a:off x="9226296" y="2560320"/>
            <a:ext cx="2167128" cy="1143000"/>
          </a:xfrm>
          <a:prstGeom prst="rect">
            <a:avLst/>
          </a:prstGeom>
          <a:noFill/>
          <a:ln/>
        </p:spPr>
        <p:txBody>
          <a:bodyPr wrap="square" lIns="0" tIns="0" rIns="0" bIns="0" rtlCol="0" anchor="t"/>
          <a:lstStyle/>
          <a:p>
            <a:pPr indent="0" marL="0">
              <a:lnSpc>
                <a:spcPct val="105000"/>
              </a:lnSpc>
              <a:buNone/>
            </a:pPr>
            <a:r>
              <a:rPr lang="en-US" sz="1250" dirty="0">
                <a:solidFill>
                  <a:srgbClr val="5F6F66"/>
                </a:solidFill>
                <a:latin typeface="Calibri" pitchFamily="34" charset="0"/>
                <a:ea typeface="Calibri" pitchFamily="34" charset="-122"/>
                <a:cs typeface="Calibri" pitchFamily="34" charset="-120"/>
              </a:rPr>
              <a:t>Sales in this field today, a decade after the first demonstrations. Anyone who quotes you revenue is selling you something.</a:t>
            </a:r>
            <a:endParaRPr lang="en-US" sz="1250" dirty="0"/>
          </a:p>
        </p:txBody>
      </p:sp>
      <p:sp>
        <p:nvSpPr>
          <p:cNvPr id="17" name="Shape 15"/>
          <p:cNvSpPr/>
          <p:nvPr/>
        </p:nvSpPr>
        <p:spPr>
          <a:xfrm>
            <a:off x="640080" y="4160520"/>
            <a:ext cx="10881360" cy="1417320"/>
          </a:xfrm>
          <a:prstGeom prst="roundRect">
            <a:avLst>
              <a:gd name="adj" fmla="val 6452"/>
            </a:avLst>
          </a:prstGeom>
          <a:solidFill>
            <a:srgbClr val="132018"/>
          </a:solidFill>
          <a:ln w="12700">
            <a:solidFill>
              <a:srgbClr val="132018"/>
            </a:solidFill>
            <a:prstDash val="solid"/>
          </a:ln>
        </p:spPr>
      </p:sp>
      <p:sp>
        <p:nvSpPr>
          <p:cNvPr id="18" name="Text 16"/>
          <p:cNvSpPr txBox="1"/>
          <p:nvPr/>
        </p:nvSpPr>
        <p:spPr>
          <a:xfrm>
            <a:off x="960120" y="4343400"/>
            <a:ext cx="10241280" cy="320040"/>
          </a:xfrm>
          <a:prstGeom prst="rect">
            <a:avLst/>
          </a:prstGeom>
          <a:noFill/>
          <a:ln/>
        </p:spPr>
        <p:txBody>
          <a:bodyPr wrap="square" lIns="0" tIns="0" rIns="0" bIns="0" rtlCol="0" anchor="ctr"/>
          <a:lstStyle/>
          <a:p>
            <a:pPr indent="0" marL="0">
              <a:buNone/>
            </a:pPr>
            <a:r>
              <a:rPr lang="en-US" sz="1100" b="1" spc="140" kern="0" dirty="0">
                <a:solidFill>
                  <a:srgbClr val="1F8B5F"/>
                </a:solidFill>
                <a:latin typeface="Calibri" pitchFamily="34" charset="0"/>
                <a:ea typeface="Calibri" pitchFamily="34" charset="-122"/>
                <a:cs typeface="Calibri" pitchFamily="34" charset="-120"/>
              </a:rPr>
              <a:t>The number to hold in your head</a:t>
            </a:r>
            <a:endParaRPr lang="en-US" sz="1100" dirty="0"/>
          </a:p>
        </p:txBody>
      </p:sp>
      <p:sp>
        <p:nvSpPr>
          <p:cNvPr id="19" name="Text 17"/>
          <p:cNvSpPr txBox="1"/>
          <p:nvPr/>
        </p:nvSpPr>
        <p:spPr>
          <a:xfrm>
            <a:off x="960120" y="4681728"/>
            <a:ext cx="10241280" cy="777240"/>
          </a:xfrm>
          <a:prstGeom prst="rect">
            <a:avLst/>
          </a:prstGeom>
          <a:noFill/>
          <a:ln/>
        </p:spPr>
        <p:txBody>
          <a:bodyPr wrap="square" lIns="0" tIns="0" rIns="0" bIns="0" rtlCol="0" anchor="ctr"/>
          <a:lstStyle/>
          <a:p>
            <a:pPr indent="0" marL="0">
              <a:lnSpc>
                <a:spcPct val="112000"/>
              </a:lnSpc>
              <a:buNone/>
            </a:pPr>
            <a:r>
              <a:rPr lang="en-US" sz="1400" dirty="0">
                <a:solidFill>
                  <a:srgbClr val="FFFFFF"/>
                </a:solidFill>
                <a:latin typeface="Calibri" pitchFamily="34" charset="0"/>
                <a:ea typeface="Calibri" pitchFamily="34" charset="-122"/>
                <a:cs typeface="Calibri" pitchFamily="34" charset="-120"/>
              </a:rPr>
              <a:t>Over the next two to three years, a good outcome is $300,000 to $2 million, almost all of it from grants, and nothing from sales. Millions in revenue is not on the table until the lab test comes back positive and somebody builds a real device.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32018"/>
        </a:solidFill>
      </p:bgPr>
    </p:bg>
    <p:spTree>
      <p:nvGrpSpPr>
        <p:cNvPr id="1" name=""/>
        <p:cNvGrpSpPr/>
        <p:nvPr/>
      </p:nvGrpSpPr>
      <p:grpSpPr>
        <a:xfrm>
          <a:off x="0" y="0"/>
          <a:ext cx="0" cy="0"/>
          <a:chOff x="0" y="0"/>
          <a:chExt cx="0" cy="0"/>
        </a:xfrm>
      </p:grpSpPr>
      <p:sp>
        <p:nvSpPr>
          <p:cNvPr id="2" name="Shape 0"/>
          <p:cNvSpPr/>
          <p:nvPr/>
        </p:nvSpPr>
        <p:spPr>
          <a:xfrm>
            <a:off x="640080" y="603504"/>
            <a:ext cx="155448" cy="155448"/>
          </a:xfrm>
          <a:prstGeom prst="ellipse">
            <a:avLst/>
          </a:prstGeom>
          <a:solidFill>
            <a:srgbClr val="1F8B5F"/>
          </a:solidFill>
          <a:ln w="12700">
            <a:solidFill>
              <a:srgbClr val="1F8B5F"/>
            </a:solidFill>
            <a:prstDash val="solid"/>
          </a:ln>
        </p:spPr>
      </p:sp>
      <p:sp>
        <p:nvSpPr>
          <p:cNvPr id="3" name="Text 1"/>
          <p:cNvSpPr txBox="1"/>
          <p:nvPr/>
        </p:nvSpPr>
        <p:spPr>
          <a:xfrm>
            <a:off x="932688" y="502920"/>
            <a:ext cx="10588752" cy="384048"/>
          </a:xfrm>
          <a:prstGeom prst="rect">
            <a:avLst/>
          </a:prstGeom>
          <a:noFill/>
          <a:ln/>
        </p:spPr>
        <p:txBody>
          <a:bodyPr wrap="square" lIns="0" tIns="0" rIns="0" bIns="0" rtlCol="0" anchor="ctr"/>
          <a:lstStyle/>
          <a:p>
            <a:pPr indent="0" marL="0">
              <a:buNone/>
            </a:pPr>
            <a:r>
              <a:rPr lang="en-US" sz="2300" b="1" dirty="0">
                <a:solidFill>
                  <a:srgbClr val="FFFFFF"/>
                </a:solidFill>
                <a:latin typeface="Cambria" pitchFamily="34" charset="0"/>
                <a:ea typeface="Cambria" pitchFamily="34" charset="-122"/>
                <a:cs typeface="Cambria" pitchFamily="34" charset="-120"/>
              </a:rPr>
              <a:t>What to watch, on your side</a:t>
            </a:r>
            <a:endParaRPr lang="en-US" sz="2300" dirty="0"/>
          </a:p>
        </p:txBody>
      </p:sp>
      <p:sp>
        <p:nvSpPr>
          <p:cNvPr id="4" name="Shape 2"/>
          <p:cNvSpPr/>
          <p:nvPr/>
        </p:nvSpPr>
        <p:spPr>
          <a:xfrm>
            <a:off x="640080" y="1435608"/>
            <a:ext cx="146304" cy="146304"/>
          </a:xfrm>
          <a:prstGeom prst="ellipse">
            <a:avLst/>
          </a:prstGeom>
          <a:solidFill>
            <a:srgbClr val="1F8B5F"/>
          </a:solidFill>
          <a:ln w="12700">
            <a:solidFill>
              <a:srgbClr val="1F8B5F"/>
            </a:solidFill>
            <a:prstDash val="solid"/>
          </a:ln>
        </p:spPr>
      </p:sp>
      <p:sp>
        <p:nvSpPr>
          <p:cNvPr id="5" name="Text 3"/>
          <p:cNvSpPr txBox="1"/>
          <p:nvPr/>
        </p:nvSpPr>
        <p:spPr>
          <a:xfrm>
            <a:off x="960120" y="1325880"/>
            <a:ext cx="329184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The first lab test</a:t>
            </a:r>
            <a:endParaRPr lang="en-US" sz="1600" dirty="0"/>
          </a:p>
        </p:txBody>
      </p:sp>
      <p:sp>
        <p:nvSpPr>
          <p:cNvPr id="6" name="Text 4"/>
          <p:cNvSpPr txBox="1"/>
          <p:nvPr/>
        </p:nvSpPr>
        <p:spPr>
          <a:xfrm>
            <a:off x="4389120" y="1325880"/>
            <a:ext cx="7132320" cy="731520"/>
          </a:xfrm>
          <a:prstGeom prst="rect">
            <a:avLst/>
          </a:prstGeom>
          <a:noFill/>
          <a:ln/>
        </p:spPr>
        <p:txBody>
          <a:bodyPr wrap="square" lIns="0" tIns="0" rIns="0" bIns="0" rtlCol="0" anchor="ctr"/>
          <a:lstStyle/>
          <a:p>
            <a:pPr indent="0" marL="0">
              <a:lnSpc>
                <a:spcPct val="110000"/>
              </a:lnSpc>
              <a:buNone/>
            </a:pPr>
            <a:r>
              <a:rPr lang="en-US" sz="1400" dirty="0">
                <a:solidFill>
                  <a:srgbClr val="B9C7BF"/>
                </a:solidFill>
                <a:latin typeface="Calibri" pitchFamily="34" charset="0"/>
                <a:ea typeface="Calibri" pitchFamily="34" charset="-122"/>
                <a:cs typeface="Calibri" pitchFamily="34" charset="-120"/>
              </a:rPr>
              <a:t>Roughly $2,000 to $5,000. A planning estimate, not a quote from a lab yet.</a:t>
            </a:r>
            <a:endParaRPr lang="en-US" sz="1400" dirty="0"/>
          </a:p>
        </p:txBody>
      </p:sp>
      <p:sp>
        <p:nvSpPr>
          <p:cNvPr id="7" name="Shape 5"/>
          <p:cNvSpPr/>
          <p:nvPr/>
        </p:nvSpPr>
        <p:spPr>
          <a:xfrm>
            <a:off x="640080" y="2395728"/>
            <a:ext cx="146304" cy="146304"/>
          </a:xfrm>
          <a:prstGeom prst="ellipse">
            <a:avLst/>
          </a:prstGeom>
          <a:solidFill>
            <a:srgbClr val="1F8B5F"/>
          </a:solidFill>
          <a:ln w="12700">
            <a:solidFill>
              <a:srgbClr val="1F8B5F"/>
            </a:solidFill>
            <a:prstDash val="solid"/>
          </a:ln>
        </p:spPr>
      </p:sp>
      <p:sp>
        <p:nvSpPr>
          <p:cNvPr id="8" name="Text 6"/>
          <p:cNvSpPr txBox="1"/>
          <p:nvPr/>
        </p:nvSpPr>
        <p:spPr>
          <a:xfrm>
            <a:off x="960120" y="2286000"/>
            <a:ext cx="329184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Patent fees</a:t>
            </a:r>
            <a:endParaRPr lang="en-US" sz="1600" dirty="0"/>
          </a:p>
        </p:txBody>
      </p:sp>
      <p:sp>
        <p:nvSpPr>
          <p:cNvPr id="9" name="Text 7"/>
          <p:cNvSpPr txBox="1"/>
          <p:nvPr/>
        </p:nvSpPr>
        <p:spPr>
          <a:xfrm>
            <a:off x="4389120" y="2286000"/>
            <a:ext cx="7132320" cy="731520"/>
          </a:xfrm>
          <a:prstGeom prst="rect">
            <a:avLst/>
          </a:prstGeom>
          <a:noFill/>
          <a:ln/>
        </p:spPr>
        <p:txBody>
          <a:bodyPr wrap="square" lIns="0" tIns="0" rIns="0" bIns="0" rtlCol="0" anchor="ctr"/>
          <a:lstStyle/>
          <a:p>
            <a:pPr indent="0" marL="0">
              <a:lnSpc>
                <a:spcPct val="110000"/>
              </a:lnSpc>
              <a:buNone/>
            </a:pPr>
            <a:r>
              <a:rPr lang="en-US" sz="1400" dirty="0">
                <a:solidFill>
                  <a:srgbClr val="B9C7BF"/>
                </a:solidFill>
                <a:latin typeface="Calibri" pitchFamily="34" charset="0"/>
                <a:ea typeface="Calibri" pitchFamily="34" charset="-122"/>
                <a:cs typeface="Calibri" pitchFamily="34" charset="-120"/>
              </a:rPr>
              <a:t>Ongoing, and the main real expense so far.</a:t>
            </a:r>
            <a:endParaRPr lang="en-US" sz="1400" dirty="0"/>
          </a:p>
        </p:txBody>
      </p:sp>
      <p:sp>
        <p:nvSpPr>
          <p:cNvPr id="10" name="Shape 8"/>
          <p:cNvSpPr/>
          <p:nvPr/>
        </p:nvSpPr>
        <p:spPr>
          <a:xfrm>
            <a:off x="640080" y="3355848"/>
            <a:ext cx="146304" cy="146304"/>
          </a:xfrm>
          <a:prstGeom prst="ellipse">
            <a:avLst/>
          </a:prstGeom>
          <a:solidFill>
            <a:srgbClr val="1F8B5F"/>
          </a:solidFill>
          <a:ln w="12700">
            <a:solidFill>
              <a:srgbClr val="1F8B5F"/>
            </a:solidFill>
            <a:prstDash val="solid"/>
          </a:ln>
        </p:spPr>
      </p:sp>
      <p:sp>
        <p:nvSpPr>
          <p:cNvPr id="11" name="Text 9"/>
          <p:cNvSpPr txBox="1"/>
          <p:nvPr/>
        </p:nvSpPr>
        <p:spPr>
          <a:xfrm>
            <a:off x="960120" y="3246120"/>
            <a:ext cx="329184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One deadline question</a:t>
            </a:r>
            <a:endParaRPr lang="en-US" sz="1600" dirty="0"/>
          </a:p>
        </p:txBody>
      </p:sp>
      <p:sp>
        <p:nvSpPr>
          <p:cNvPr id="12" name="Text 10"/>
          <p:cNvSpPr txBox="1"/>
          <p:nvPr/>
        </p:nvSpPr>
        <p:spPr>
          <a:xfrm>
            <a:off x="4389120" y="3246120"/>
            <a:ext cx="7132320" cy="731520"/>
          </a:xfrm>
          <a:prstGeom prst="rect">
            <a:avLst/>
          </a:prstGeom>
          <a:noFill/>
          <a:ln/>
        </p:spPr>
        <p:txBody>
          <a:bodyPr wrap="square" lIns="0" tIns="0" rIns="0" bIns="0" rtlCol="0" anchor="ctr"/>
          <a:lstStyle/>
          <a:p>
            <a:pPr indent="0" marL="0">
              <a:lnSpc>
                <a:spcPct val="110000"/>
              </a:lnSpc>
              <a:buNone/>
            </a:pPr>
            <a:r>
              <a:rPr lang="en-US" sz="1400" dirty="0">
                <a:solidFill>
                  <a:srgbClr val="B9C7BF"/>
                </a:solidFill>
                <a:latin typeface="Calibri" pitchFamily="34" charset="0"/>
                <a:ea typeface="Calibri" pitchFamily="34" charset="-122"/>
                <a:cs typeface="Calibri" pitchFamily="34" charset="-120"/>
              </a:rPr>
              <a:t>Whether an early paper was ever posted publicly. That sets how long is left to file patents in some countries.</a:t>
            </a:r>
            <a:endParaRPr lang="en-US" sz="1400" dirty="0"/>
          </a:p>
        </p:txBody>
      </p:sp>
      <p:sp>
        <p:nvSpPr>
          <p:cNvPr id="13" name="Text 11"/>
          <p:cNvSpPr txBox="1"/>
          <p:nvPr/>
        </p:nvSpPr>
        <p:spPr>
          <a:xfrm>
            <a:off x="640080" y="4434840"/>
            <a:ext cx="10881360" cy="914400"/>
          </a:xfrm>
          <a:prstGeom prst="rect">
            <a:avLst/>
          </a:prstGeom>
          <a:noFill/>
          <a:ln/>
        </p:spPr>
        <p:txBody>
          <a:bodyPr wrap="square" lIns="0" tIns="0" rIns="0" bIns="0" rtlCol="0" anchor="ctr"/>
          <a:lstStyle/>
          <a:p>
            <a:pPr indent="0" marL="0">
              <a:lnSpc>
                <a:spcPct val="115000"/>
              </a:lnSpc>
              <a:buNone/>
            </a:pPr>
            <a:r>
              <a:rPr lang="en-US" sz="1400" i="1" dirty="0">
                <a:solidFill>
                  <a:srgbClr val="FFFFFF"/>
                </a:solidFill>
                <a:latin typeface="Calibri" pitchFamily="34" charset="0"/>
                <a:ea typeface="Calibri" pitchFamily="34" charset="-122"/>
                <a:cs typeface="Calibri" pitchFamily="34" charset="-120"/>
              </a:rPr>
              <a:t>And the part nobody likes saying out loud: most research companies at this stage never reach that ceiling. The whole point of being careful is that if it fails, it fails cheaply and early, on a $3,000 test instead of a $3,000,000 one.</a:t>
            </a:r>
            <a:endParaRPr lang="en-US" sz="1400" dirty="0"/>
          </a:p>
        </p:txBody>
      </p:sp>
      <p:sp>
        <p:nvSpPr>
          <p:cNvPr id="14" name="Text 12"/>
          <p:cNvSpPr txBox="1"/>
          <p:nvPr/>
        </p:nvSpPr>
        <p:spPr>
          <a:xfrm>
            <a:off x="640080" y="5577840"/>
            <a:ext cx="10881360" cy="822960"/>
          </a:xfrm>
          <a:prstGeom prst="rect">
            <a:avLst/>
          </a:prstGeom>
          <a:noFill/>
          <a:ln/>
        </p:spPr>
        <p:txBody>
          <a:bodyPr wrap="square" lIns="0" tIns="0" rIns="0" bIns="0" rtlCol="0" anchor="ctr"/>
          <a:lstStyle/>
          <a:p>
            <a:pPr indent="0" marL="0">
              <a:lnSpc>
                <a:spcPct val="112000"/>
              </a:lnSpc>
              <a:buNone/>
            </a:pPr>
            <a:r>
              <a:rPr lang="en-US" sz="1500" dirty="0">
                <a:solidFill>
                  <a:srgbClr val="1F8B5F"/>
                </a:solidFill>
                <a:latin typeface="Cambria" pitchFamily="34" charset="0"/>
                <a:ea typeface="Cambria" pitchFamily="34" charset="-122"/>
                <a:cs typeface="Cambria" pitchFamily="34" charset="-120"/>
              </a:rPr>
              <a:t>She is trying to store a file inside something alive, because living things copy and repair themselves and our machines do not. The one test that decides whether it is real has not been run yet.</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Acheron, in plain language</dc:title>
  <dc:subject>PptxGenJS Presentation</dc:subject>
  <dc:creator>Acheron</dc:creator>
  <cp:lastModifiedBy>Acheron</cp:lastModifiedBy>
  <cp:revision>1</cp:revision>
  <dcterms:created xsi:type="dcterms:W3CDTF">2026-09-21T05:46:15Z</dcterms:created>
  <dcterms:modified xsi:type="dcterms:W3CDTF">2026-09-21T05:46:15Z</dcterms:modified>
</cp:coreProperties>
</file>