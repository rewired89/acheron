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deck is a plain-language explainer, not an investor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slide. If the reader only sees one page, this is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Sentences 1 to 3 of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Sentences 4 to 6 of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Sentences 7 to 9 of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and its readout. Colour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Regrowth from survivors. The dots are illustrative, not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simulations/bsubtilis_07_colony_regrowth.py and bsubtilis_13_reporter_colony_regrowth.py, re-run 21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Organism-agnostic framing, per the founder's own statement of the goal, 21 September 2026. Levin detail per docs/SCIENTIFIC_AUDIT_2026.md Parts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application areas. No customer relationship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NSF SBIR figures from seedfund.nsf.gov. BioCompute total from Inc42. Catalog Series B from its own 2021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18"/>
        </a:solidFill>
      </p:bgPr>
    </p:bg>
    <p:spTree>
      <p:nvGrpSpPr>
        <p:cNvPr id="1" name=""/>
        <p:cNvGrpSpPr/>
        <p:nvPr/>
      </p:nvGrpSpPr>
      <p:grpSpPr>
        <a:xfrm>
          <a:off x="0" y="0"/>
          <a:ext cx="0" cy="0"/>
          <a:chOff x="0" y="0"/>
          <a:chExt cx="0" cy="0"/>
        </a:xfrm>
      </p:grpSpPr>
      <p:sp>
        <p:nvSpPr>
          <p:cNvPr id="2" name="Text 0"/>
          <p:cNvSpPr txBox="1"/>
          <p:nvPr/>
        </p:nvSpPr>
        <p:spPr>
          <a:xfrm>
            <a:off x="640080" y="2057400"/>
            <a:ext cx="8778240" cy="13716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Data that heals itself</a:t>
            </a:r>
            <a:endParaRPr lang="en-US" sz="5000" dirty="0"/>
          </a:p>
        </p:txBody>
      </p:sp>
      <p:sp>
        <p:nvSpPr>
          <p:cNvPr id="3" name="Text 1"/>
          <p:cNvSpPr txBox="1"/>
          <p:nvPr/>
        </p:nvSpPr>
        <p:spPr>
          <a:xfrm>
            <a:off x="640080" y="3474720"/>
            <a:ext cx="8778240" cy="457200"/>
          </a:xfrm>
          <a:prstGeom prst="rect">
            <a:avLst/>
          </a:prstGeom>
          <a:noFill/>
          <a:ln/>
        </p:spPr>
        <p:txBody>
          <a:bodyPr wrap="square" lIns="0" tIns="0" rIns="0" bIns="0" rtlCol="0" anchor="ctr"/>
          <a:lstStyle/>
          <a:p>
            <a:pPr indent="0" marL="0">
              <a:buNone/>
            </a:pPr>
            <a:r>
              <a:rPr lang="en-US" sz="1900" dirty="0">
                <a:solidFill>
                  <a:srgbClr val="1F8B5F"/>
                </a:solidFill>
                <a:latin typeface="Calibri" pitchFamily="34" charset="0"/>
                <a:ea typeface="Calibri" pitchFamily="34" charset="-122"/>
                <a:cs typeface="Calibri" pitchFamily="34" charset="-120"/>
              </a:rPr>
              <a:t>Acheron, the whole idea in four steps</a:t>
            </a:r>
            <a:endParaRPr lang="en-US" sz="1900" dirty="0"/>
          </a:p>
        </p:txBody>
      </p:sp>
      <p:sp>
        <p:nvSpPr>
          <p:cNvPr id="4" name="Text 2"/>
          <p:cNvSpPr txBox="1"/>
          <p:nvPr/>
        </p:nvSpPr>
        <p:spPr>
          <a:xfrm>
            <a:off x="640080" y="4069080"/>
            <a:ext cx="7863840" cy="822960"/>
          </a:xfrm>
          <a:prstGeom prst="rect">
            <a:avLst/>
          </a:prstGeom>
          <a:noFill/>
          <a:ln/>
        </p:spPr>
        <p:txBody>
          <a:bodyPr wrap="square" lIns="0" tIns="0" rIns="0" bIns="0" rtlCol="0" anchor="ctr"/>
          <a:lstStyle/>
          <a:p>
            <a:pPr indent="0" marL="0">
              <a:lnSpc>
                <a:spcPct val="115000"/>
              </a:lnSpc>
              <a:buNone/>
            </a:pPr>
            <a:r>
              <a:rPr lang="en-US" sz="1350" dirty="0">
                <a:solidFill>
                  <a:srgbClr val="B9C7BF"/>
                </a:solidFill>
                <a:latin typeface="Calibri" pitchFamily="34" charset="0"/>
                <a:ea typeface="Calibri" pitchFamily="34" charset="-122"/>
                <a:cs typeface="Calibri" pitchFamily="34" charset="-120"/>
              </a:rPr>
              <a:t>Written for Jacqueline. Nothing here needs a science background. If you only read the next slide, you already know enough to talk about it.</a:t>
            </a:r>
            <a:endParaRPr lang="en-US" sz="1350" dirty="0"/>
          </a:p>
        </p:txBody>
      </p:sp>
      <p:sp>
        <p:nvSpPr>
          <p:cNvPr id="5" name="Shape 3"/>
          <p:cNvSpPr/>
          <p:nvPr/>
        </p:nvSpPr>
        <p:spPr>
          <a:xfrm>
            <a:off x="10149840" y="2331720"/>
            <a:ext cx="329184" cy="329184"/>
          </a:xfrm>
          <a:prstGeom prst="ellipse">
            <a:avLst/>
          </a:prstGeom>
          <a:solidFill>
            <a:srgbClr val="1F8B5F"/>
          </a:solidFill>
          <a:ln w="12700">
            <a:solidFill>
              <a:srgbClr val="1F8B5F"/>
            </a:solidFill>
            <a:prstDash val="solid"/>
          </a:ln>
        </p:spPr>
      </p:sp>
      <p:sp>
        <p:nvSpPr>
          <p:cNvPr id="6" name="Shape 4"/>
          <p:cNvSpPr/>
          <p:nvPr/>
        </p:nvSpPr>
        <p:spPr>
          <a:xfrm>
            <a:off x="10625328" y="2331720"/>
            <a:ext cx="329184" cy="329184"/>
          </a:xfrm>
          <a:prstGeom prst="ellipse">
            <a:avLst/>
          </a:prstGeom>
          <a:solidFill>
            <a:srgbClr val="1F8B5F"/>
          </a:solidFill>
          <a:ln w="12700">
            <a:solidFill>
              <a:srgbClr val="1F8B5F"/>
            </a:solidFill>
            <a:prstDash val="solid"/>
          </a:ln>
        </p:spPr>
      </p:sp>
      <p:sp>
        <p:nvSpPr>
          <p:cNvPr id="7" name="Shape 5"/>
          <p:cNvSpPr/>
          <p:nvPr/>
        </p:nvSpPr>
        <p:spPr>
          <a:xfrm>
            <a:off x="11100816" y="2331720"/>
            <a:ext cx="329184" cy="329184"/>
          </a:xfrm>
          <a:prstGeom prst="ellipse">
            <a:avLst/>
          </a:prstGeom>
          <a:solidFill>
            <a:srgbClr val="C8453C"/>
          </a:solidFill>
          <a:ln w="12700">
            <a:solidFill>
              <a:srgbClr val="C8453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Acheron is one idea, in four steps</a:t>
            </a:r>
            <a:endParaRPr lang="en-US" sz="2300" dirty="0"/>
          </a:p>
        </p:txBody>
      </p:sp>
      <p:sp>
        <p:nvSpPr>
          <p:cNvPr id="4" name="Shape 2"/>
          <p:cNvSpPr/>
          <p:nvPr/>
        </p:nvSpPr>
        <p:spPr>
          <a:xfrm>
            <a:off x="640080" y="1243584"/>
            <a:ext cx="475488" cy="475488"/>
          </a:xfrm>
          <a:prstGeom prst="ellipse">
            <a:avLst/>
          </a:prstGeom>
          <a:solidFill>
            <a:srgbClr val="1F8B5F"/>
          </a:solidFill>
          <a:ln w="12700">
            <a:solidFill>
              <a:srgbClr val="1F8B5F"/>
            </a:solidFill>
            <a:prstDash val="solid"/>
          </a:ln>
        </p:spPr>
      </p:sp>
      <p:sp>
        <p:nvSpPr>
          <p:cNvPr id="5" name="Text 3"/>
          <p:cNvSpPr txBox="1"/>
          <p:nvPr/>
        </p:nvSpPr>
        <p:spPr>
          <a:xfrm>
            <a:off x="640080" y="1243584"/>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371600" y="1207008"/>
            <a:ext cx="1463040" cy="274320"/>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WRITE</a:t>
            </a:r>
            <a:endParaRPr lang="en-US" sz="1050" dirty="0"/>
          </a:p>
        </p:txBody>
      </p:sp>
      <p:sp>
        <p:nvSpPr>
          <p:cNvPr id="7" name="Text 5"/>
          <p:cNvSpPr txBox="1"/>
          <p:nvPr/>
        </p:nvSpPr>
        <p:spPr>
          <a:xfrm>
            <a:off x="1371600" y="1463040"/>
            <a:ext cx="5577840" cy="384048"/>
          </a:xfrm>
          <a:prstGeom prst="rect">
            <a:avLst/>
          </a:prstGeom>
          <a:noFill/>
          <a:ln/>
        </p:spPr>
        <p:txBody>
          <a:bodyPr wrap="square" lIns="0" tIns="0" rIns="0" bIns="0" rtlCol="0" anchor="ctr"/>
          <a:lstStyle/>
          <a:p>
            <a:pPr indent="0" marL="0">
              <a:buNone/>
            </a:pPr>
            <a:r>
              <a:rPr lang="en-US" sz="1900" b="1" dirty="0">
                <a:solidFill>
                  <a:srgbClr val="132018"/>
                </a:solidFill>
                <a:latin typeface="Cambria" pitchFamily="34" charset="0"/>
                <a:ea typeface="Cambria" pitchFamily="34" charset="-122"/>
                <a:cs typeface="Cambria" pitchFamily="34" charset="-120"/>
              </a:rPr>
              <a:t>You write data into a living thing.</a:t>
            </a:r>
            <a:endParaRPr lang="en-US" sz="1900" dirty="0"/>
          </a:p>
        </p:txBody>
      </p:sp>
      <p:sp>
        <p:nvSpPr>
          <p:cNvPr id="8" name="Text 6"/>
          <p:cNvSpPr txBox="1"/>
          <p:nvPr/>
        </p:nvSpPr>
        <p:spPr>
          <a:xfrm>
            <a:off x="7132320" y="1261872"/>
            <a:ext cx="4389120" cy="685800"/>
          </a:xfrm>
          <a:prstGeom prst="rect">
            <a:avLst/>
          </a:prstGeom>
          <a:noFill/>
          <a:ln/>
        </p:spPr>
        <p:txBody>
          <a:bodyPr wrap="square" lIns="0" tIns="0" rIns="0" bIns="0" rtlCol="0" anchor="ctr"/>
          <a:lstStyle/>
          <a:p>
            <a:pPr indent="0" marL="0">
              <a:lnSpc>
                <a:spcPct val="110000"/>
              </a:lnSpc>
              <a:buNone/>
            </a:pPr>
            <a:r>
              <a:rPr lang="en-US" sz="1300" dirty="0">
                <a:solidFill>
                  <a:srgbClr val="5F6F66"/>
                </a:solidFill>
                <a:latin typeface="Calibri" pitchFamily="34" charset="0"/>
                <a:ea typeface="Calibri" pitchFamily="34" charset="-122"/>
                <a:cs typeface="Calibri" pitchFamily="34" charset="-120"/>
              </a:rPr>
              <a:t>A tiny switch inside each cell. Flipped one way it is a 0, the other way a 1.</a:t>
            </a:r>
            <a:endParaRPr lang="en-US" sz="1300" dirty="0"/>
          </a:p>
        </p:txBody>
      </p:sp>
      <p:sp>
        <p:nvSpPr>
          <p:cNvPr id="9" name="Shape 7"/>
          <p:cNvSpPr/>
          <p:nvPr/>
        </p:nvSpPr>
        <p:spPr>
          <a:xfrm>
            <a:off x="640080" y="2267712"/>
            <a:ext cx="475488" cy="475488"/>
          </a:xfrm>
          <a:prstGeom prst="ellipse">
            <a:avLst/>
          </a:prstGeom>
          <a:solidFill>
            <a:srgbClr val="1F8B5F"/>
          </a:solidFill>
          <a:ln w="12700">
            <a:solidFill>
              <a:srgbClr val="1F8B5F"/>
            </a:solidFill>
            <a:prstDash val="solid"/>
          </a:ln>
        </p:spPr>
      </p:sp>
      <p:sp>
        <p:nvSpPr>
          <p:cNvPr id="10" name="Text 8"/>
          <p:cNvSpPr txBox="1"/>
          <p:nvPr/>
        </p:nvSpPr>
        <p:spPr>
          <a:xfrm>
            <a:off x="640080" y="226771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371600" y="2231136"/>
            <a:ext cx="1463040" cy="274320"/>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DAMAGE</a:t>
            </a:r>
            <a:endParaRPr lang="en-US" sz="1050" dirty="0"/>
          </a:p>
        </p:txBody>
      </p:sp>
      <p:sp>
        <p:nvSpPr>
          <p:cNvPr id="12" name="Text 10"/>
          <p:cNvSpPr txBox="1"/>
          <p:nvPr/>
        </p:nvSpPr>
        <p:spPr>
          <a:xfrm>
            <a:off x="1371600" y="2487168"/>
            <a:ext cx="5577840" cy="384048"/>
          </a:xfrm>
          <a:prstGeom prst="rect">
            <a:avLst/>
          </a:prstGeom>
          <a:noFill/>
          <a:ln/>
        </p:spPr>
        <p:txBody>
          <a:bodyPr wrap="square" lIns="0" tIns="0" rIns="0" bIns="0" rtlCol="0" anchor="ctr"/>
          <a:lstStyle/>
          <a:p>
            <a:pPr indent="0" marL="0">
              <a:buNone/>
            </a:pPr>
            <a:r>
              <a:rPr lang="en-US" sz="1900" b="1" dirty="0">
                <a:solidFill>
                  <a:srgbClr val="132018"/>
                </a:solidFill>
                <a:latin typeface="Cambria" pitchFamily="34" charset="0"/>
                <a:ea typeface="Cambria" pitchFamily="34" charset="-122"/>
                <a:cs typeface="Cambria" pitchFamily="34" charset="-120"/>
              </a:rPr>
              <a:t>Something damages it.</a:t>
            </a:r>
            <a:endParaRPr lang="en-US" sz="1900" dirty="0"/>
          </a:p>
        </p:txBody>
      </p:sp>
      <p:sp>
        <p:nvSpPr>
          <p:cNvPr id="13" name="Text 11"/>
          <p:cNvSpPr txBox="1"/>
          <p:nvPr/>
        </p:nvSpPr>
        <p:spPr>
          <a:xfrm>
            <a:off x="7132320" y="2286000"/>
            <a:ext cx="4389120" cy="685800"/>
          </a:xfrm>
          <a:prstGeom prst="rect">
            <a:avLst/>
          </a:prstGeom>
          <a:noFill/>
          <a:ln/>
        </p:spPr>
        <p:txBody>
          <a:bodyPr wrap="square" lIns="0" tIns="0" rIns="0" bIns="0" rtlCol="0" anchor="ctr"/>
          <a:lstStyle/>
          <a:p>
            <a:pPr indent="0" marL="0">
              <a:lnSpc>
                <a:spcPct val="110000"/>
              </a:lnSpc>
              <a:buNone/>
            </a:pPr>
            <a:r>
              <a:rPr lang="en-US" sz="1300" dirty="0">
                <a:solidFill>
                  <a:srgbClr val="5F6F66"/>
                </a:solidFill>
                <a:latin typeface="Calibri" pitchFamily="34" charset="0"/>
                <a:ea typeface="Calibri" pitchFamily="34" charset="-122"/>
                <a:cs typeface="Calibri" pitchFamily="34" charset="-120"/>
              </a:rPr>
              <a:t>Cut it, dry it out, blast it with radiation. Most of it dies.</a:t>
            </a:r>
            <a:endParaRPr lang="en-US" sz="1300" dirty="0"/>
          </a:p>
        </p:txBody>
      </p:sp>
      <p:sp>
        <p:nvSpPr>
          <p:cNvPr id="14" name="Shape 12"/>
          <p:cNvSpPr/>
          <p:nvPr/>
        </p:nvSpPr>
        <p:spPr>
          <a:xfrm>
            <a:off x="640080" y="3291840"/>
            <a:ext cx="475488" cy="475488"/>
          </a:xfrm>
          <a:prstGeom prst="ellipse">
            <a:avLst/>
          </a:prstGeom>
          <a:solidFill>
            <a:srgbClr val="1F8B5F"/>
          </a:solidFill>
          <a:ln w="12700">
            <a:solidFill>
              <a:srgbClr val="1F8B5F"/>
            </a:solidFill>
            <a:prstDash val="solid"/>
          </a:ln>
        </p:spPr>
      </p:sp>
      <p:sp>
        <p:nvSpPr>
          <p:cNvPr id="15" name="Text 13"/>
          <p:cNvSpPr txBox="1"/>
          <p:nvPr/>
        </p:nvSpPr>
        <p:spPr>
          <a:xfrm>
            <a:off x="640080" y="329184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1371600" y="3255264"/>
            <a:ext cx="1463040" cy="274320"/>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NOTICE</a:t>
            </a:r>
            <a:endParaRPr lang="en-US" sz="1050" dirty="0"/>
          </a:p>
        </p:txBody>
      </p:sp>
      <p:sp>
        <p:nvSpPr>
          <p:cNvPr id="17" name="Text 15"/>
          <p:cNvSpPr txBox="1"/>
          <p:nvPr/>
        </p:nvSpPr>
        <p:spPr>
          <a:xfrm>
            <a:off x="1371600" y="3511296"/>
            <a:ext cx="5577840" cy="384048"/>
          </a:xfrm>
          <a:prstGeom prst="rect">
            <a:avLst/>
          </a:prstGeom>
          <a:noFill/>
          <a:ln/>
        </p:spPr>
        <p:txBody>
          <a:bodyPr wrap="square" lIns="0" tIns="0" rIns="0" bIns="0" rtlCol="0" anchor="ctr"/>
          <a:lstStyle/>
          <a:p>
            <a:pPr indent="0" marL="0">
              <a:buNone/>
            </a:pPr>
            <a:r>
              <a:rPr lang="en-US" sz="1900" b="1" dirty="0">
                <a:solidFill>
                  <a:srgbClr val="132018"/>
                </a:solidFill>
                <a:latin typeface="Cambria" pitchFamily="34" charset="0"/>
                <a:ea typeface="Cambria" pitchFamily="34" charset="-122"/>
                <a:cs typeface="Cambria" pitchFamily="34" charset="-120"/>
              </a:rPr>
              <a:t>It notices the damage by itself.</a:t>
            </a:r>
            <a:endParaRPr lang="en-US" sz="1900" dirty="0"/>
          </a:p>
        </p:txBody>
      </p:sp>
      <p:sp>
        <p:nvSpPr>
          <p:cNvPr id="18" name="Text 16"/>
          <p:cNvSpPr txBox="1"/>
          <p:nvPr/>
        </p:nvSpPr>
        <p:spPr>
          <a:xfrm>
            <a:off x="7132320" y="3310128"/>
            <a:ext cx="4389120" cy="685800"/>
          </a:xfrm>
          <a:prstGeom prst="rect">
            <a:avLst/>
          </a:prstGeom>
          <a:noFill/>
          <a:ln/>
        </p:spPr>
        <p:txBody>
          <a:bodyPr wrap="square" lIns="0" tIns="0" rIns="0" bIns="0" rtlCol="0" anchor="ctr"/>
          <a:lstStyle/>
          <a:p>
            <a:pPr indent="0" marL="0">
              <a:lnSpc>
                <a:spcPct val="110000"/>
              </a:lnSpc>
              <a:buNone/>
            </a:pPr>
            <a:r>
              <a:rPr lang="en-US" sz="1300" dirty="0">
                <a:solidFill>
                  <a:srgbClr val="5F6F66"/>
                </a:solidFill>
                <a:latin typeface="Calibri" pitchFamily="34" charset="0"/>
                <a:ea typeface="Calibri" pitchFamily="34" charset="-122"/>
                <a:cs typeface="Calibri" pitchFamily="34" charset="-120"/>
              </a:rPr>
              <a:t>No machine watching it, nobody pressing a button. The organism senses the injury.</a:t>
            </a:r>
            <a:endParaRPr lang="en-US" sz="1300" dirty="0"/>
          </a:p>
        </p:txBody>
      </p:sp>
      <p:sp>
        <p:nvSpPr>
          <p:cNvPr id="19" name="Shape 17"/>
          <p:cNvSpPr/>
          <p:nvPr/>
        </p:nvSpPr>
        <p:spPr>
          <a:xfrm>
            <a:off x="640080" y="4315968"/>
            <a:ext cx="475488" cy="475488"/>
          </a:xfrm>
          <a:prstGeom prst="ellipse">
            <a:avLst/>
          </a:prstGeom>
          <a:solidFill>
            <a:srgbClr val="C8453C"/>
          </a:solidFill>
          <a:ln w="12700">
            <a:solidFill>
              <a:srgbClr val="C8453C"/>
            </a:solidFill>
            <a:prstDash val="solid"/>
          </a:ln>
        </p:spPr>
      </p:sp>
      <p:sp>
        <p:nvSpPr>
          <p:cNvPr id="20" name="Text 18"/>
          <p:cNvSpPr txBox="1"/>
          <p:nvPr/>
        </p:nvSpPr>
        <p:spPr>
          <a:xfrm>
            <a:off x="640080" y="431596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1371600" y="4279392"/>
            <a:ext cx="1463040" cy="274320"/>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REGROW</a:t>
            </a:r>
            <a:endParaRPr lang="en-US" sz="1050" dirty="0"/>
          </a:p>
        </p:txBody>
      </p:sp>
      <p:sp>
        <p:nvSpPr>
          <p:cNvPr id="22" name="Text 20"/>
          <p:cNvSpPr txBox="1"/>
          <p:nvPr/>
        </p:nvSpPr>
        <p:spPr>
          <a:xfrm>
            <a:off x="1371600" y="4535424"/>
            <a:ext cx="5577840" cy="384048"/>
          </a:xfrm>
          <a:prstGeom prst="rect">
            <a:avLst/>
          </a:prstGeom>
          <a:noFill/>
          <a:ln/>
        </p:spPr>
        <p:txBody>
          <a:bodyPr wrap="square" lIns="0" tIns="0" rIns="0" bIns="0" rtlCol="0" anchor="ctr"/>
          <a:lstStyle/>
          <a:p>
            <a:pPr indent="0" marL="0">
              <a:buNone/>
            </a:pPr>
            <a:r>
              <a:rPr lang="en-US" sz="1900" b="1" dirty="0">
                <a:solidFill>
                  <a:srgbClr val="132018"/>
                </a:solidFill>
                <a:latin typeface="Cambria" pitchFamily="34" charset="0"/>
                <a:ea typeface="Cambria" pitchFamily="34" charset="-122"/>
                <a:cs typeface="Cambria" pitchFamily="34" charset="-120"/>
              </a:rPr>
              <a:t>It regrows, and hands the data to the new cells.</a:t>
            </a:r>
            <a:endParaRPr lang="en-US" sz="1900" dirty="0"/>
          </a:p>
        </p:txBody>
      </p:sp>
      <p:sp>
        <p:nvSpPr>
          <p:cNvPr id="23" name="Text 21"/>
          <p:cNvSpPr txBox="1"/>
          <p:nvPr/>
        </p:nvSpPr>
        <p:spPr>
          <a:xfrm>
            <a:off x="7132320" y="4334256"/>
            <a:ext cx="4389120" cy="685800"/>
          </a:xfrm>
          <a:prstGeom prst="rect">
            <a:avLst/>
          </a:prstGeom>
          <a:noFill/>
          <a:ln/>
        </p:spPr>
        <p:txBody>
          <a:bodyPr wrap="square" lIns="0" tIns="0" rIns="0" bIns="0" rtlCol="0" anchor="ctr"/>
          <a:lstStyle/>
          <a:p>
            <a:pPr indent="0" marL="0">
              <a:lnSpc>
                <a:spcPct val="110000"/>
              </a:lnSpc>
              <a:buNone/>
            </a:pPr>
            <a:r>
              <a:rPr lang="en-US" sz="1300" dirty="0">
                <a:solidFill>
                  <a:srgbClr val="5F6F66"/>
                </a:solidFill>
                <a:latin typeface="Calibri" pitchFamily="34" charset="0"/>
                <a:ea typeface="Calibri" pitchFamily="34" charset="-122"/>
                <a:cs typeface="Calibri" pitchFamily="34" charset="-120"/>
              </a:rPr>
              <a:t>The survivors rebuild the whole thing, and the data is still there. Nothing is lost.</a:t>
            </a:r>
            <a:endParaRPr lang="en-US" sz="1300" dirty="0"/>
          </a:p>
        </p:txBody>
      </p:sp>
      <p:sp>
        <p:nvSpPr>
          <p:cNvPr id="24" name="Shape 22"/>
          <p:cNvSpPr/>
          <p:nvPr/>
        </p:nvSpPr>
        <p:spPr>
          <a:xfrm>
            <a:off x="640080" y="5440680"/>
            <a:ext cx="10881360" cy="868680"/>
          </a:xfrm>
          <a:prstGeom prst="roundRect">
            <a:avLst>
              <a:gd name="adj" fmla="val 10526"/>
            </a:avLst>
          </a:prstGeom>
          <a:solidFill>
            <a:srgbClr val="132018"/>
          </a:solidFill>
          <a:ln w="12700">
            <a:solidFill>
              <a:srgbClr val="132018"/>
            </a:solidFill>
            <a:prstDash val="solid"/>
          </a:ln>
        </p:spPr>
      </p:sp>
      <p:sp>
        <p:nvSpPr>
          <p:cNvPr id="25" name="Text 23"/>
          <p:cNvSpPr txBox="1"/>
          <p:nvPr/>
        </p:nvSpPr>
        <p:spPr>
          <a:xfrm>
            <a:off x="960120" y="5577840"/>
            <a:ext cx="10241280" cy="5943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That is Acheron. A file that repairs itself, because the thing holding it is alive.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The same thing in nine sentences</a:t>
            </a:r>
            <a:endParaRPr lang="en-US" sz="2300" dirty="0"/>
          </a:p>
        </p:txBody>
      </p:sp>
      <p:sp>
        <p:nvSpPr>
          <p:cNvPr id="4" name="Shape 2"/>
          <p:cNvSpPr/>
          <p:nvPr/>
        </p:nvSpPr>
        <p:spPr>
          <a:xfrm>
            <a:off x="640080" y="1271016"/>
            <a:ext cx="402336" cy="402336"/>
          </a:xfrm>
          <a:prstGeom prst="ellipse">
            <a:avLst/>
          </a:prstGeom>
          <a:solidFill>
            <a:srgbClr val="1F8B5F"/>
          </a:solidFill>
          <a:ln w="12700">
            <a:solidFill>
              <a:srgbClr val="1F8B5F"/>
            </a:solidFill>
            <a:prstDash val="solid"/>
          </a:ln>
        </p:spPr>
      </p:sp>
      <p:sp>
        <p:nvSpPr>
          <p:cNvPr id="5" name="Text 3"/>
          <p:cNvSpPr txBox="1"/>
          <p:nvPr/>
        </p:nvSpPr>
        <p:spPr>
          <a:xfrm>
            <a:off x="640080" y="127101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6" name="Text 4"/>
          <p:cNvSpPr txBox="1"/>
          <p:nvPr/>
        </p:nvSpPr>
        <p:spPr>
          <a:xfrm>
            <a:off x="1261872" y="123444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THE IDEA</a:t>
            </a:r>
            <a:endParaRPr lang="en-US" sz="1050" dirty="0"/>
          </a:p>
        </p:txBody>
      </p:sp>
      <p:sp>
        <p:nvSpPr>
          <p:cNvPr id="7" name="Text 5"/>
          <p:cNvSpPr txBox="1"/>
          <p:nvPr/>
        </p:nvSpPr>
        <p:spPr>
          <a:xfrm>
            <a:off x="1261872" y="1472184"/>
            <a:ext cx="10259568" cy="113385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Acheron is one hypothesis: write data into a living thing, and when it gets hurt, it heals and keeps the data.</a:t>
            </a:r>
            <a:endParaRPr lang="en-US" sz="1600" dirty="0"/>
          </a:p>
        </p:txBody>
      </p:sp>
      <p:sp>
        <p:nvSpPr>
          <p:cNvPr id="8" name="Shape 6"/>
          <p:cNvSpPr/>
          <p:nvPr/>
        </p:nvSpPr>
        <p:spPr>
          <a:xfrm>
            <a:off x="640080" y="2825496"/>
            <a:ext cx="402336" cy="402336"/>
          </a:xfrm>
          <a:prstGeom prst="ellipse">
            <a:avLst/>
          </a:prstGeom>
          <a:solidFill>
            <a:srgbClr val="1F8B5F"/>
          </a:solidFill>
          <a:ln w="12700">
            <a:solidFill>
              <a:srgbClr val="1F8B5F"/>
            </a:solidFill>
            <a:prstDash val="solid"/>
          </a:ln>
        </p:spPr>
      </p:sp>
      <p:sp>
        <p:nvSpPr>
          <p:cNvPr id="9" name="Text 7"/>
          <p:cNvSpPr txBox="1"/>
          <p:nvPr/>
        </p:nvSpPr>
        <p:spPr>
          <a:xfrm>
            <a:off x="640080" y="282549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0" name="Text 8"/>
          <p:cNvSpPr txBox="1"/>
          <p:nvPr/>
        </p:nvSpPr>
        <p:spPr>
          <a:xfrm>
            <a:off x="1261872" y="278892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WRITING</a:t>
            </a:r>
            <a:endParaRPr lang="en-US" sz="1050" dirty="0"/>
          </a:p>
        </p:txBody>
      </p:sp>
      <p:sp>
        <p:nvSpPr>
          <p:cNvPr id="11" name="Text 9"/>
          <p:cNvSpPr txBox="1"/>
          <p:nvPr/>
        </p:nvSpPr>
        <p:spPr>
          <a:xfrm>
            <a:off x="1261872" y="3026664"/>
            <a:ext cx="10259568" cy="113385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The data goes in as a tiny switch built out of genes, sitting inside every cell, one switch for each 0 or 1.</a:t>
            </a:r>
            <a:endParaRPr lang="en-US" sz="1600" dirty="0"/>
          </a:p>
        </p:txBody>
      </p:sp>
      <p:sp>
        <p:nvSpPr>
          <p:cNvPr id="12" name="Shape 10"/>
          <p:cNvSpPr/>
          <p:nvPr/>
        </p:nvSpPr>
        <p:spPr>
          <a:xfrm>
            <a:off x="640080" y="4379976"/>
            <a:ext cx="402336" cy="402336"/>
          </a:xfrm>
          <a:prstGeom prst="ellipse">
            <a:avLst/>
          </a:prstGeom>
          <a:solidFill>
            <a:srgbClr val="1F8B5F"/>
          </a:solidFill>
          <a:ln w="12700">
            <a:solidFill>
              <a:srgbClr val="1F8B5F"/>
            </a:solidFill>
            <a:prstDash val="solid"/>
          </a:ln>
        </p:spPr>
      </p:sp>
      <p:sp>
        <p:nvSpPr>
          <p:cNvPr id="13" name="Text 11"/>
          <p:cNvSpPr txBox="1"/>
          <p:nvPr/>
        </p:nvSpPr>
        <p:spPr>
          <a:xfrm>
            <a:off x="640080" y="437997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4" name="Text 12"/>
          <p:cNvSpPr txBox="1"/>
          <p:nvPr/>
        </p:nvSpPr>
        <p:spPr>
          <a:xfrm>
            <a:off x="1261872" y="434340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DAMAGE</a:t>
            </a:r>
            <a:endParaRPr lang="en-US" sz="1050" dirty="0"/>
          </a:p>
        </p:txBody>
      </p:sp>
      <p:sp>
        <p:nvSpPr>
          <p:cNvPr id="15" name="Text 13"/>
          <p:cNvSpPr txBox="1"/>
          <p:nvPr/>
        </p:nvSpPr>
        <p:spPr>
          <a:xfrm>
            <a:off x="1261872" y="4581144"/>
            <a:ext cx="10259568" cy="131673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Then something wrecks it and most of the cells die, which is the situation every other kind of storage simply does not survive.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How it survives, and in what</a:t>
            </a:r>
            <a:endParaRPr lang="en-US" sz="2300" dirty="0"/>
          </a:p>
        </p:txBody>
      </p:sp>
      <p:sp>
        <p:nvSpPr>
          <p:cNvPr id="4" name="Shape 2"/>
          <p:cNvSpPr/>
          <p:nvPr/>
        </p:nvSpPr>
        <p:spPr>
          <a:xfrm>
            <a:off x="640080" y="1271016"/>
            <a:ext cx="402336" cy="402336"/>
          </a:xfrm>
          <a:prstGeom prst="ellipse">
            <a:avLst/>
          </a:prstGeom>
          <a:solidFill>
            <a:srgbClr val="1F8B5F"/>
          </a:solidFill>
          <a:ln w="12700">
            <a:solidFill>
              <a:srgbClr val="1F8B5F"/>
            </a:solidFill>
            <a:prstDash val="solid"/>
          </a:ln>
        </p:spPr>
      </p:sp>
      <p:sp>
        <p:nvSpPr>
          <p:cNvPr id="5" name="Text 3"/>
          <p:cNvSpPr txBox="1"/>
          <p:nvPr/>
        </p:nvSpPr>
        <p:spPr>
          <a:xfrm>
            <a:off x="640080" y="127101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6" name="Text 4"/>
          <p:cNvSpPr txBox="1"/>
          <p:nvPr/>
        </p:nvSpPr>
        <p:spPr>
          <a:xfrm>
            <a:off x="1261872" y="123444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SELF-DETECTION</a:t>
            </a:r>
            <a:endParaRPr lang="en-US" sz="1050" dirty="0"/>
          </a:p>
        </p:txBody>
      </p:sp>
      <p:sp>
        <p:nvSpPr>
          <p:cNvPr id="7" name="Text 5"/>
          <p:cNvSpPr txBox="1"/>
          <p:nvPr/>
        </p:nvSpPr>
        <p:spPr>
          <a:xfrm>
            <a:off x="1261872" y="1472184"/>
            <a:ext cx="10259568" cy="113385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The organism notices the injury on its own, with no machine watching it and nobody pressing a button.</a:t>
            </a:r>
            <a:endParaRPr lang="en-US" sz="1600" dirty="0"/>
          </a:p>
        </p:txBody>
      </p:sp>
      <p:sp>
        <p:nvSpPr>
          <p:cNvPr id="8" name="Shape 6"/>
          <p:cNvSpPr/>
          <p:nvPr/>
        </p:nvSpPr>
        <p:spPr>
          <a:xfrm>
            <a:off x="640080" y="2825496"/>
            <a:ext cx="402336" cy="402336"/>
          </a:xfrm>
          <a:prstGeom prst="ellipse">
            <a:avLst/>
          </a:prstGeom>
          <a:solidFill>
            <a:srgbClr val="1F8B5F"/>
          </a:solidFill>
          <a:ln w="12700">
            <a:solidFill>
              <a:srgbClr val="1F8B5F"/>
            </a:solidFill>
            <a:prstDash val="solid"/>
          </a:ln>
        </p:spPr>
      </p:sp>
      <p:sp>
        <p:nvSpPr>
          <p:cNvPr id="9" name="Text 7"/>
          <p:cNvSpPr txBox="1"/>
          <p:nvPr/>
        </p:nvSpPr>
        <p:spPr>
          <a:xfrm>
            <a:off x="640080" y="282549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10" name="Text 8"/>
          <p:cNvSpPr txBox="1"/>
          <p:nvPr/>
        </p:nvSpPr>
        <p:spPr>
          <a:xfrm>
            <a:off x="1261872" y="278892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REGROWTH</a:t>
            </a:r>
            <a:endParaRPr lang="en-US" sz="1050" dirty="0"/>
          </a:p>
        </p:txBody>
      </p:sp>
      <p:sp>
        <p:nvSpPr>
          <p:cNvPr id="11" name="Text 9"/>
          <p:cNvSpPr txBox="1"/>
          <p:nvPr/>
        </p:nvSpPr>
        <p:spPr>
          <a:xfrm>
            <a:off x="1261872" y="3026664"/>
            <a:ext cx="10259568" cy="113385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It rebuilds itself from the survivors, and every new cell is handed the same switch position, so the data comes through intact.</a:t>
            </a:r>
            <a:endParaRPr lang="en-US" sz="1600" dirty="0"/>
          </a:p>
        </p:txBody>
      </p:sp>
      <p:sp>
        <p:nvSpPr>
          <p:cNvPr id="12" name="Shape 10"/>
          <p:cNvSpPr/>
          <p:nvPr/>
        </p:nvSpPr>
        <p:spPr>
          <a:xfrm>
            <a:off x="640080" y="4379976"/>
            <a:ext cx="402336" cy="402336"/>
          </a:xfrm>
          <a:prstGeom prst="ellipse">
            <a:avLst/>
          </a:prstGeom>
          <a:solidFill>
            <a:srgbClr val="1F8B5F"/>
          </a:solidFill>
          <a:ln w="12700">
            <a:solidFill>
              <a:srgbClr val="1F8B5F"/>
            </a:solidFill>
            <a:prstDash val="solid"/>
          </a:ln>
        </p:spPr>
      </p:sp>
      <p:sp>
        <p:nvSpPr>
          <p:cNvPr id="13" name="Text 11"/>
          <p:cNvSpPr txBox="1"/>
          <p:nvPr/>
        </p:nvSpPr>
        <p:spPr>
          <a:xfrm>
            <a:off x="640080" y="437997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14" name="Text 12"/>
          <p:cNvSpPr txBox="1"/>
          <p:nvPr/>
        </p:nvSpPr>
        <p:spPr>
          <a:xfrm>
            <a:off x="1261872" y="434340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WHICH CREATURE</a:t>
            </a:r>
            <a:endParaRPr lang="en-US" sz="1050" dirty="0"/>
          </a:p>
        </p:txBody>
      </p:sp>
      <p:sp>
        <p:nvSpPr>
          <p:cNvPr id="15" name="Text 13"/>
          <p:cNvSpPr txBox="1"/>
          <p:nvPr/>
        </p:nvSpPr>
        <p:spPr>
          <a:xfrm>
            <a:off x="1261872" y="4581144"/>
            <a:ext cx="10259568" cy="131673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The creature is interchangeable, and germs are being tested first only because they are cheap and fast, while flatworms came first because they already regrow a whole body from one piece.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What is proven, and where the money comes from</a:t>
            </a:r>
            <a:endParaRPr lang="en-US" sz="2300" dirty="0"/>
          </a:p>
        </p:txBody>
      </p:sp>
      <p:sp>
        <p:nvSpPr>
          <p:cNvPr id="4" name="Shape 2"/>
          <p:cNvSpPr/>
          <p:nvPr/>
        </p:nvSpPr>
        <p:spPr>
          <a:xfrm>
            <a:off x="640080" y="1271016"/>
            <a:ext cx="402336" cy="402336"/>
          </a:xfrm>
          <a:prstGeom prst="ellipse">
            <a:avLst/>
          </a:prstGeom>
          <a:solidFill>
            <a:srgbClr val="1F8B5F"/>
          </a:solidFill>
          <a:ln w="12700">
            <a:solidFill>
              <a:srgbClr val="1F8B5F"/>
            </a:solidFill>
            <a:prstDash val="solid"/>
          </a:ln>
        </p:spPr>
      </p:sp>
      <p:sp>
        <p:nvSpPr>
          <p:cNvPr id="5" name="Text 3"/>
          <p:cNvSpPr txBox="1"/>
          <p:nvPr/>
        </p:nvSpPr>
        <p:spPr>
          <a:xfrm>
            <a:off x="640080" y="127101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7</a:t>
            </a:r>
            <a:endParaRPr lang="en-US" sz="1700" dirty="0"/>
          </a:p>
        </p:txBody>
      </p:sp>
      <p:sp>
        <p:nvSpPr>
          <p:cNvPr id="6" name="Text 4"/>
          <p:cNvSpPr txBox="1"/>
          <p:nvPr/>
        </p:nvSpPr>
        <p:spPr>
          <a:xfrm>
            <a:off x="1261872" y="123444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PROVED IN SIMULATION</a:t>
            </a:r>
            <a:endParaRPr lang="en-US" sz="1050" dirty="0"/>
          </a:p>
        </p:txBody>
      </p:sp>
      <p:sp>
        <p:nvSpPr>
          <p:cNvPr id="7" name="Text 5"/>
          <p:cNvSpPr txBox="1"/>
          <p:nvPr/>
        </p:nvSpPr>
        <p:spPr>
          <a:xfrm>
            <a:off x="1261872" y="1472184"/>
            <a:ext cx="10259568" cy="113385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On the computer it works, with the data coming back perfectly from as few as 2 cells out of 100 surviving.</a:t>
            </a:r>
            <a:endParaRPr lang="en-US" sz="1600" dirty="0"/>
          </a:p>
        </p:txBody>
      </p:sp>
      <p:sp>
        <p:nvSpPr>
          <p:cNvPr id="8" name="Shape 6"/>
          <p:cNvSpPr/>
          <p:nvPr/>
        </p:nvSpPr>
        <p:spPr>
          <a:xfrm>
            <a:off x="640080" y="2825496"/>
            <a:ext cx="402336" cy="402336"/>
          </a:xfrm>
          <a:prstGeom prst="ellipse">
            <a:avLst/>
          </a:prstGeom>
          <a:solidFill>
            <a:srgbClr val="1F8B5F"/>
          </a:solidFill>
          <a:ln w="12700">
            <a:solidFill>
              <a:srgbClr val="1F8B5F"/>
            </a:solidFill>
            <a:prstDash val="solid"/>
          </a:ln>
        </p:spPr>
      </p:sp>
      <p:sp>
        <p:nvSpPr>
          <p:cNvPr id="9" name="Text 7"/>
          <p:cNvSpPr txBox="1"/>
          <p:nvPr/>
        </p:nvSpPr>
        <p:spPr>
          <a:xfrm>
            <a:off x="640080" y="282549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8</a:t>
            </a:r>
            <a:endParaRPr lang="en-US" sz="1700" dirty="0"/>
          </a:p>
        </p:txBody>
      </p:sp>
      <p:sp>
        <p:nvSpPr>
          <p:cNvPr id="10" name="Text 8"/>
          <p:cNvSpPr txBox="1"/>
          <p:nvPr/>
        </p:nvSpPr>
        <p:spPr>
          <a:xfrm>
            <a:off x="1261872" y="278892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STILL UNPROVEN</a:t>
            </a:r>
            <a:endParaRPr lang="en-US" sz="1050" dirty="0"/>
          </a:p>
        </p:txBody>
      </p:sp>
      <p:sp>
        <p:nvSpPr>
          <p:cNvPr id="11" name="Text 9"/>
          <p:cNvSpPr txBox="1"/>
          <p:nvPr/>
        </p:nvSpPr>
        <p:spPr>
          <a:xfrm>
            <a:off x="1261872" y="3026664"/>
            <a:ext cx="10259568" cy="113385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In a real laboratory nobody has ever tested it, in any organism, and that first test costs roughly $2,000 to $5,000.</a:t>
            </a:r>
            <a:endParaRPr lang="en-US" sz="1600" dirty="0"/>
          </a:p>
        </p:txBody>
      </p:sp>
      <p:sp>
        <p:nvSpPr>
          <p:cNvPr id="12" name="Shape 10"/>
          <p:cNvSpPr/>
          <p:nvPr/>
        </p:nvSpPr>
        <p:spPr>
          <a:xfrm>
            <a:off x="640080" y="4379976"/>
            <a:ext cx="402336" cy="402336"/>
          </a:xfrm>
          <a:prstGeom prst="ellipse">
            <a:avLst/>
          </a:prstGeom>
          <a:solidFill>
            <a:srgbClr val="1F8B5F"/>
          </a:solidFill>
          <a:ln w="12700">
            <a:solidFill>
              <a:srgbClr val="1F8B5F"/>
            </a:solidFill>
            <a:prstDash val="solid"/>
          </a:ln>
        </p:spPr>
      </p:sp>
      <p:sp>
        <p:nvSpPr>
          <p:cNvPr id="13" name="Text 11"/>
          <p:cNvSpPr txBox="1"/>
          <p:nvPr/>
        </p:nvSpPr>
        <p:spPr>
          <a:xfrm>
            <a:off x="640080" y="437997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9</a:t>
            </a:r>
            <a:endParaRPr lang="en-US" sz="1700" dirty="0"/>
          </a:p>
        </p:txBody>
      </p:sp>
      <p:sp>
        <p:nvSpPr>
          <p:cNvPr id="14" name="Text 12"/>
          <p:cNvSpPr txBox="1"/>
          <p:nvPr/>
        </p:nvSpPr>
        <p:spPr>
          <a:xfrm>
            <a:off x="1261872" y="4343400"/>
            <a:ext cx="10259568" cy="219456"/>
          </a:xfrm>
          <a:prstGeom prst="rect">
            <a:avLst/>
          </a:prstGeom>
          <a:noFill/>
          <a:ln/>
        </p:spPr>
        <p:txBody>
          <a:bodyPr wrap="square" lIns="0" tIns="0" rIns="0" bIns="0" rtlCol="0" anchor="ctr"/>
          <a:lstStyle/>
          <a:p>
            <a:pPr indent="0" marL="0">
              <a:buNone/>
            </a:pPr>
            <a:r>
              <a:rPr lang="en-US" sz="1050" b="1" spc="140" kern="0" dirty="0">
                <a:solidFill>
                  <a:srgbClr val="5F6F66"/>
                </a:solidFill>
                <a:latin typeface="Calibri" pitchFamily="34" charset="0"/>
                <a:ea typeface="Calibri" pitchFamily="34" charset="-122"/>
                <a:cs typeface="Calibri" pitchFamily="34" charset="-120"/>
              </a:rPr>
              <a:t>THE MONEY, HONESTLY</a:t>
            </a:r>
            <a:endParaRPr lang="en-US" sz="1050" dirty="0"/>
          </a:p>
        </p:txBody>
      </p:sp>
      <p:sp>
        <p:nvSpPr>
          <p:cNvPr id="15" name="Text 13"/>
          <p:cNvSpPr txBox="1"/>
          <p:nvPr/>
        </p:nvSpPr>
        <p:spPr>
          <a:xfrm>
            <a:off x="1261872" y="4581144"/>
            <a:ext cx="10259568" cy="1316736"/>
          </a:xfrm>
          <a:prstGeom prst="rect">
            <a:avLst/>
          </a:prstGeom>
          <a:noFill/>
          <a:ln/>
        </p:spPr>
        <p:txBody>
          <a:bodyPr wrap="square" lIns="0" tIns="0" rIns="0" bIns="0" rtlCol="0" anchor="t"/>
          <a:lstStyle/>
          <a:p>
            <a:pPr indent="0" marL="0">
              <a:lnSpc>
                <a:spcPct val="108000"/>
              </a:lnSpc>
              <a:buNone/>
            </a:pPr>
            <a:r>
              <a:rPr lang="en-US" sz="1600" dirty="0">
                <a:solidFill>
                  <a:srgbClr val="132018"/>
                </a:solidFill>
                <a:latin typeface="Calibri" pitchFamily="34" charset="0"/>
                <a:ea typeface="Calibri" pitchFamily="34" charset="-122"/>
                <a:cs typeface="Calibri" pitchFamily="34" charset="-120"/>
              </a:rPr>
              <a:t>The money comes from research grants first, up to about $305,000 from one US government programme, and not from selling anything, because nothing in this field sells yet.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The whole alphabet is two colours</a:t>
            </a:r>
            <a:endParaRPr lang="en-US" sz="2300" dirty="0"/>
          </a:p>
        </p:txBody>
      </p:sp>
      <p:sp>
        <p:nvSpPr>
          <p:cNvPr id="4" name="Text 2"/>
          <p:cNvSpPr txBox="1"/>
          <p:nvPr/>
        </p:nvSpPr>
        <p:spPr>
          <a:xfrm>
            <a:off x="640080" y="1143000"/>
            <a:ext cx="6035040" cy="1737360"/>
          </a:xfrm>
          <a:prstGeom prst="rect">
            <a:avLst/>
          </a:prstGeom>
          <a:noFill/>
          <a:ln/>
        </p:spPr>
        <p:txBody>
          <a:bodyPr wrap="square" lIns="0" tIns="0" rIns="0" bIns="0" rtlCol="0" anchor="ctr"/>
          <a:lstStyle/>
          <a:p>
            <a:pPr indent="0" marL="0">
              <a:lnSpc>
                <a:spcPct val="115000"/>
              </a:lnSpc>
              <a:buNone/>
            </a:pPr>
            <a:r>
              <a:rPr lang="en-US" sz="1600" dirty="0">
                <a:solidFill>
                  <a:srgbClr val="132018"/>
                </a:solidFill>
                <a:latin typeface="Calibri" pitchFamily="34" charset="0"/>
                <a:ea typeface="Calibri" pitchFamily="34" charset="-122"/>
                <a:cs typeface="Calibri" pitchFamily="34" charset="-120"/>
              </a:rPr>
              <a:t>Inside each cell sits a tiny switch built out of genes: two genes that each tell the other to be quiet. Whichever one is winning keeps winning, so the switch stays where you leave it. One position makes the cell glow green, the other makes it glow red.</a:t>
            </a:r>
            <a:endParaRPr lang="en-US" sz="1600" dirty="0"/>
          </a:p>
        </p:txBody>
      </p:sp>
      <p:sp>
        <p:nvSpPr>
          <p:cNvPr id="5" name="Text 3"/>
          <p:cNvSpPr txBox="1"/>
          <p:nvPr/>
        </p:nvSpPr>
        <p:spPr>
          <a:xfrm>
            <a:off x="640080" y="3017520"/>
            <a:ext cx="6035040" cy="914400"/>
          </a:xfrm>
          <a:prstGeom prst="rect">
            <a:avLst/>
          </a:prstGeom>
          <a:noFill/>
          <a:ln/>
        </p:spPr>
        <p:txBody>
          <a:bodyPr wrap="square" lIns="0" tIns="0" rIns="0" bIns="0" rtlCol="0" anchor="ctr"/>
          <a:lstStyle/>
          <a:p>
            <a:pPr indent="0" marL="0">
              <a:lnSpc>
                <a:spcPct val="115000"/>
              </a:lnSpc>
              <a:buNone/>
            </a:pPr>
            <a:r>
              <a:rPr lang="en-US" sz="1600" i="1" dirty="0">
                <a:solidFill>
                  <a:srgbClr val="5F6F66"/>
                </a:solidFill>
                <a:latin typeface="Calibri" pitchFamily="34" charset="0"/>
                <a:ea typeface="Calibri" pitchFamily="34" charset="-122"/>
                <a:cs typeface="Calibri" pitchFamily="34" charset="-120"/>
              </a:rPr>
              <a:t>Reading it does not kill anything, so the same dish can be read again and again.</a:t>
            </a:r>
            <a:endParaRPr lang="en-US" sz="1600" dirty="0"/>
          </a:p>
        </p:txBody>
      </p:sp>
      <p:sp>
        <p:nvSpPr>
          <p:cNvPr id="6" name="Shape 4"/>
          <p:cNvSpPr/>
          <p:nvPr/>
        </p:nvSpPr>
        <p:spPr>
          <a:xfrm>
            <a:off x="7498080" y="1417320"/>
            <a:ext cx="1737360" cy="1737360"/>
          </a:xfrm>
          <a:prstGeom prst="ellipse">
            <a:avLst/>
          </a:prstGeom>
          <a:solidFill>
            <a:srgbClr val="1F8B5F"/>
          </a:solidFill>
          <a:ln w="12700">
            <a:solidFill>
              <a:srgbClr val="1F8B5F"/>
            </a:solidFill>
            <a:prstDash val="solid"/>
          </a:ln>
        </p:spPr>
      </p:sp>
      <p:sp>
        <p:nvSpPr>
          <p:cNvPr id="7" name="Text 5"/>
          <p:cNvSpPr txBox="1"/>
          <p:nvPr/>
        </p:nvSpPr>
        <p:spPr>
          <a:xfrm>
            <a:off x="7498080" y="1417320"/>
            <a:ext cx="1737360" cy="173736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a:t>
            </a:r>
            <a:endParaRPr lang="en-US" sz="6000" dirty="0"/>
          </a:p>
        </p:txBody>
      </p:sp>
      <p:sp>
        <p:nvSpPr>
          <p:cNvPr id="8" name="Text 6"/>
          <p:cNvSpPr txBox="1"/>
          <p:nvPr/>
        </p:nvSpPr>
        <p:spPr>
          <a:xfrm>
            <a:off x="7498080" y="3291840"/>
            <a:ext cx="1737360" cy="320040"/>
          </a:xfrm>
          <a:prstGeom prst="rect">
            <a:avLst/>
          </a:prstGeom>
          <a:noFill/>
          <a:ln/>
        </p:spPr>
        <p:txBody>
          <a:bodyPr wrap="square" lIns="0" tIns="0" rIns="0" bIns="0" rtlCol="0" anchor="ctr"/>
          <a:lstStyle/>
          <a:p>
            <a:pPr algn="ctr" indent="0" marL="0">
              <a:buNone/>
            </a:pPr>
            <a:r>
              <a:rPr lang="en-US" sz="1250" dirty="0">
                <a:solidFill>
                  <a:srgbClr val="5F6F66"/>
                </a:solidFill>
                <a:latin typeface="Calibri" pitchFamily="34" charset="0"/>
                <a:ea typeface="Calibri" pitchFamily="34" charset="-122"/>
                <a:cs typeface="Calibri" pitchFamily="34" charset="-120"/>
              </a:rPr>
              <a:t>glows green</a:t>
            </a:r>
            <a:endParaRPr lang="en-US" sz="1250" dirty="0"/>
          </a:p>
        </p:txBody>
      </p:sp>
      <p:sp>
        <p:nvSpPr>
          <p:cNvPr id="9" name="Shape 7"/>
          <p:cNvSpPr/>
          <p:nvPr/>
        </p:nvSpPr>
        <p:spPr>
          <a:xfrm>
            <a:off x="9784080" y="1417320"/>
            <a:ext cx="1737360" cy="1737360"/>
          </a:xfrm>
          <a:prstGeom prst="ellipse">
            <a:avLst/>
          </a:prstGeom>
          <a:solidFill>
            <a:srgbClr val="C8453C"/>
          </a:solidFill>
          <a:ln w="12700">
            <a:solidFill>
              <a:srgbClr val="C8453C"/>
            </a:solidFill>
            <a:prstDash val="solid"/>
          </a:ln>
        </p:spPr>
      </p:sp>
      <p:sp>
        <p:nvSpPr>
          <p:cNvPr id="10" name="Text 8"/>
          <p:cNvSpPr txBox="1"/>
          <p:nvPr/>
        </p:nvSpPr>
        <p:spPr>
          <a:xfrm>
            <a:off x="9784080" y="1417320"/>
            <a:ext cx="1737360" cy="173736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1</a:t>
            </a:r>
            <a:endParaRPr lang="en-US" sz="6000" dirty="0"/>
          </a:p>
        </p:txBody>
      </p:sp>
      <p:sp>
        <p:nvSpPr>
          <p:cNvPr id="11" name="Text 9"/>
          <p:cNvSpPr txBox="1"/>
          <p:nvPr/>
        </p:nvSpPr>
        <p:spPr>
          <a:xfrm>
            <a:off x="9784080" y="3291840"/>
            <a:ext cx="1737360" cy="320040"/>
          </a:xfrm>
          <a:prstGeom prst="rect">
            <a:avLst/>
          </a:prstGeom>
          <a:noFill/>
          <a:ln/>
        </p:spPr>
        <p:txBody>
          <a:bodyPr wrap="square" lIns="0" tIns="0" rIns="0" bIns="0" rtlCol="0" anchor="ctr"/>
          <a:lstStyle/>
          <a:p>
            <a:pPr algn="ctr" indent="0" marL="0">
              <a:buNone/>
            </a:pPr>
            <a:r>
              <a:rPr lang="en-US" sz="1250" dirty="0">
                <a:solidFill>
                  <a:srgbClr val="5F6F66"/>
                </a:solidFill>
                <a:latin typeface="Calibri" pitchFamily="34" charset="0"/>
                <a:ea typeface="Calibri" pitchFamily="34" charset="-122"/>
                <a:cs typeface="Calibri" pitchFamily="34" charset="-120"/>
              </a:rPr>
              <a:t>glows red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Why splitting in half is the whole trick</a:t>
            </a:r>
            <a:endParaRPr lang="en-US" sz="2300" dirty="0"/>
          </a:p>
        </p:txBody>
      </p:sp>
      <p:sp>
        <p:nvSpPr>
          <p:cNvPr id="4" name="Text 2"/>
          <p:cNvSpPr txBox="1"/>
          <p:nvPr/>
        </p:nvSpPr>
        <p:spPr>
          <a:xfrm>
            <a:off x="640080" y="1143000"/>
            <a:ext cx="10881360" cy="868680"/>
          </a:xfrm>
          <a:prstGeom prst="rect">
            <a:avLst/>
          </a:prstGeom>
          <a:noFill/>
          <a:ln/>
        </p:spPr>
        <p:txBody>
          <a:bodyPr wrap="square" lIns="0" tIns="0" rIns="0" bIns="0" rtlCol="0" anchor="ctr"/>
          <a:lstStyle/>
          <a:p>
            <a:pPr indent="0" marL="0">
              <a:lnSpc>
                <a:spcPct val="115000"/>
              </a:lnSpc>
              <a:buNone/>
            </a:pPr>
            <a:r>
              <a:rPr lang="en-US" sz="1600" dirty="0">
                <a:solidFill>
                  <a:srgbClr val="132018"/>
                </a:solidFill>
                <a:latin typeface="Calibri" pitchFamily="34" charset="0"/>
                <a:ea typeface="Calibri" pitchFamily="34" charset="-122"/>
                <a:cs typeface="Calibri" pitchFamily="34" charset="-120"/>
              </a:rPr>
              <a:t>When a cell divides, both halves keep the switch in the same position. So the data copies itself, for free, every time the organism grows. Nobody has to back it up.</a:t>
            </a:r>
            <a:endParaRPr lang="en-US" sz="1600" dirty="0"/>
          </a:p>
        </p:txBody>
      </p:sp>
      <p:sp>
        <p:nvSpPr>
          <p:cNvPr id="5" name="Text 3"/>
          <p:cNvSpPr txBox="1"/>
          <p:nvPr/>
        </p:nvSpPr>
        <p:spPr>
          <a:xfrm>
            <a:off x="640080" y="2313432"/>
            <a:ext cx="1371600" cy="365760"/>
          </a:xfrm>
          <a:prstGeom prst="rect">
            <a:avLst/>
          </a:prstGeom>
          <a:noFill/>
          <a:ln/>
        </p:spPr>
        <p:txBody>
          <a:bodyPr wrap="square" lIns="0" tIns="0" rIns="0" bIns="0" rtlCol="0" anchor="ctr"/>
          <a:lstStyle/>
          <a:p>
            <a:pPr indent="0" marL="0">
              <a:buNone/>
            </a:pPr>
            <a:r>
              <a:rPr lang="en-US" sz="1300" b="1" dirty="0">
                <a:solidFill>
                  <a:srgbClr val="C8453C"/>
                </a:solidFill>
                <a:latin typeface="Calibri" pitchFamily="34" charset="0"/>
                <a:ea typeface="Calibri" pitchFamily="34" charset="-122"/>
                <a:cs typeface="Calibri" pitchFamily="34" charset="-120"/>
              </a:rPr>
              <a:t>1 survivor</a:t>
            </a:r>
            <a:endParaRPr lang="en-US" sz="1300" dirty="0"/>
          </a:p>
        </p:txBody>
      </p:sp>
      <p:sp>
        <p:nvSpPr>
          <p:cNvPr id="6" name="Shape 4"/>
          <p:cNvSpPr/>
          <p:nvPr/>
        </p:nvSpPr>
        <p:spPr>
          <a:xfrm>
            <a:off x="2148840" y="2331720"/>
            <a:ext cx="310896" cy="310896"/>
          </a:xfrm>
          <a:prstGeom prst="ellipse">
            <a:avLst/>
          </a:prstGeom>
          <a:solidFill>
            <a:srgbClr val="1F8B5F"/>
          </a:solidFill>
          <a:ln w="12700">
            <a:solidFill>
              <a:srgbClr val="1F8B5F"/>
            </a:solidFill>
            <a:prstDash val="solid"/>
          </a:ln>
        </p:spPr>
      </p:sp>
      <p:sp>
        <p:nvSpPr>
          <p:cNvPr id="7" name="Text 5"/>
          <p:cNvSpPr txBox="1"/>
          <p:nvPr/>
        </p:nvSpPr>
        <p:spPr>
          <a:xfrm>
            <a:off x="5852160" y="2313432"/>
            <a:ext cx="5669280" cy="365760"/>
          </a:xfrm>
          <a:prstGeom prst="rect">
            <a:avLst/>
          </a:prstGeom>
          <a:noFill/>
          <a:ln/>
        </p:spPr>
        <p:txBody>
          <a:bodyPr wrap="square" lIns="0" tIns="0" rIns="0" bIns="0" rtlCol="0" anchor="ctr"/>
          <a:lstStyle/>
          <a:p>
            <a:pPr indent="0" marL="0">
              <a:buNone/>
            </a:pPr>
            <a:r>
              <a:rPr lang="en-US" sz="1250" i="1" dirty="0">
                <a:solidFill>
                  <a:srgbClr val="5F6F66"/>
                </a:solidFill>
                <a:latin typeface="Calibri" pitchFamily="34" charset="0"/>
                <a:ea typeface="Calibri" pitchFamily="34" charset="-122"/>
                <a:cs typeface="Calibri" pitchFamily="34" charset="-120"/>
              </a:rPr>
              <a:t>the damage happens, one cell lives</a:t>
            </a:r>
            <a:endParaRPr lang="en-US" sz="1250" dirty="0"/>
          </a:p>
        </p:txBody>
      </p:sp>
      <p:sp>
        <p:nvSpPr>
          <p:cNvPr id="8" name="Text 6"/>
          <p:cNvSpPr txBox="1"/>
          <p:nvPr/>
        </p:nvSpPr>
        <p:spPr>
          <a:xfrm>
            <a:off x="640080" y="3026664"/>
            <a:ext cx="1371600" cy="365760"/>
          </a:xfrm>
          <a:prstGeom prst="rect">
            <a:avLst/>
          </a:prstGeom>
          <a:noFill/>
          <a:ln/>
        </p:spPr>
        <p:txBody>
          <a:bodyPr wrap="square" lIns="0" tIns="0" rIns="0" bIns="0" rtlCol="0" anchor="ctr"/>
          <a:lstStyle/>
          <a:p>
            <a:pPr indent="0" marL="0">
              <a:buNone/>
            </a:pPr>
            <a:r>
              <a:rPr lang="en-US" sz="1300" dirty="0">
                <a:solidFill>
                  <a:srgbClr val="5F6F66"/>
                </a:solidFill>
                <a:latin typeface="Calibri" pitchFamily="34" charset="0"/>
                <a:ea typeface="Calibri" pitchFamily="34" charset="-122"/>
                <a:cs typeface="Calibri" pitchFamily="34" charset="-120"/>
              </a:rPr>
              <a:t>2 cells</a:t>
            </a:r>
            <a:endParaRPr lang="en-US" sz="1300" dirty="0"/>
          </a:p>
        </p:txBody>
      </p:sp>
      <p:sp>
        <p:nvSpPr>
          <p:cNvPr id="9" name="Shape 7"/>
          <p:cNvSpPr/>
          <p:nvPr/>
        </p:nvSpPr>
        <p:spPr>
          <a:xfrm>
            <a:off x="2148840" y="3044952"/>
            <a:ext cx="310896" cy="310896"/>
          </a:xfrm>
          <a:prstGeom prst="ellipse">
            <a:avLst/>
          </a:prstGeom>
          <a:solidFill>
            <a:srgbClr val="1F8B5F"/>
          </a:solidFill>
          <a:ln w="12700">
            <a:solidFill>
              <a:srgbClr val="1F8B5F"/>
            </a:solidFill>
            <a:prstDash val="solid"/>
          </a:ln>
        </p:spPr>
      </p:sp>
      <p:sp>
        <p:nvSpPr>
          <p:cNvPr id="10" name="Shape 8"/>
          <p:cNvSpPr/>
          <p:nvPr/>
        </p:nvSpPr>
        <p:spPr>
          <a:xfrm>
            <a:off x="2569464" y="3044952"/>
            <a:ext cx="310896" cy="310896"/>
          </a:xfrm>
          <a:prstGeom prst="ellipse">
            <a:avLst/>
          </a:prstGeom>
          <a:solidFill>
            <a:srgbClr val="1F8B5F"/>
          </a:solidFill>
          <a:ln w="12700">
            <a:solidFill>
              <a:srgbClr val="1F8B5F"/>
            </a:solidFill>
            <a:prstDash val="solid"/>
          </a:ln>
        </p:spPr>
      </p:sp>
      <p:sp>
        <p:nvSpPr>
          <p:cNvPr id="11" name="Text 9"/>
          <p:cNvSpPr txBox="1"/>
          <p:nvPr/>
        </p:nvSpPr>
        <p:spPr>
          <a:xfrm>
            <a:off x="5852160" y="3026664"/>
            <a:ext cx="5669280" cy="365760"/>
          </a:xfrm>
          <a:prstGeom prst="rect">
            <a:avLst/>
          </a:prstGeom>
          <a:noFill/>
          <a:ln/>
        </p:spPr>
        <p:txBody>
          <a:bodyPr wrap="square" lIns="0" tIns="0" rIns="0" bIns="0" rtlCol="0" anchor="ctr"/>
          <a:lstStyle/>
          <a:p>
            <a:pPr indent="0" marL="0">
              <a:buNone/>
            </a:pPr>
            <a:r>
              <a:rPr lang="en-US" sz="1250" i="1" dirty="0">
                <a:solidFill>
                  <a:srgbClr val="5F6F66"/>
                </a:solidFill>
                <a:latin typeface="Calibri" pitchFamily="34" charset="0"/>
                <a:ea typeface="Calibri" pitchFamily="34" charset="-122"/>
                <a:cs typeface="Calibri" pitchFamily="34" charset="-120"/>
              </a:rPr>
              <a:t>it splits, and both halves agree</a:t>
            </a:r>
            <a:endParaRPr lang="en-US" sz="1250" dirty="0"/>
          </a:p>
        </p:txBody>
      </p:sp>
      <p:sp>
        <p:nvSpPr>
          <p:cNvPr id="12" name="Text 10"/>
          <p:cNvSpPr txBox="1"/>
          <p:nvPr/>
        </p:nvSpPr>
        <p:spPr>
          <a:xfrm>
            <a:off x="640080" y="3739896"/>
            <a:ext cx="1371600" cy="365760"/>
          </a:xfrm>
          <a:prstGeom prst="rect">
            <a:avLst/>
          </a:prstGeom>
          <a:noFill/>
          <a:ln/>
        </p:spPr>
        <p:txBody>
          <a:bodyPr wrap="square" lIns="0" tIns="0" rIns="0" bIns="0" rtlCol="0" anchor="ctr"/>
          <a:lstStyle/>
          <a:p>
            <a:pPr indent="0" marL="0">
              <a:buNone/>
            </a:pPr>
            <a:r>
              <a:rPr lang="en-US" sz="1300" dirty="0">
                <a:solidFill>
                  <a:srgbClr val="5F6F66"/>
                </a:solidFill>
                <a:latin typeface="Calibri" pitchFamily="34" charset="0"/>
                <a:ea typeface="Calibri" pitchFamily="34" charset="-122"/>
                <a:cs typeface="Calibri" pitchFamily="34" charset="-120"/>
              </a:rPr>
              <a:t>4 cells</a:t>
            </a:r>
            <a:endParaRPr lang="en-US" sz="1300" dirty="0"/>
          </a:p>
        </p:txBody>
      </p:sp>
      <p:sp>
        <p:nvSpPr>
          <p:cNvPr id="13" name="Shape 11"/>
          <p:cNvSpPr/>
          <p:nvPr/>
        </p:nvSpPr>
        <p:spPr>
          <a:xfrm>
            <a:off x="2148840" y="3758184"/>
            <a:ext cx="310896" cy="310896"/>
          </a:xfrm>
          <a:prstGeom prst="ellipse">
            <a:avLst/>
          </a:prstGeom>
          <a:solidFill>
            <a:srgbClr val="1F8B5F"/>
          </a:solidFill>
          <a:ln w="12700">
            <a:solidFill>
              <a:srgbClr val="1F8B5F"/>
            </a:solidFill>
            <a:prstDash val="solid"/>
          </a:ln>
        </p:spPr>
      </p:sp>
      <p:sp>
        <p:nvSpPr>
          <p:cNvPr id="14" name="Shape 12"/>
          <p:cNvSpPr/>
          <p:nvPr/>
        </p:nvSpPr>
        <p:spPr>
          <a:xfrm>
            <a:off x="2569464" y="3758184"/>
            <a:ext cx="310896" cy="310896"/>
          </a:xfrm>
          <a:prstGeom prst="ellipse">
            <a:avLst/>
          </a:prstGeom>
          <a:solidFill>
            <a:srgbClr val="1F8B5F"/>
          </a:solidFill>
          <a:ln w="12700">
            <a:solidFill>
              <a:srgbClr val="1F8B5F"/>
            </a:solidFill>
            <a:prstDash val="solid"/>
          </a:ln>
        </p:spPr>
      </p:sp>
      <p:sp>
        <p:nvSpPr>
          <p:cNvPr id="15" name="Shape 13"/>
          <p:cNvSpPr/>
          <p:nvPr/>
        </p:nvSpPr>
        <p:spPr>
          <a:xfrm>
            <a:off x="2990088" y="3758184"/>
            <a:ext cx="310896" cy="310896"/>
          </a:xfrm>
          <a:prstGeom prst="ellipse">
            <a:avLst/>
          </a:prstGeom>
          <a:solidFill>
            <a:srgbClr val="1F8B5F"/>
          </a:solidFill>
          <a:ln w="12700">
            <a:solidFill>
              <a:srgbClr val="1F8B5F"/>
            </a:solidFill>
            <a:prstDash val="solid"/>
          </a:ln>
        </p:spPr>
      </p:sp>
      <p:sp>
        <p:nvSpPr>
          <p:cNvPr id="16" name="Shape 14"/>
          <p:cNvSpPr/>
          <p:nvPr/>
        </p:nvSpPr>
        <p:spPr>
          <a:xfrm>
            <a:off x="3410712" y="3758184"/>
            <a:ext cx="310896" cy="310896"/>
          </a:xfrm>
          <a:prstGeom prst="ellipse">
            <a:avLst/>
          </a:prstGeom>
          <a:solidFill>
            <a:srgbClr val="1F8B5F"/>
          </a:solidFill>
          <a:ln w="12700">
            <a:solidFill>
              <a:srgbClr val="1F8B5F"/>
            </a:solidFill>
            <a:prstDash val="solid"/>
          </a:ln>
        </p:spPr>
      </p:sp>
      <p:sp>
        <p:nvSpPr>
          <p:cNvPr id="17" name="Text 15"/>
          <p:cNvSpPr txBox="1"/>
          <p:nvPr/>
        </p:nvSpPr>
        <p:spPr>
          <a:xfrm>
            <a:off x="5852160" y="3739896"/>
            <a:ext cx="5669280" cy="365760"/>
          </a:xfrm>
          <a:prstGeom prst="rect">
            <a:avLst/>
          </a:prstGeom>
          <a:noFill/>
          <a:ln/>
        </p:spPr>
        <p:txBody>
          <a:bodyPr wrap="square" lIns="0" tIns="0" rIns="0" bIns="0" rtlCol="0" anchor="ctr"/>
          <a:lstStyle/>
          <a:p>
            <a:pPr indent="0" marL="0">
              <a:buNone/>
            </a:pPr>
            <a:r>
              <a:rPr lang="en-US" sz="1250" i="1" dirty="0">
                <a:solidFill>
                  <a:srgbClr val="5F6F66"/>
                </a:solidFill>
                <a:latin typeface="Calibri" pitchFamily="34" charset="0"/>
                <a:ea typeface="Calibri" pitchFamily="34" charset="-122"/>
                <a:cs typeface="Calibri" pitchFamily="34" charset="-120"/>
              </a:rPr>
              <a:t>an hour later</a:t>
            </a:r>
            <a:endParaRPr lang="en-US" sz="1250" dirty="0"/>
          </a:p>
        </p:txBody>
      </p:sp>
      <p:sp>
        <p:nvSpPr>
          <p:cNvPr id="18" name="Text 16"/>
          <p:cNvSpPr txBox="1"/>
          <p:nvPr/>
        </p:nvSpPr>
        <p:spPr>
          <a:xfrm>
            <a:off x="640080" y="4453128"/>
            <a:ext cx="1371600" cy="365760"/>
          </a:xfrm>
          <a:prstGeom prst="rect">
            <a:avLst/>
          </a:prstGeom>
          <a:noFill/>
          <a:ln/>
        </p:spPr>
        <p:txBody>
          <a:bodyPr wrap="square" lIns="0" tIns="0" rIns="0" bIns="0" rtlCol="0" anchor="ctr"/>
          <a:lstStyle/>
          <a:p>
            <a:pPr indent="0" marL="0">
              <a:buNone/>
            </a:pPr>
            <a:r>
              <a:rPr lang="en-US" sz="1300" dirty="0">
                <a:solidFill>
                  <a:srgbClr val="5F6F66"/>
                </a:solidFill>
                <a:latin typeface="Calibri" pitchFamily="34" charset="0"/>
                <a:ea typeface="Calibri" pitchFamily="34" charset="-122"/>
                <a:cs typeface="Calibri" pitchFamily="34" charset="-120"/>
              </a:rPr>
              <a:t>8 cells</a:t>
            </a:r>
            <a:endParaRPr lang="en-US" sz="1300" dirty="0"/>
          </a:p>
        </p:txBody>
      </p:sp>
      <p:sp>
        <p:nvSpPr>
          <p:cNvPr id="19" name="Shape 17"/>
          <p:cNvSpPr/>
          <p:nvPr/>
        </p:nvSpPr>
        <p:spPr>
          <a:xfrm>
            <a:off x="2148840" y="4471416"/>
            <a:ext cx="310896" cy="310896"/>
          </a:xfrm>
          <a:prstGeom prst="ellipse">
            <a:avLst/>
          </a:prstGeom>
          <a:solidFill>
            <a:srgbClr val="1F8B5F"/>
          </a:solidFill>
          <a:ln w="12700">
            <a:solidFill>
              <a:srgbClr val="1F8B5F"/>
            </a:solidFill>
            <a:prstDash val="solid"/>
          </a:ln>
        </p:spPr>
      </p:sp>
      <p:sp>
        <p:nvSpPr>
          <p:cNvPr id="20" name="Shape 18"/>
          <p:cNvSpPr/>
          <p:nvPr/>
        </p:nvSpPr>
        <p:spPr>
          <a:xfrm>
            <a:off x="2569464" y="4471416"/>
            <a:ext cx="310896" cy="310896"/>
          </a:xfrm>
          <a:prstGeom prst="ellipse">
            <a:avLst/>
          </a:prstGeom>
          <a:solidFill>
            <a:srgbClr val="1F8B5F"/>
          </a:solidFill>
          <a:ln w="12700">
            <a:solidFill>
              <a:srgbClr val="1F8B5F"/>
            </a:solidFill>
            <a:prstDash val="solid"/>
          </a:ln>
        </p:spPr>
      </p:sp>
      <p:sp>
        <p:nvSpPr>
          <p:cNvPr id="21" name="Shape 19"/>
          <p:cNvSpPr/>
          <p:nvPr/>
        </p:nvSpPr>
        <p:spPr>
          <a:xfrm>
            <a:off x="2990088" y="4471416"/>
            <a:ext cx="310896" cy="310896"/>
          </a:xfrm>
          <a:prstGeom prst="ellipse">
            <a:avLst/>
          </a:prstGeom>
          <a:solidFill>
            <a:srgbClr val="1F8B5F"/>
          </a:solidFill>
          <a:ln w="12700">
            <a:solidFill>
              <a:srgbClr val="1F8B5F"/>
            </a:solidFill>
            <a:prstDash val="solid"/>
          </a:ln>
        </p:spPr>
      </p:sp>
      <p:sp>
        <p:nvSpPr>
          <p:cNvPr id="22" name="Shape 20"/>
          <p:cNvSpPr/>
          <p:nvPr/>
        </p:nvSpPr>
        <p:spPr>
          <a:xfrm>
            <a:off x="3410712" y="4471416"/>
            <a:ext cx="310896" cy="310896"/>
          </a:xfrm>
          <a:prstGeom prst="ellipse">
            <a:avLst/>
          </a:prstGeom>
          <a:solidFill>
            <a:srgbClr val="1F8B5F"/>
          </a:solidFill>
          <a:ln w="12700">
            <a:solidFill>
              <a:srgbClr val="1F8B5F"/>
            </a:solidFill>
            <a:prstDash val="solid"/>
          </a:ln>
        </p:spPr>
      </p:sp>
      <p:sp>
        <p:nvSpPr>
          <p:cNvPr id="23" name="Shape 21"/>
          <p:cNvSpPr/>
          <p:nvPr/>
        </p:nvSpPr>
        <p:spPr>
          <a:xfrm>
            <a:off x="3831336" y="4471416"/>
            <a:ext cx="310896" cy="310896"/>
          </a:xfrm>
          <a:prstGeom prst="ellipse">
            <a:avLst/>
          </a:prstGeom>
          <a:solidFill>
            <a:srgbClr val="1F8B5F"/>
          </a:solidFill>
          <a:ln w="12700">
            <a:solidFill>
              <a:srgbClr val="1F8B5F"/>
            </a:solidFill>
            <a:prstDash val="solid"/>
          </a:ln>
        </p:spPr>
      </p:sp>
      <p:sp>
        <p:nvSpPr>
          <p:cNvPr id="24" name="Shape 22"/>
          <p:cNvSpPr/>
          <p:nvPr/>
        </p:nvSpPr>
        <p:spPr>
          <a:xfrm>
            <a:off x="4251960" y="4471416"/>
            <a:ext cx="310896" cy="310896"/>
          </a:xfrm>
          <a:prstGeom prst="ellipse">
            <a:avLst/>
          </a:prstGeom>
          <a:solidFill>
            <a:srgbClr val="1F8B5F"/>
          </a:solidFill>
          <a:ln w="12700">
            <a:solidFill>
              <a:srgbClr val="1F8B5F"/>
            </a:solidFill>
            <a:prstDash val="solid"/>
          </a:ln>
        </p:spPr>
      </p:sp>
      <p:sp>
        <p:nvSpPr>
          <p:cNvPr id="25" name="Shape 23"/>
          <p:cNvSpPr/>
          <p:nvPr/>
        </p:nvSpPr>
        <p:spPr>
          <a:xfrm>
            <a:off x="4672584" y="4471416"/>
            <a:ext cx="310896" cy="310896"/>
          </a:xfrm>
          <a:prstGeom prst="ellipse">
            <a:avLst/>
          </a:prstGeom>
          <a:solidFill>
            <a:srgbClr val="1F8B5F"/>
          </a:solidFill>
          <a:ln w="12700">
            <a:solidFill>
              <a:srgbClr val="1F8B5F"/>
            </a:solidFill>
            <a:prstDash val="solid"/>
          </a:ln>
        </p:spPr>
      </p:sp>
      <p:sp>
        <p:nvSpPr>
          <p:cNvPr id="26" name="Shape 24"/>
          <p:cNvSpPr/>
          <p:nvPr/>
        </p:nvSpPr>
        <p:spPr>
          <a:xfrm>
            <a:off x="5093208" y="4471416"/>
            <a:ext cx="310896" cy="310896"/>
          </a:xfrm>
          <a:prstGeom prst="ellipse">
            <a:avLst/>
          </a:prstGeom>
          <a:solidFill>
            <a:srgbClr val="1F8B5F"/>
          </a:solidFill>
          <a:ln w="12700">
            <a:solidFill>
              <a:srgbClr val="1F8B5F"/>
            </a:solidFill>
            <a:prstDash val="solid"/>
          </a:ln>
        </p:spPr>
      </p:sp>
      <p:sp>
        <p:nvSpPr>
          <p:cNvPr id="27" name="Text 25"/>
          <p:cNvSpPr txBox="1"/>
          <p:nvPr/>
        </p:nvSpPr>
        <p:spPr>
          <a:xfrm>
            <a:off x="5852160" y="4453128"/>
            <a:ext cx="5669280" cy="365760"/>
          </a:xfrm>
          <a:prstGeom prst="rect">
            <a:avLst/>
          </a:prstGeom>
          <a:noFill/>
          <a:ln/>
        </p:spPr>
        <p:txBody>
          <a:bodyPr wrap="square" lIns="0" tIns="0" rIns="0" bIns="0" rtlCol="0" anchor="ctr"/>
          <a:lstStyle/>
          <a:p>
            <a:pPr indent="0" marL="0">
              <a:buNone/>
            </a:pPr>
            <a:r>
              <a:rPr lang="en-US" sz="1250" i="1" dirty="0">
                <a:solidFill>
                  <a:srgbClr val="5F6F66"/>
                </a:solidFill>
                <a:latin typeface="Calibri" pitchFamily="34" charset="0"/>
                <a:ea typeface="Calibri" pitchFamily="34" charset="-122"/>
                <a:cs typeface="Calibri" pitchFamily="34" charset="-120"/>
              </a:rPr>
              <a:t>and on, until the data is whole again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018"/>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The result the whole project rests on</a:t>
            </a:r>
            <a:endParaRPr lang="en-US" sz="2300" dirty="0"/>
          </a:p>
        </p:txBody>
      </p:sp>
      <p:sp>
        <p:nvSpPr>
          <p:cNvPr id="4" name="Text 2"/>
          <p:cNvSpPr txBox="1"/>
          <p:nvPr/>
        </p:nvSpPr>
        <p:spPr>
          <a:xfrm>
            <a:off x="640080" y="1371600"/>
            <a:ext cx="4206240" cy="1554480"/>
          </a:xfrm>
          <a:prstGeom prst="rect">
            <a:avLst/>
          </a:prstGeom>
          <a:noFill/>
          <a:ln/>
        </p:spPr>
        <p:txBody>
          <a:bodyPr wrap="square" lIns="0" tIns="0" rIns="0" bIns="0" rtlCol="0" anchor="ctr"/>
          <a:lstStyle/>
          <a:p>
            <a:pPr indent="0" marL="0">
              <a:buNone/>
            </a:pPr>
            <a:r>
              <a:rPr lang="en-US" sz="9200" b="1" dirty="0">
                <a:solidFill>
                  <a:srgbClr val="1F8B5F"/>
                </a:solidFill>
                <a:latin typeface="Cambria" pitchFamily="34" charset="0"/>
                <a:ea typeface="Cambria" pitchFamily="34" charset="-122"/>
                <a:cs typeface="Cambria" pitchFamily="34" charset="-120"/>
              </a:rPr>
              <a:t>100%</a:t>
            </a:r>
            <a:endParaRPr lang="en-US" sz="9200" dirty="0"/>
          </a:p>
        </p:txBody>
      </p:sp>
      <p:sp>
        <p:nvSpPr>
          <p:cNvPr id="5" name="Text 3"/>
          <p:cNvSpPr txBox="1"/>
          <p:nvPr/>
        </p:nvSpPr>
        <p:spPr>
          <a:xfrm>
            <a:off x="640080" y="2880360"/>
            <a:ext cx="4937760" cy="91440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of the message came back, from as few as 2 germs in every 100 surviving</a:t>
            </a:r>
            <a:endParaRPr lang="en-US" sz="1600" dirty="0"/>
          </a:p>
        </p:txBody>
      </p:sp>
      <p:sp>
        <p:nvSpPr>
          <p:cNvPr id="6" name="Text 4"/>
          <p:cNvSpPr txBox="1"/>
          <p:nvPr/>
        </p:nvSpPr>
        <p:spPr>
          <a:xfrm>
            <a:off x="640080" y="3931920"/>
            <a:ext cx="4937760" cy="1005840"/>
          </a:xfrm>
          <a:prstGeom prst="rect">
            <a:avLst/>
          </a:prstGeom>
          <a:noFill/>
          <a:ln/>
        </p:spPr>
        <p:txBody>
          <a:bodyPr wrap="square" lIns="0" tIns="0" rIns="0" bIns="0" rtlCol="0" anchor="ctr"/>
          <a:lstStyle/>
          <a:p>
            <a:pPr indent="0" marL="0">
              <a:lnSpc>
                <a:spcPct val="115000"/>
              </a:lnSpc>
              <a:buNone/>
            </a:pPr>
            <a:r>
              <a:rPr lang="en-US" sz="1350" dirty="0">
                <a:solidFill>
                  <a:srgbClr val="B9C7BF"/>
                </a:solidFill>
                <a:latin typeface="Calibri" pitchFamily="34" charset="0"/>
                <a:ea typeface="Calibri" pitchFamily="34" charset="-122"/>
                <a:cs typeface="Calibri" pitchFamily="34" charset="-120"/>
              </a:rPr>
              <a:t>The glowing colour was right too, not just the genes underneath it. Tested at every survival level from 2 percent up to no damage at all.</a:t>
            </a:r>
            <a:endParaRPr lang="en-US" sz="1350" dirty="0"/>
          </a:p>
        </p:txBody>
      </p:sp>
      <p:sp>
        <p:nvSpPr>
          <p:cNvPr id="7" name="Shape 5"/>
          <p:cNvSpPr/>
          <p:nvPr/>
        </p:nvSpPr>
        <p:spPr>
          <a:xfrm>
            <a:off x="6400800" y="1371600"/>
            <a:ext cx="5120640" cy="3566160"/>
          </a:xfrm>
          <a:prstGeom prst="roundRect">
            <a:avLst>
              <a:gd name="adj" fmla="val 2564"/>
            </a:avLst>
          </a:prstGeom>
          <a:solidFill>
            <a:srgbClr val="1E2E24"/>
          </a:solidFill>
          <a:ln w="12700">
            <a:solidFill>
              <a:srgbClr val="C8453C"/>
            </a:solidFill>
            <a:prstDash val="solid"/>
          </a:ln>
        </p:spPr>
      </p:sp>
      <p:sp>
        <p:nvSpPr>
          <p:cNvPr id="8" name="Text 6"/>
          <p:cNvSpPr txBox="1"/>
          <p:nvPr/>
        </p:nvSpPr>
        <p:spPr>
          <a:xfrm>
            <a:off x="6675120" y="1600200"/>
            <a:ext cx="4572000" cy="365760"/>
          </a:xfrm>
          <a:prstGeom prst="rect">
            <a:avLst/>
          </a:prstGeom>
          <a:noFill/>
          <a:ln/>
        </p:spPr>
        <p:txBody>
          <a:bodyPr wrap="square" lIns="0" tIns="0" rIns="0" bIns="0" rtlCol="0" anchor="ctr"/>
          <a:lstStyle/>
          <a:p>
            <a:pPr indent="0" marL="0">
              <a:buNone/>
            </a:pPr>
            <a:r>
              <a:rPr lang="en-US" sz="1100" b="1" spc="140" kern="0" dirty="0">
                <a:solidFill>
                  <a:srgbClr val="C8453C"/>
                </a:solidFill>
                <a:latin typeface="Calibri" pitchFamily="34" charset="0"/>
                <a:ea typeface="Calibri" pitchFamily="34" charset="-122"/>
                <a:cs typeface="Calibri" pitchFamily="34" charset="-120"/>
              </a:rPr>
              <a:t>Read this part twice</a:t>
            </a:r>
            <a:endParaRPr lang="en-US" sz="1100" dirty="0"/>
          </a:p>
        </p:txBody>
      </p:sp>
      <p:sp>
        <p:nvSpPr>
          <p:cNvPr id="9" name="Text 7"/>
          <p:cNvSpPr txBox="1"/>
          <p:nvPr/>
        </p:nvSpPr>
        <p:spPr>
          <a:xfrm>
            <a:off x="6675120" y="2011680"/>
            <a:ext cx="4572000" cy="2743200"/>
          </a:xfrm>
          <a:prstGeom prst="rect">
            <a:avLst/>
          </a:prstGeom>
          <a:noFill/>
          <a:ln/>
        </p:spPr>
        <p:txBody>
          <a:bodyPr wrap="square" lIns="0" tIns="0" rIns="0" bIns="0" rtlCol="0" anchor="ctr"/>
          <a:lstStyle/>
          <a:p>
            <a:pPr indent="0" marL="0">
              <a:lnSpc>
                <a:spcPct val="112000"/>
              </a:lnSpc>
              <a:buNone/>
            </a:pPr>
            <a:r>
              <a:rPr lang="en-US" sz="1300" dirty="0">
                <a:solidFill>
                  <a:srgbClr val="FFFFFF"/>
                </a:solidFill>
                <a:latin typeface="Calibri" pitchFamily="34" charset="0"/>
                <a:ea typeface="Calibri" pitchFamily="34" charset="-122"/>
                <a:cs typeface="Calibri" pitchFamily="34" charset="-120"/>
              </a:rPr>
              <a:t>This happened in a computer simulation, not in a laboratory. No living germ has ever been tested this way, by anyone.</a:t>
            </a:r>
            <a:endParaRPr lang="en-US" sz="1300" dirty="0"/>
          </a:p>
          <a:p>
            <a:pPr indent="0" marL="0">
              <a:lnSpc>
                <a:spcPct val="112000"/>
              </a:lnSpc>
              <a:buNone/>
            </a:pPr>
            <a:endParaRPr lang="en-US" sz="1300" dirty="0"/>
          </a:p>
          <a:p>
            <a:pPr indent="0" marL="0">
              <a:lnSpc>
                <a:spcPct val="112000"/>
              </a:lnSpc>
              <a:buNone/>
            </a:pPr>
            <a:r>
              <a:rPr lang="en-US" sz="1300" dirty="0">
                <a:solidFill>
                  <a:srgbClr val="FFFFFF"/>
                </a:solidFill>
                <a:latin typeface="Calibri" pitchFamily="34" charset="0"/>
                <a:ea typeface="Calibri" pitchFamily="34" charset="-122"/>
                <a:cs typeface="Calibri" pitchFamily="34" charset="-120"/>
              </a:rPr>
              <a:t>2 percent is simply the lowest amount the test tried. Everything from 2 percent upward worked perfectly, so the real breaking point is somewhere below 2 percent and nobody has found it.</a:t>
            </a:r>
            <a:endParaRPr lang="en-US" sz="1300" dirty="0"/>
          </a:p>
          <a:p>
            <a:pPr indent="0" marL="0">
              <a:lnSpc>
                <a:spcPct val="112000"/>
              </a:lnSpc>
              <a:buNone/>
            </a:pPr>
            <a:endParaRPr lang="en-US" sz="1300" dirty="0"/>
          </a:p>
          <a:p>
            <a:pPr indent="0" marL="0">
              <a:lnSpc>
                <a:spcPct val="112000"/>
              </a:lnSpc>
              <a:buNone/>
            </a:pPr>
            <a:r>
              <a:rPr lang="en-US" sz="1300" dirty="0">
                <a:solidFill>
                  <a:srgbClr val="FFFFFF"/>
                </a:solidFill>
                <a:latin typeface="Calibri" pitchFamily="34" charset="0"/>
                <a:ea typeface="Calibri" pitchFamily="34" charset="-122"/>
                <a:cs typeface="Calibri" pitchFamily="34" charset="-120"/>
              </a:rPr>
              <a:t>The honest sentence is "it survived every level we tested, down to 2 percent."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Why it does not matter which creature</a:t>
            </a:r>
            <a:endParaRPr lang="en-US" sz="2300" dirty="0"/>
          </a:p>
        </p:txBody>
      </p:sp>
      <p:sp>
        <p:nvSpPr>
          <p:cNvPr id="4" name="Text 2"/>
          <p:cNvSpPr txBox="1"/>
          <p:nvPr/>
        </p:nvSpPr>
        <p:spPr>
          <a:xfrm>
            <a:off x="640080" y="1143000"/>
            <a:ext cx="10881360" cy="685800"/>
          </a:xfrm>
          <a:prstGeom prst="rect">
            <a:avLst/>
          </a:prstGeom>
          <a:noFill/>
          <a:ln/>
        </p:spPr>
        <p:txBody>
          <a:bodyPr wrap="square" lIns="0" tIns="0" rIns="0" bIns="0" rtlCol="0" anchor="ctr"/>
          <a:lstStyle/>
          <a:p>
            <a:pPr indent="0" marL="0">
              <a:lnSpc>
                <a:spcPct val="115000"/>
              </a:lnSpc>
              <a:buNone/>
            </a:pPr>
            <a:r>
              <a:rPr lang="en-US" sz="1550" dirty="0">
                <a:solidFill>
                  <a:srgbClr val="132018"/>
                </a:solidFill>
                <a:latin typeface="Calibri" pitchFamily="34" charset="0"/>
                <a:ea typeface="Calibri" pitchFamily="34" charset="-122"/>
                <a:cs typeface="Calibri" pitchFamily="34" charset="-120"/>
              </a:rPr>
              <a:t>Acheron is the idea, not the animal. Any living thing that regrows from a piece of itself could carry it, and the plan is to test more than one over time.</a:t>
            </a:r>
            <a:endParaRPr lang="en-US" sz="1550" dirty="0"/>
          </a:p>
        </p:txBody>
      </p:sp>
      <p:sp>
        <p:nvSpPr>
          <p:cNvPr id="5" name="Shape 3"/>
          <p:cNvSpPr/>
          <p:nvPr/>
        </p:nvSpPr>
        <p:spPr>
          <a:xfrm>
            <a:off x="640080" y="1965960"/>
            <a:ext cx="5349240" cy="1783080"/>
          </a:xfrm>
          <a:prstGeom prst="roundRect">
            <a:avLst>
              <a:gd name="adj" fmla="val 5128"/>
            </a:avLst>
          </a:prstGeom>
          <a:solidFill>
            <a:srgbClr val="EDF2EE"/>
          </a:solidFill>
          <a:ln w="12700">
            <a:solidFill>
              <a:srgbClr val="EDF2EE"/>
            </a:solidFill>
            <a:prstDash val="solid"/>
          </a:ln>
        </p:spPr>
      </p:sp>
      <p:sp>
        <p:nvSpPr>
          <p:cNvPr id="6" name="Shape 4"/>
          <p:cNvSpPr/>
          <p:nvPr/>
        </p:nvSpPr>
        <p:spPr>
          <a:xfrm>
            <a:off x="914400" y="2267712"/>
            <a:ext cx="146304" cy="146304"/>
          </a:xfrm>
          <a:prstGeom prst="ellipse">
            <a:avLst/>
          </a:prstGeom>
          <a:solidFill>
            <a:srgbClr val="1F8B5F"/>
          </a:solidFill>
          <a:ln w="12700">
            <a:solidFill>
              <a:srgbClr val="1F8B5F"/>
            </a:solidFill>
            <a:prstDash val="solid"/>
          </a:ln>
        </p:spPr>
      </p:sp>
      <p:sp>
        <p:nvSpPr>
          <p:cNvPr id="7" name="Text 5"/>
          <p:cNvSpPr txBox="1"/>
          <p:nvPr/>
        </p:nvSpPr>
        <p:spPr>
          <a:xfrm>
            <a:off x="1188720" y="2176272"/>
            <a:ext cx="4572000" cy="347472"/>
          </a:xfrm>
          <a:prstGeom prst="rect">
            <a:avLst/>
          </a:prstGeom>
          <a:noFill/>
          <a:ln/>
        </p:spPr>
        <p:txBody>
          <a:bodyPr wrap="square" lIns="0" tIns="0" rIns="0" bIns="0" rtlCol="0" anchor="ctr"/>
          <a:lstStyle/>
          <a:p>
            <a:pPr indent="0" marL="0">
              <a:buNone/>
            </a:pPr>
            <a:r>
              <a:rPr lang="en-US" sz="1650" b="1" dirty="0">
                <a:solidFill>
                  <a:srgbClr val="132018"/>
                </a:solidFill>
                <a:latin typeface="Cambria" pitchFamily="34" charset="0"/>
                <a:ea typeface="Cambria" pitchFamily="34" charset="-122"/>
                <a:cs typeface="Cambria" pitchFamily="34" charset="-120"/>
              </a:rPr>
              <a:t>Flatworms came first</a:t>
            </a:r>
            <a:endParaRPr lang="en-US" sz="1650" dirty="0"/>
          </a:p>
        </p:txBody>
      </p:sp>
      <p:sp>
        <p:nvSpPr>
          <p:cNvPr id="8" name="Text 6"/>
          <p:cNvSpPr txBox="1"/>
          <p:nvPr/>
        </p:nvSpPr>
        <p:spPr>
          <a:xfrm>
            <a:off x="1188720" y="2596896"/>
            <a:ext cx="4572000" cy="960120"/>
          </a:xfrm>
          <a:prstGeom prst="rect">
            <a:avLst/>
          </a:prstGeom>
          <a:noFill/>
          <a:ln/>
        </p:spPr>
        <p:txBody>
          <a:bodyPr wrap="square" lIns="0" tIns="0" rIns="0" bIns="0" rtlCol="0" anchor="ctr"/>
          <a:lstStyle/>
          <a:p>
            <a:pPr indent="0" marL="0">
              <a:lnSpc>
                <a:spcPct val="110000"/>
              </a:lnSpc>
              <a:buNone/>
            </a:pPr>
            <a:r>
              <a:rPr lang="en-US" sz="1300" dirty="0">
                <a:solidFill>
                  <a:srgbClr val="5F6F66"/>
                </a:solidFill>
                <a:latin typeface="Calibri" pitchFamily="34" charset="0"/>
                <a:ea typeface="Calibri" pitchFamily="34" charset="-122"/>
                <a:cs typeface="Calibri" pitchFamily="34" charset="-120"/>
              </a:rPr>
              <a:t>Cut one into pieces and every piece grows back into a whole worm, carrying its body plan with it. That is exactly the behaviour Acheron wants, already working in nature.</a:t>
            </a:r>
            <a:endParaRPr lang="en-US" sz="1300" dirty="0"/>
          </a:p>
        </p:txBody>
      </p:sp>
      <p:sp>
        <p:nvSpPr>
          <p:cNvPr id="9" name="Shape 7"/>
          <p:cNvSpPr/>
          <p:nvPr/>
        </p:nvSpPr>
        <p:spPr>
          <a:xfrm>
            <a:off x="6172200" y="1965960"/>
            <a:ext cx="5349240" cy="1783080"/>
          </a:xfrm>
          <a:prstGeom prst="roundRect">
            <a:avLst>
              <a:gd name="adj" fmla="val 5128"/>
            </a:avLst>
          </a:prstGeom>
          <a:solidFill>
            <a:srgbClr val="EDF2EE"/>
          </a:solidFill>
          <a:ln w="12700">
            <a:solidFill>
              <a:srgbClr val="EDF2EE"/>
            </a:solidFill>
            <a:prstDash val="solid"/>
          </a:ln>
        </p:spPr>
      </p:sp>
      <p:sp>
        <p:nvSpPr>
          <p:cNvPr id="10" name="Shape 8"/>
          <p:cNvSpPr/>
          <p:nvPr/>
        </p:nvSpPr>
        <p:spPr>
          <a:xfrm>
            <a:off x="6446520" y="2267712"/>
            <a:ext cx="146304" cy="146304"/>
          </a:xfrm>
          <a:prstGeom prst="ellipse">
            <a:avLst/>
          </a:prstGeom>
          <a:solidFill>
            <a:srgbClr val="1F8B5F"/>
          </a:solidFill>
          <a:ln w="12700">
            <a:solidFill>
              <a:srgbClr val="1F8B5F"/>
            </a:solidFill>
            <a:prstDash val="solid"/>
          </a:ln>
        </p:spPr>
      </p:sp>
      <p:sp>
        <p:nvSpPr>
          <p:cNvPr id="11" name="Text 9"/>
          <p:cNvSpPr txBox="1"/>
          <p:nvPr/>
        </p:nvSpPr>
        <p:spPr>
          <a:xfrm>
            <a:off x="6720840" y="2176272"/>
            <a:ext cx="4572000" cy="347472"/>
          </a:xfrm>
          <a:prstGeom prst="rect">
            <a:avLst/>
          </a:prstGeom>
          <a:noFill/>
          <a:ln/>
        </p:spPr>
        <p:txBody>
          <a:bodyPr wrap="square" lIns="0" tIns="0" rIns="0" bIns="0" rtlCol="0" anchor="ctr"/>
          <a:lstStyle/>
          <a:p>
            <a:pPr indent="0" marL="0">
              <a:buNone/>
            </a:pPr>
            <a:r>
              <a:rPr lang="en-US" sz="1650" b="1" dirty="0">
                <a:solidFill>
                  <a:srgbClr val="132018"/>
                </a:solidFill>
                <a:latin typeface="Cambria" pitchFamily="34" charset="0"/>
                <a:ea typeface="Cambria" pitchFamily="34" charset="-122"/>
                <a:cs typeface="Cambria" pitchFamily="34" charset="-120"/>
              </a:rPr>
              <a:t>Germs are being tested first</a:t>
            </a:r>
            <a:endParaRPr lang="en-US" sz="1650" dirty="0"/>
          </a:p>
        </p:txBody>
      </p:sp>
      <p:sp>
        <p:nvSpPr>
          <p:cNvPr id="12" name="Text 10"/>
          <p:cNvSpPr txBox="1"/>
          <p:nvPr/>
        </p:nvSpPr>
        <p:spPr>
          <a:xfrm>
            <a:off x="6720840" y="2596896"/>
            <a:ext cx="4572000" cy="960120"/>
          </a:xfrm>
          <a:prstGeom prst="rect">
            <a:avLst/>
          </a:prstGeom>
          <a:noFill/>
          <a:ln/>
        </p:spPr>
        <p:txBody>
          <a:bodyPr wrap="square" lIns="0" tIns="0" rIns="0" bIns="0" rtlCol="0" anchor="ctr"/>
          <a:lstStyle/>
          <a:p>
            <a:pPr indent="0" marL="0">
              <a:lnSpc>
                <a:spcPct val="110000"/>
              </a:lnSpc>
              <a:buNone/>
            </a:pPr>
            <a:r>
              <a:rPr lang="en-US" sz="1300" dirty="0">
                <a:solidFill>
                  <a:srgbClr val="5F6F66"/>
                </a:solidFill>
                <a:latin typeface="Calibri" pitchFamily="34" charset="0"/>
                <a:ea typeface="Calibri" pitchFamily="34" charset="-122"/>
                <a:cs typeface="Calibri" pitchFamily="34" charset="-120"/>
              </a:rPr>
              <a:t>Not because they are better. Because they are cheap, fast and easy to rewire. A germ splits every half hour, so a test takes days instead of months.</a:t>
            </a:r>
            <a:endParaRPr lang="en-US" sz="1300" dirty="0"/>
          </a:p>
        </p:txBody>
      </p:sp>
      <p:sp>
        <p:nvSpPr>
          <p:cNvPr id="13" name="Text 11"/>
          <p:cNvSpPr txBox="1"/>
          <p:nvPr/>
        </p:nvSpPr>
        <p:spPr>
          <a:xfrm>
            <a:off x="640080" y="3977640"/>
            <a:ext cx="10881360" cy="320040"/>
          </a:xfrm>
          <a:prstGeom prst="rect">
            <a:avLst/>
          </a:prstGeom>
          <a:noFill/>
          <a:ln/>
        </p:spPr>
        <p:txBody>
          <a:bodyPr wrap="square" lIns="0" tIns="0" rIns="0" bIns="0" rtlCol="0" anchor="ctr"/>
          <a:lstStyle/>
          <a:p>
            <a:pPr indent="0" marL="0">
              <a:buNone/>
            </a:pPr>
            <a:r>
              <a:rPr lang="en-US" sz="1100" b="1" spc="140" kern="0" dirty="0">
                <a:solidFill>
                  <a:srgbClr val="1F8B5F"/>
                </a:solidFill>
                <a:latin typeface="Calibri" pitchFamily="34" charset="0"/>
                <a:ea typeface="Calibri" pitchFamily="34" charset="-122"/>
                <a:cs typeface="Calibri" pitchFamily="34" charset="-120"/>
              </a:rPr>
              <a:t>Michael Levin</a:t>
            </a:r>
            <a:endParaRPr lang="en-US" sz="1100" dirty="0"/>
          </a:p>
        </p:txBody>
      </p:sp>
      <p:sp>
        <p:nvSpPr>
          <p:cNvPr id="14" name="Text 12"/>
          <p:cNvSpPr txBox="1"/>
          <p:nvPr/>
        </p:nvSpPr>
        <p:spPr>
          <a:xfrm>
            <a:off x="640080" y="4315968"/>
            <a:ext cx="10881360" cy="1005840"/>
          </a:xfrm>
          <a:prstGeom prst="rect">
            <a:avLst/>
          </a:prstGeom>
          <a:noFill/>
          <a:ln/>
        </p:spPr>
        <p:txBody>
          <a:bodyPr wrap="square" lIns="0" tIns="0" rIns="0" bIns="0" rtlCol="0" anchor="ctr"/>
          <a:lstStyle/>
          <a:p>
            <a:pPr indent="0" marL="0">
              <a:lnSpc>
                <a:spcPct val="112000"/>
              </a:lnSpc>
              <a:buNone/>
            </a:pPr>
            <a:r>
              <a:rPr lang="en-US" sz="1350" dirty="0">
                <a:solidFill>
                  <a:srgbClr val="132018"/>
                </a:solidFill>
                <a:latin typeface="Calibri" pitchFamily="34" charset="0"/>
                <a:ea typeface="Calibri" pitchFamily="34" charset="-122"/>
                <a:cs typeface="Calibri" pitchFamily="34" charset="-120"/>
              </a:rPr>
              <a:t>Dayana picked flatworms on her own reasoning, before she had heard of him, and found his lab afterwards. His lab at Tufts showed that a flatworm's body plan is partly stored as electricity across its cells: interfere with that electricity and the worm regrows with two heads, and keeps regrowing two-headed with no further interference. The instructions changed, not the genes.</a:t>
            </a:r>
            <a:endParaRPr lang="en-US" sz="1350" dirty="0"/>
          </a:p>
        </p:txBody>
      </p:sp>
      <p:sp>
        <p:nvSpPr>
          <p:cNvPr id="15" name="Text 13"/>
          <p:cNvSpPr txBox="1"/>
          <p:nvPr/>
        </p:nvSpPr>
        <p:spPr>
          <a:xfrm>
            <a:off x="640080" y="5394960"/>
            <a:ext cx="10881360" cy="822960"/>
          </a:xfrm>
          <a:prstGeom prst="rect">
            <a:avLst/>
          </a:prstGeom>
          <a:noFill/>
          <a:ln/>
        </p:spPr>
        <p:txBody>
          <a:bodyPr wrap="square" lIns="0" tIns="0" rIns="0" bIns="0" rtlCol="0" anchor="ctr"/>
          <a:lstStyle/>
          <a:p>
            <a:pPr indent="0" marL="0">
              <a:lnSpc>
                <a:spcPct val="112000"/>
              </a:lnSpc>
              <a:buNone/>
            </a:pPr>
            <a:r>
              <a:rPr lang="en-US" sz="1350" i="1" dirty="0">
                <a:solidFill>
                  <a:srgbClr val="5F6F66"/>
                </a:solidFill>
                <a:latin typeface="Calibri" pitchFamily="34" charset="0"/>
                <a:ea typeface="Calibri" pitchFamily="34" charset="-122"/>
                <a:cs typeface="Calibri" pitchFamily="34" charset="-120"/>
              </a:rPr>
              <a:t>What that proves is that a worm's own natural pattern really is stored this way and really does survive being cut apart. What it does not prove is that a made-up pattern, a file Dayana invents, behaves the same way. That gap is the whole experiment.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Where it could be used, if it works</a:t>
            </a:r>
            <a:endParaRPr lang="en-US" sz="2300" dirty="0"/>
          </a:p>
        </p:txBody>
      </p:sp>
      <p:sp>
        <p:nvSpPr>
          <p:cNvPr id="4" name="Text 2"/>
          <p:cNvSpPr txBox="1"/>
          <p:nvPr/>
        </p:nvSpPr>
        <p:spPr>
          <a:xfrm>
            <a:off x="640080" y="1097280"/>
            <a:ext cx="10881360" cy="365760"/>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Places people would plausibly want this. None of them is a customer, a deal, or a promise.</a:t>
            </a:r>
            <a:endParaRPr lang="en-US" sz="1400" dirty="0"/>
          </a:p>
        </p:txBody>
      </p:sp>
      <p:sp>
        <p:nvSpPr>
          <p:cNvPr id="5" name="Shape 3"/>
          <p:cNvSpPr/>
          <p:nvPr/>
        </p:nvSpPr>
        <p:spPr>
          <a:xfrm>
            <a:off x="640080" y="1691640"/>
            <a:ext cx="5349240" cy="1691640"/>
          </a:xfrm>
          <a:prstGeom prst="roundRect">
            <a:avLst>
              <a:gd name="adj" fmla="val 5405"/>
            </a:avLst>
          </a:prstGeom>
          <a:solidFill>
            <a:srgbClr val="EDF2EE"/>
          </a:solidFill>
          <a:ln w="12700">
            <a:solidFill>
              <a:srgbClr val="EDF2EE"/>
            </a:solidFill>
            <a:prstDash val="solid"/>
          </a:ln>
        </p:spPr>
      </p:sp>
      <p:sp>
        <p:nvSpPr>
          <p:cNvPr id="6" name="Shape 4"/>
          <p:cNvSpPr/>
          <p:nvPr/>
        </p:nvSpPr>
        <p:spPr>
          <a:xfrm>
            <a:off x="914400" y="1984248"/>
            <a:ext cx="146304" cy="146304"/>
          </a:xfrm>
          <a:prstGeom prst="ellipse">
            <a:avLst/>
          </a:prstGeom>
          <a:solidFill>
            <a:srgbClr val="1F8B5F"/>
          </a:solidFill>
          <a:ln w="12700">
            <a:solidFill>
              <a:srgbClr val="1F8B5F"/>
            </a:solidFill>
            <a:prstDash val="solid"/>
          </a:ln>
        </p:spPr>
      </p:sp>
      <p:sp>
        <p:nvSpPr>
          <p:cNvPr id="7" name="Text 5"/>
          <p:cNvSpPr txBox="1"/>
          <p:nvPr/>
        </p:nvSpPr>
        <p:spPr>
          <a:xfrm>
            <a:off x="1188720" y="1892808"/>
            <a:ext cx="4572000" cy="347472"/>
          </a:xfrm>
          <a:prstGeom prst="rect">
            <a:avLst/>
          </a:prstGeom>
          <a:noFill/>
          <a:ln/>
        </p:spPr>
        <p:txBody>
          <a:bodyPr wrap="square" lIns="0" tIns="0" rIns="0" bIns="0" rtlCol="0" anchor="ctr"/>
          <a:lstStyle/>
          <a:p>
            <a:pPr indent="0" marL="0">
              <a:buNone/>
            </a:pPr>
            <a:r>
              <a:rPr lang="en-US" sz="1700" b="1" dirty="0">
                <a:solidFill>
                  <a:srgbClr val="132018"/>
                </a:solidFill>
                <a:latin typeface="Cambria" pitchFamily="34" charset="0"/>
                <a:ea typeface="Cambria" pitchFamily="34" charset="-122"/>
                <a:cs typeface="Cambria" pitchFamily="34" charset="-120"/>
              </a:rPr>
              <a:t>Long-term archives</a:t>
            </a:r>
            <a:endParaRPr lang="en-US" sz="1700" dirty="0"/>
          </a:p>
        </p:txBody>
      </p:sp>
      <p:sp>
        <p:nvSpPr>
          <p:cNvPr id="8" name="Text 6"/>
          <p:cNvSpPr txBox="1"/>
          <p:nvPr/>
        </p:nvSpPr>
        <p:spPr>
          <a:xfrm>
            <a:off x="1188720" y="2313432"/>
            <a:ext cx="4572000" cy="868680"/>
          </a:xfrm>
          <a:prstGeom prst="rect">
            <a:avLst/>
          </a:prstGeom>
          <a:noFill/>
          <a:ln/>
        </p:spPr>
        <p:txBody>
          <a:bodyPr wrap="square" lIns="0" tIns="0" rIns="0" bIns="0" rtlCol="0" anchor="ctr"/>
          <a:lstStyle/>
          <a:p>
            <a:pPr indent="0" marL="0">
              <a:lnSpc>
                <a:spcPct val="110000"/>
              </a:lnSpc>
              <a:buNone/>
            </a:pPr>
            <a:r>
              <a:rPr lang="en-US" sz="1350" dirty="0">
                <a:solidFill>
                  <a:srgbClr val="5F6F66"/>
                </a:solidFill>
                <a:latin typeface="Calibri" pitchFamily="34" charset="0"/>
                <a:ea typeface="Calibri" pitchFamily="34" charset="-122"/>
                <a:cs typeface="Calibri" pitchFamily="34" charset="-120"/>
              </a:rPr>
              <a:t>Things meant to last centuries, where every storage format we have today dies first.</a:t>
            </a:r>
            <a:endParaRPr lang="en-US" sz="1350" dirty="0"/>
          </a:p>
        </p:txBody>
      </p:sp>
      <p:sp>
        <p:nvSpPr>
          <p:cNvPr id="9" name="Shape 7"/>
          <p:cNvSpPr/>
          <p:nvPr/>
        </p:nvSpPr>
        <p:spPr>
          <a:xfrm>
            <a:off x="6172200" y="1691640"/>
            <a:ext cx="5349240" cy="1691640"/>
          </a:xfrm>
          <a:prstGeom prst="roundRect">
            <a:avLst>
              <a:gd name="adj" fmla="val 5405"/>
            </a:avLst>
          </a:prstGeom>
          <a:solidFill>
            <a:srgbClr val="EDF2EE"/>
          </a:solidFill>
          <a:ln w="12700">
            <a:solidFill>
              <a:srgbClr val="EDF2EE"/>
            </a:solidFill>
            <a:prstDash val="solid"/>
          </a:ln>
        </p:spPr>
      </p:sp>
      <p:sp>
        <p:nvSpPr>
          <p:cNvPr id="10" name="Shape 8"/>
          <p:cNvSpPr/>
          <p:nvPr/>
        </p:nvSpPr>
        <p:spPr>
          <a:xfrm>
            <a:off x="6446520" y="1984248"/>
            <a:ext cx="146304" cy="146304"/>
          </a:xfrm>
          <a:prstGeom prst="ellipse">
            <a:avLst/>
          </a:prstGeom>
          <a:solidFill>
            <a:srgbClr val="1F8B5F"/>
          </a:solidFill>
          <a:ln w="12700">
            <a:solidFill>
              <a:srgbClr val="1F8B5F"/>
            </a:solidFill>
            <a:prstDash val="solid"/>
          </a:ln>
        </p:spPr>
      </p:sp>
      <p:sp>
        <p:nvSpPr>
          <p:cNvPr id="11" name="Text 9"/>
          <p:cNvSpPr txBox="1"/>
          <p:nvPr/>
        </p:nvSpPr>
        <p:spPr>
          <a:xfrm>
            <a:off x="6720840" y="1892808"/>
            <a:ext cx="4572000" cy="347472"/>
          </a:xfrm>
          <a:prstGeom prst="rect">
            <a:avLst/>
          </a:prstGeom>
          <a:noFill/>
          <a:ln/>
        </p:spPr>
        <p:txBody>
          <a:bodyPr wrap="square" lIns="0" tIns="0" rIns="0" bIns="0" rtlCol="0" anchor="ctr"/>
          <a:lstStyle/>
          <a:p>
            <a:pPr indent="0" marL="0">
              <a:buNone/>
            </a:pPr>
            <a:r>
              <a:rPr lang="en-US" sz="1700" b="1" dirty="0">
                <a:solidFill>
                  <a:srgbClr val="132018"/>
                </a:solidFill>
                <a:latin typeface="Cambria" pitchFamily="34" charset="0"/>
                <a:ea typeface="Cambria" pitchFamily="34" charset="-122"/>
                <a:cs typeface="Cambria" pitchFamily="34" charset="-120"/>
              </a:rPr>
              <a:t>Space</a:t>
            </a:r>
            <a:endParaRPr lang="en-US" sz="1700" dirty="0"/>
          </a:p>
        </p:txBody>
      </p:sp>
      <p:sp>
        <p:nvSpPr>
          <p:cNvPr id="12" name="Text 10"/>
          <p:cNvSpPr txBox="1"/>
          <p:nvPr/>
        </p:nvSpPr>
        <p:spPr>
          <a:xfrm>
            <a:off x="6720840" y="2313432"/>
            <a:ext cx="4572000" cy="868680"/>
          </a:xfrm>
          <a:prstGeom prst="rect">
            <a:avLst/>
          </a:prstGeom>
          <a:noFill/>
          <a:ln/>
        </p:spPr>
        <p:txBody>
          <a:bodyPr wrap="square" lIns="0" tIns="0" rIns="0" bIns="0" rtlCol="0" anchor="ctr"/>
          <a:lstStyle/>
          <a:p>
            <a:pPr indent="0" marL="0">
              <a:lnSpc>
                <a:spcPct val="110000"/>
              </a:lnSpc>
              <a:buNone/>
            </a:pPr>
            <a:r>
              <a:rPr lang="en-US" sz="1350" dirty="0">
                <a:solidFill>
                  <a:srgbClr val="5F6F66"/>
                </a:solidFill>
                <a:latin typeface="Calibri" pitchFamily="34" charset="0"/>
                <a:ea typeface="Calibri" pitchFamily="34" charset="-122"/>
                <a:cs typeface="Calibri" pitchFamily="34" charset="-120"/>
              </a:rPr>
              <a:t>Radiation destroys electronics. A colony that regrows from survivors behaves differently.</a:t>
            </a:r>
            <a:endParaRPr lang="en-US" sz="1350" dirty="0"/>
          </a:p>
        </p:txBody>
      </p:sp>
      <p:sp>
        <p:nvSpPr>
          <p:cNvPr id="13" name="Shape 11"/>
          <p:cNvSpPr/>
          <p:nvPr/>
        </p:nvSpPr>
        <p:spPr>
          <a:xfrm>
            <a:off x="640080" y="3657600"/>
            <a:ext cx="5349240" cy="1691640"/>
          </a:xfrm>
          <a:prstGeom prst="roundRect">
            <a:avLst>
              <a:gd name="adj" fmla="val 5405"/>
            </a:avLst>
          </a:prstGeom>
          <a:solidFill>
            <a:srgbClr val="EDF2EE"/>
          </a:solidFill>
          <a:ln w="12700">
            <a:solidFill>
              <a:srgbClr val="EDF2EE"/>
            </a:solidFill>
            <a:prstDash val="solid"/>
          </a:ln>
        </p:spPr>
      </p:sp>
      <p:sp>
        <p:nvSpPr>
          <p:cNvPr id="14" name="Shape 12"/>
          <p:cNvSpPr/>
          <p:nvPr/>
        </p:nvSpPr>
        <p:spPr>
          <a:xfrm>
            <a:off x="914400" y="3950208"/>
            <a:ext cx="146304" cy="146304"/>
          </a:xfrm>
          <a:prstGeom prst="ellipse">
            <a:avLst/>
          </a:prstGeom>
          <a:solidFill>
            <a:srgbClr val="1F8B5F"/>
          </a:solidFill>
          <a:ln w="12700">
            <a:solidFill>
              <a:srgbClr val="1F8B5F"/>
            </a:solidFill>
            <a:prstDash val="solid"/>
          </a:ln>
        </p:spPr>
      </p:sp>
      <p:sp>
        <p:nvSpPr>
          <p:cNvPr id="15" name="Text 13"/>
          <p:cNvSpPr txBox="1"/>
          <p:nvPr/>
        </p:nvSpPr>
        <p:spPr>
          <a:xfrm>
            <a:off x="1188720" y="3858768"/>
            <a:ext cx="4572000" cy="347472"/>
          </a:xfrm>
          <a:prstGeom prst="rect">
            <a:avLst/>
          </a:prstGeom>
          <a:noFill/>
          <a:ln/>
        </p:spPr>
        <p:txBody>
          <a:bodyPr wrap="square" lIns="0" tIns="0" rIns="0" bIns="0" rtlCol="0" anchor="ctr"/>
          <a:lstStyle/>
          <a:p>
            <a:pPr indent="0" marL="0">
              <a:buNone/>
            </a:pPr>
            <a:r>
              <a:rPr lang="en-US" sz="1700" b="1" dirty="0">
                <a:solidFill>
                  <a:srgbClr val="132018"/>
                </a:solidFill>
                <a:latin typeface="Cambria" pitchFamily="34" charset="0"/>
                <a:ea typeface="Cambria" pitchFamily="34" charset="-122"/>
                <a:cs typeface="Cambria" pitchFamily="34" charset="-120"/>
              </a:rPr>
              <a:t>Labelling living material</a:t>
            </a:r>
            <a:endParaRPr lang="en-US" sz="1700" dirty="0"/>
          </a:p>
        </p:txBody>
      </p:sp>
      <p:sp>
        <p:nvSpPr>
          <p:cNvPr id="16" name="Text 14"/>
          <p:cNvSpPr txBox="1"/>
          <p:nvPr/>
        </p:nvSpPr>
        <p:spPr>
          <a:xfrm>
            <a:off x="1188720" y="4279392"/>
            <a:ext cx="4572000" cy="868680"/>
          </a:xfrm>
          <a:prstGeom prst="rect">
            <a:avLst/>
          </a:prstGeom>
          <a:noFill/>
          <a:ln/>
        </p:spPr>
        <p:txBody>
          <a:bodyPr wrap="square" lIns="0" tIns="0" rIns="0" bIns="0" rtlCol="0" anchor="ctr"/>
          <a:lstStyle/>
          <a:p>
            <a:pPr indent="0" marL="0">
              <a:lnSpc>
                <a:spcPct val="110000"/>
              </a:lnSpc>
              <a:buNone/>
            </a:pPr>
            <a:r>
              <a:rPr lang="en-US" sz="1350" dirty="0">
                <a:solidFill>
                  <a:srgbClr val="5F6F66"/>
                </a:solidFill>
                <a:latin typeface="Calibri" pitchFamily="34" charset="0"/>
                <a:ea typeface="Calibri" pitchFamily="34" charset="-122"/>
                <a:cs typeface="Calibri" pitchFamily="34" charset="-120"/>
              </a:rPr>
              <a:t>Seeds, cultures and samples that carry their own identity and keep it as they grow.</a:t>
            </a:r>
            <a:endParaRPr lang="en-US" sz="1350" dirty="0"/>
          </a:p>
        </p:txBody>
      </p:sp>
      <p:sp>
        <p:nvSpPr>
          <p:cNvPr id="17" name="Shape 15"/>
          <p:cNvSpPr/>
          <p:nvPr/>
        </p:nvSpPr>
        <p:spPr>
          <a:xfrm>
            <a:off x="6172200" y="3657600"/>
            <a:ext cx="5349240" cy="1691640"/>
          </a:xfrm>
          <a:prstGeom prst="roundRect">
            <a:avLst>
              <a:gd name="adj" fmla="val 5405"/>
            </a:avLst>
          </a:prstGeom>
          <a:solidFill>
            <a:srgbClr val="EDF2EE"/>
          </a:solidFill>
          <a:ln w="12700">
            <a:solidFill>
              <a:srgbClr val="EDF2EE"/>
            </a:solidFill>
            <a:prstDash val="solid"/>
          </a:ln>
        </p:spPr>
      </p:sp>
      <p:sp>
        <p:nvSpPr>
          <p:cNvPr id="18" name="Shape 16"/>
          <p:cNvSpPr/>
          <p:nvPr/>
        </p:nvSpPr>
        <p:spPr>
          <a:xfrm>
            <a:off x="6446520" y="3950208"/>
            <a:ext cx="146304" cy="146304"/>
          </a:xfrm>
          <a:prstGeom prst="ellipse">
            <a:avLst/>
          </a:prstGeom>
          <a:solidFill>
            <a:srgbClr val="1F8B5F"/>
          </a:solidFill>
          <a:ln w="12700">
            <a:solidFill>
              <a:srgbClr val="1F8B5F"/>
            </a:solidFill>
            <a:prstDash val="solid"/>
          </a:ln>
        </p:spPr>
      </p:sp>
      <p:sp>
        <p:nvSpPr>
          <p:cNvPr id="19" name="Text 17"/>
          <p:cNvSpPr txBox="1"/>
          <p:nvPr/>
        </p:nvSpPr>
        <p:spPr>
          <a:xfrm>
            <a:off x="6720840" y="3858768"/>
            <a:ext cx="4572000" cy="347472"/>
          </a:xfrm>
          <a:prstGeom prst="rect">
            <a:avLst/>
          </a:prstGeom>
          <a:noFill/>
          <a:ln/>
        </p:spPr>
        <p:txBody>
          <a:bodyPr wrap="square" lIns="0" tIns="0" rIns="0" bIns="0" rtlCol="0" anchor="ctr"/>
          <a:lstStyle/>
          <a:p>
            <a:pPr indent="0" marL="0">
              <a:buNone/>
            </a:pPr>
            <a:r>
              <a:rPr lang="en-US" sz="1700" b="1" dirty="0">
                <a:solidFill>
                  <a:srgbClr val="132018"/>
                </a:solidFill>
                <a:latin typeface="Cambria" pitchFamily="34" charset="0"/>
                <a:ea typeface="Cambria" pitchFamily="34" charset="-122"/>
                <a:cs typeface="Cambria" pitchFamily="34" charset="-120"/>
              </a:rPr>
              <a:t>Anti-counterfeiting</a:t>
            </a:r>
            <a:endParaRPr lang="en-US" sz="1700" dirty="0"/>
          </a:p>
        </p:txBody>
      </p:sp>
      <p:sp>
        <p:nvSpPr>
          <p:cNvPr id="20" name="Text 18"/>
          <p:cNvSpPr txBox="1"/>
          <p:nvPr/>
        </p:nvSpPr>
        <p:spPr>
          <a:xfrm>
            <a:off x="6720840" y="4279392"/>
            <a:ext cx="4572000" cy="868680"/>
          </a:xfrm>
          <a:prstGeom prst="rect">
            <a:avLst/>
          </a:prstGeom>
          <a:noFill/>
          <a:ln/>
        </p:spPr>
        <p:txBody>
          <a:bodyPr wrap="square" lIns="0" tIns="0" rIns="0" bIns="0" rtlCol="0" anchor="ctr"/>
          <a:lstStyle/>
          <a:p>
            <a:pPr indent="0" marL="0">
              <a:lnSpc>
                <a:spcPct val="110000"/>
              </a:lnSpc>
              <a:buNone/>
            </a:pPr>
            <a:r>
              <a:rPr lang="en-US" sz="1350" dirty="0">
                <a:solidFill>
                  <a:srgbClr val="5F6F66"/>
                </a:solidFill>
                <a:latin typeface="Calibri" pitchFamily="34" charset="0"/>
                <a:ea typeface="Calibri" pitchFamily="34" charset="-122"/>
                <a:cs typeface="Calibri" pitchFamily="34" charset="-120"/>
              </a:rPr>
              <a:t>A mark that is very hard to copy, because copying it means copying life.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132018"/>
                </a:solidFill>
                <a:latin typeface="Cambria" pitchFamily="34" charset="0"/>
                <a:ea typeface="Cambria" pitchFamily="34" charset="-122"/>
                <a:cs typeface="Cambria" pitchFamily="34" charset="-120"/>
              </a:rPr>
              <a:t>How much this can actually make</a:t>
            </a:r>
            <a:endParaRPr lang="en-US" sz="2300" dirty="0"/>
          </a:p>
        </p:txBody>
      </p:sp>
      <p:sp>
        <p:nvSpPr>
          <p:cNvPr id="4" name="Text 2"/>
          <p:cNvSpPr txBox="1"/>
          <p:nvPr/>
        </p:nvSpPr>
        <p:spPr>
          <a:xfrm>
            <a:off x="640080" y="1097280"/>
            <a:ext cx="10881360" cy="365760"/>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Four real figures. None of them invented, all of them checkable.</a:t>
            </a:r>
            <a:endParaRPr lang="en-US" sz="1400" dirty="0"/>
          </a:p>
        </p:txBody>
      </p:sp>
      <p:sp>
        <p:nvSpPr>
          <p:cNvPr id="5" name="Shape 3"/>
          <p:cNvSpPr/>
          <p:nvPr/>
        </p:nvSpPr>
        <p:spPr>
          <a:xfrm>
            <a:off x="640080" y="1645920"/>
            <a:ext cx="2606040" cy="2240280"/>
          </a:xfrm>
          <a:prstGeom prst="roundRect">
            <a:avLst>
              <a:gd name="adj" fmla="val 4082"/>
            </a:avLst>
          </a:prstGeom>
          <a:solidFill>
            <a:srgbClr val="EDF2EE"/>
          </a:solidFill>
          <a:ln w="12700">
            <a:solidFill>
              <a:srgbClr val="EDF2EE"/>
            </a:solidFill>
            <a:prstDash val="solid"/>
          </a:ln>
        </p:spPr>
      </p:sp>
      <p:sp>
        <p:nvSpPr>
          <p:cNvPr id="6" name="Text 4"/>
          <p:cNvSpPr txBox="1"/>
          <p:nvPr/>
        </p:nvSpPr>
        <p:spPr>
          <a:xfrm>
            <a:off x="859536" y="1847088"/>
            <a:ext cx="2167128" cy="713232"/>
          </a:xfrm>
          <a:prstGeom prst="rect">
            <a:avLst/>
          </a:prstGeom>
          <a:noFill/>
          <a:ln/>
        </p:spPr>
        <p:txBody>
          <a:bodyPr wrap="square" lIns="0" tIns="0" rIns="0" bIns="0" rtlCol="0" anchor="ctr"/>
          <a:lstStyle/>
          <a:p>
            <a:pPr indent="0" marL="0">
              <a:buNone/>
            </a:pPr>
            <a:r>
              <a:rPr lang="en-US" sz="3400" b="1" dirty="0">
                <a:solidFill>
                  <a:srgbClr val="1F8B5F"/>
                </a:solidFill>
                <a:latin typeface="Cambria" pitchFamily="34" charset="0"/>
                <a:ea typeface="Cambria" pitchFamily="34" charset="-122"/>
                <a:cs typeface="Cambria" pitchFamily="34" charset="-120"/>
              </a:rPr>
              <a:t>$305,000</a:t>
            </a:r>
            <a:endParaRPr lang="en-US" sz="3400" dirty="0"/>
          </a:p>
        </p:txBody>
      </p:sp>
      <p:sp>
        <p:nvSpPr>
          <p:cNvPr id="7" name="Text 5"/>
          <p:cNvSpPr txBox="1"/>
          <p:nvPr/>
        </p:nvSpPr>
        <p:spPr>
          <a:xfrm>
            <a:off x="859536" y="2560320"/>
            <a:ext cx="2167128" cy="1143000"/>
          </a:xfrm>
          <a:prstGeom prst="rect">
            <a:avLst/>
          </a:prstGeom>
          <a:noFill/>
          <a:ln/>
        </p:spPr>
        <p:txBody>
          <a:bodyPr wrap="square" lIns="0" tIns="0" rIns="0" bIns="0" rtlCol="0" anchor="t"/>
          <a:lstStyle/>
          <a:p>
            <a:pPr indent="0" marL="0">
              <a:lnSpc>
                <a:spcPct val="105000"/>
              </a:lnSpc>
              <a:buNone/>
            </a:pPr>
            <a:r>
              <a:rPr lang="en-US" sz="1250" dirty="0">
                <a:solidFill>
                  <a:srgbClr val="5F6F66"/>
                </a:solidFill>
                <a:latin typeface="Calibri" pitchFamily="34" charset="0"/>
                <a:ea typeface="Calibri" pitchFamily="34" charset="-122"/>
                <a:cs typeface="Calibri" pitchFamily="34" charset="-120"/>
              </a:rPr>
              <a:t>The most one US government grant gives for a first phase, over 6 to 18 months. Up to $1.25M more after that. This money does not cost you part of the company.</a:t>
            </a:r>
            <a:endParaRPr lang="en-US" sz="1250" dirty="0"/>
          </a:p>
        </p:txBody>
      </p:sp>
      <p:sp>
        <p:nvSpPr>
          <p:cNvPr id="8" name="Shape 6"/>
          <p:cNvSpPr/>
          <p:nvPr/>
        </p:nvSpPr>
        <p:spPr>
          <a:xfrm>
            <a:off x="3429000" y="1645920"/>
            <a:ext cx="2606040" cy="2240280"/>
          </a:xfrm>
          <a:prstGeom prst="roundRect">
            <a:avLst>
              <a:gd name="adj" fmla="val 4082"/>
            </a:avLst>
          </a:prstGeom>
          <a:solidFill>
            <a:srgbClr val="EDF2EE"/>
          </a:solidFill>
          <a:ln w="12700">
            <a:solidFill>
              <a:srgbClr val="EDF2EE"/>
            </a:solidFill>
            <a:prstDash val="solid"/>
          </a:ln>
        </p:spPr>
      </p:sp>
      <p:sp>
        <p:nvSpPr>
          <p:cNvPr id="9" name="Text 7"/>
          <p:cNvSpPr txBox="1"/>
          <p:nvPr/>
        </p:nvSpPr>
        <p:spPr>
          <a:xfrm>
            <a:off x="3648456" y="1847088"/>
            <a:ext cx="2167128" cy="713232"/>
          </a:xfrm>
          <a:prstGeom prst="rect">
            <a:avLst/>
          </a:prstGeom>
          <a:noFill/>
          <a:ln/>
        </p:spPr>
        <p:txBody>
          <a:bodyPr wrap="square" lIns="0" tIns="0" rIns="0" bIns="0" rtlCol="0" anchor="ctr"/>
          <a:lstStyle/>
          <a:p>
            <a:pPr indent="0" marL="0">
              <a:buNone/>
            </a:pPr>
            <a:r>
              <a:rPr lang="en-US" sz="3400" b="1" dirty="0">
                <a:solidFill>
                  <a:srgbClr val="132018"/>
                </a:solidFill>
                <a:latin typeface="Cambria" pitchFamily="34" charset="0"/>
                <a:ea typeface="Cambria" pitchFamily="34" charset="-122"/>
                <a:cs typeface="Cambria" pitchFamily="34" charset="-120"/>
              </a:rPr>
              <a:t>$37,700</a:t>
            </a:r>
            <a:endParaRPr lang="en-US" sz="3400" dirty="0"/>
          </a:p>
        </p:txBody>
      </p:sp>
      <p:sp>
        <p:nvSpPr>
          <p:cNvPr id="10" name="Text 8"/>
          <p:cNvSpPr txBox="1"/>
          <p:nvPr/>
        </p:nvSpPr>
        <p:spPr>
          <a:xfrm>
            <a:off x="3648456" y="2560320"/>
            <a:ext cx="2167128" cy="1143000"/>
          </a:xfrm>
          <a:prstGeom prst="rect">
            <a:avLst/>
          </a:prstGeom>
          <a:noFill/>
          <a:ln/>
        </p:spPr>
        <p:txBody>
          <a:bodyPr wrap="square" lIns="0" tIns="0" rIns="0" bIns="0" rtlCol="0" anchor="t"/>
          <a:lstStyle/>
          <a:p>
            <a:pPr indent="0" marL="0">
              <a:lnSpc>
                <a:spcPct val="105000"/>
              </a:lnSpc>
              <a:buNone/>
            </a:pPr>
            <a:r>
              <a:rPr lang="en-US" sz="1250" dirty="0">
                <a:solidFill>
                  <a:srgbClr val="5F6F66"/>
                </a:solidFill>
                <a:latin typeface="Calibri" pitchFamily="34" charset="0"/>
                <a:ea typeface="Calibri" pitchFamily="34" charset="-122"/>
                <a:cs typeface="Calibri" pitchFamily="34" charset="-120"/>
              </a:rPr>
              <a:t>Total raised so far by BioCompute, a company doing almost the same thing with bacteria. This is what this stage really looks like.</a:t>
            </a:r>
            <a:endParaRPr lang="en-US" sz="1250" dirty="0"/>
          </a:p>
        </p:txBody>
      </p:sp>
      <p:sp>
        <p:nvSpPr>
          <p:cNvPr id="11" name="Shape 9"/>
          <p:cNvSpPr/>
          <p:nvPr/>
        </p:nvSpPr>
        <p:spPr>
          <a:xfrm>
            <a:off x="6217920" y="1645920"/>
            <a:ext cx="2606040" cy="2240280"/>
          </a:xfrm>
          <a:prstGeom prst="roundRect">
            <a:avLst>
              <a:gd name="adj" fmla="val 4082"/>
            </a:avLst>
          </a:prstGeom>
          <a:solidFill>
            <a:srgbClr val="EDF2EE"/>
          </a:solidFill>
          <a:ln w="12700">
            <a:solidFill>
              <a:srgbClr val="EDF2EE"/>
            </a:solidFill>
            <a:prstDash val="solid"/>
          </a:ln>
        </p:spPr>
      </p:sp>
      <p:sp>
        <p:nvSpPr>
          <p:cNvPr id="12" name="Text 10"/>
          <p:cNvSpPr txBox="1"/>
          <p:nvPr/>
        </p:nvSpPr>
        <p:spPr>
          <a:xfrm>
            <a:off x="6437376" y="1847088"/>
            <a:ext cx="2167128" cy="713232"/>
          </a:xfrm>
          <a:prstGeom prst="rect">
            <a:avLst/>
          </a:prstGeom>
          <a:noFill/>
          <a:ln/>
        </p:spPr>
        <p:txBody>
          <a:bodyPr wrap="square" lIns="0" tIns="0" rIns="0" bIns="0" rtlCol="0" anchor="ctr"/>
          <a:lstStyle/>
          <a:p>
            <a:pPr indent="0" marL="0">
              <a:buNone/>
            </a:pPr>
            <a:r>
              <a:rPr lang="en-US" sz="2800" b="1" dirty="0">
                <a:solidFill>
                  <a:srgbClr val="132018"/>
                </a:solidFill>
                <a:latin typeface="Cambria" pitchFamily="34" charset="0"/>
                <a:ea typeface="Cambria" pitchFamily="34" charset="-122"/>
                <a:cs typeface="Cambria" pitchFamily="34" charset="-120"/>
              </a:rPr>
              <a:t>$35 million</a:t>
            </a:r>
            <a:endParaRPr lang="en-US" sz="2800" dirty="0"/>
          </a:p>
        </p:txBody>
      </p:sp>
      <p:sp>
        <p:nvSpPr>
          <p:cNvPr id="13" name="Text 11"/>
          <p:cNvSpPr txBox="1"/>
          <p:nvPr/>
        </p:nvSpPr>
        <p:spPr>
          <a:xfrm>
            <a:off x="6437376" y="2560320"/>
            <a:ext cx="2167128" cy="1143000"/>
          </a:xfrm>
          <a:prstGeom prst="rect">
            <a:avLst/>
          </a:prstGeom>
          <a:noFill/>
          <a:ln/>
        </p:spPr>
        <p:txBody>
          <a:bodyPr wrap="square" lIns="0" tIns="0" rIns="0" bIns="0" rtlCol="0" anchor="t"/>
          <a:lstStyle/>
          <a:p>
            <a:pPr indent="0" marL="0">
              <a:lnSpc>
                <a:spcPct val="105000"/>
              </a:lnSpc>
              <a:buNone/>
            </a:pPr>
            <a:r>
              <a:rPr lang="en-US" sz="1250" dirty="0">
                <a:solidFill>
                  <a:srgbClr val="5F6F66"/>
                </a:solidFill>
                <a:latin typeface="Calibri" pitchFamily="34" charset="0"/>
                <a:ea typeface="Calibri" pitchFamily="34" charset="-122"/>
                <a:cs typeface="Calibri" pitchFamily="34" charset="-120"/>
              </a:rPr>
              <a:t>Raised in one round by Catalog, a DNA storage company with real machines. Roughly the ceiling of this field, after years of work.</a:t>
            </a:r>
            <a:endParaRPr lang="en-US" sz="1250" dirty="0"/>
          </a:p>
        </p:txBody>
      </p:sp>
      <p:sp>
        <p:nvSpPr>
          <p:cNvPr id="14" name="Shape 12"/>
          <p:cNvSpPr/>
          <p:nvPr/>
        </p:nvSpPr>
        <p:spPr>
          <a:xfrm>
            <a:off x="9006840" y="1645920"/>
            <a:ext cx="2606040" cy="2240280"/>
          </a:xfrm>
          <a:prstGeom prst="roundRect">
            <a:avLst>
              <a:gd name="adj" fmla="val 4082"/>
            </a:avLst>
          </a:prstGeom>
          <a:solidFill>
            <a:srgbClr val="EDF2EE"/>
          </a:solidFill>
          <a:ln w="12700">
            <a:solidFill>
              <a:srgbClr val="EDF2EE"/>
            </a:solidFill>
            <a:prstDash val="solid"/>
          </a:ln>
        </p:spPr>
      </p:sp>
      <p:sp>
        <p:nvSpPr>
          <p:cNvPr id="15" name="Text 13"/>
          <p:cNvSpPr txBox="1"/>
          <p:nvPr/>
        </p:nvSpPr>
        <p:spPr>
          <a:xfrm>
            <a:off x="9226296" y="1847088"/>
            <a:ext cx="2167128" cy="713232"/>
          </a:xfrm>
          <a:prstGeom prst="rect">
            <a:avLst/>
          </a:prstGeom>
          <a:noFill/>
          <a:ln/>
        </p:spPr>
        <p:txBody>
          <a:bodyPr wrap="square" lIns="0" tIns="0" rIns="0" bIns="0" rtlCol="0" anchor="ctr"/>
          <a:lstStyle/>
          <a:p>
            <a:pPr indent="0" marL="0">
              <a:buNone/>
            </a:pPr>
            <a:r>
              <a:rPr lang="en-US" sz="3400" b="1" dirty="0">
                <a:solidFill>
                  <a:srgbClr val="C8453C"/>
                </a:solidFill>
                <a:latin typeface="Cambria" pitchFamily="34" charset="0"/>
                <a:ea typeface="Cambria" pitchFamily="34" charset="-122"/>
                <a:cs typeface="Cambria" pitchFamily="34" charset="-120"/>
              </a:rPr>
              <a:t>$0</a:t>
            </a:r>
            <a:endParaRPr lang="en-US" sz="3400" dirty="0"/>
          </a:p>
        </p:txBody>
      </p:sp>
      <p:sp>
        <p:nvSpPr>
          <p:cNvPr id="16" name="Text 14"/>
          <p:cNvSpPr txBox="1"/>
          <p:nvPr/>
        </p:nvSpPr>
        <p:spPr>
          <a:xfrm>
            <a:off x="9226296" y="2560320"/>
            <a:ext cx="2167128" cy="1143000"/>
          </a:xfrm>
          <a:prstGeom prst="rect">
            <a:avLst/>
          </a:prstGeom>
          <a:noFill/>
          <a:ln/>
        </p:spPr>
        <p:txBody>
          <a:bodyPr wrap="square" lIns="0" tIns="0" rIns="0" bIns="0" rtlCol="0" anchor="t"/>
          <a:lstStyle/>
          <a:p>
            <a:pPr indent="0" marL="0">
              <a:lnSpc>
                <a:spcPct val="105000"/>
              </a:lnSpc>
              <a:buNone/>
            </a:pPr>
            <a:r>
              <a:rPr lang="en-US" sz="1250" dirty="0">
                <a:solidFill>
                  <a:srgbClr val="5F6F66"/>
                </a:solidFill>
                <a:latin typeface="Calibri" pitchFamily="34" charset="0"/>
                <a:ea typeface="Calibri" pitchFamily="34" charset="-122"/>
                <a:cs typeface="Calibri" pitchFamily="34" charset="-120"/>
              </a:rPr>
              <a:t>Sales in this field today, a decade after the first demonstrations. Anyone who quotes you revenue is selling you something.</a:t>
            </a:r>
            <a:endParaRPr lang="en-US" sz="1250" dirty="0"/>
          </a:p>
        </p:txBody>
      </p:sp>
      <p:sp>
        <p:nvSpPr>
          <p:cNvPr id="17" name="Shape 15"/>
          <p:cNvSpPr/>
          <p:nvPr/>
        </p:nvSpPr>
        <p:spPr>
          <a:xfrm>
            <a:off x="640080" y="4160520"/>
            <a:ext cx="10881360" cy="1417320"/>
          </a:xfrm>
          <a:prstGeom prst="roundRect">
            <a:avLst>
              <a:gd name="adj" fmla="val 6452"/>
            </a:avLst>
          </a:prstGeom>
          <a:solidFill>
            <a:srgbClr val="132018"/>
          </a:solidFill>
          <a:ln w="12700">
            <a:solidFill>
              <a:srgbClr val="132018"/>
            </a:solidFill>
            <a:prstDash val="solid"/>
          </a:ln>
        </p:spPr>
      </p:sp>
      <p:sp>
        <p:nvSpPr>
          <p:cNvPr id="18" name="Text 16"/>
          <p:cNvSpPr txBox="1"/>
          <p:nvPr/>
        </p:nvSpPr>
        <p:spPr>
          <a:xfrm>
            <a:off x="960120" y="4343400"/>
            <a:ext cx="10241280" cy="320040"/>
          </a:xfrm>
          <a:prstGeom prst="rect">
            <a:avLst/>
          </a:prstGeom>
          <a:noFill/>
          <a:ln/>
        </p:spPr>
        <p:txBody>
          <a:bodyPr wrap="square" lIns="0" tIns="0" rIns="0" bIns="0" rtlCol="0" anchor="ctr"/>
          <a:lstStyle/>
          <a:p>
            <a:pPr indent="0" marL="0">
              <a:buNone/>
            </a:pPr>
            <a:r>
              <a:rPr lang="en-US" sz="1100" b="1" spc="140" kern="0" dirty="0">
                <a:solidFill>
                  <a:srgbClr val="1F8B5F"/>
                </a:solidFill>
                <a:latin typeface="Calibri" pitchFamily="34" charset="0"/>
                <a:ea typeface="Calibri" pitchFamily="34" charset="-122"/>
                <a:cs typeface="Calibri" pitchFamily="34" charset="-120"/>
              </a:rPr>
              <a:t>The number to hold in your head</a:t>
            </a:r>
            <a:endParaRPr lang="en-US" sz="1100" dirty="0"/>
          </a:p>
        </p:txBody>
      </p:sp>
      <p:sp>
        <p:nvSpPr>
          <p:cNvPr id="19" name="Text 17"/>
          <p:cNvSpPr txBox="1"/>
          <p:nvPr/>
        </p:nvSpPr>
        <p:spPr>
          <a:xfrm>
            <a:off x="960120" y="4681728"/>
            <a:ext cx="10241280" cy="777240"/>
          </a:xfrm>
          <a:prstGeom prst="rect">
            <a:avLst/>
          </a:prstGeom>
          <a:noFill/>
          <a:ln/>
        </p:spPr>
        <p:txBody>
          <a:bodyPr wrap="square" lIns="0" tIns="0" rIns="0" bIns="0" rtlCol="0" anchor="ctr"/>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Over the next two to three years, a good outcome is $300,000 to $2 million, almost all of it from grants, and nothing from sales. Millions in revenue is not on the table until the lab test comes back positive and somebody builds a real device.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018"/>
        </a:solidFill>
      </p:bgPr>
    </p:bg>
    <p:spTree>
      <p:nvGrpSpPr>
        <p:cNvPr id="1" name=""/>
        <p:cNvGrpSpPr/>
        <p:nvPr/>
      </p:nvGrpSpPr>
      <p:grpSpPr>
        <a:xfrm>
          <a:off x="0" y="0"/>
          <a:ext cx="0" cy="0"/>
          <a:chOff x="0" y="0"/>
          <a:chExt cx="0" cy="0"/>
        </a:xfrm>
      </p:grpSpPr>
      <p:sp>
        <p:nvSpPr>
          <p:cNvPr id="2" name="Shape 0"/>
          <p:cNvSpPr/>
          <p:nvPr/>
        </p:nvSpPr>
        <p:spPr>
          <a:xfrm>
            <a:off x="640080" y="603504"/>
            <a:ext cx="155448" cy="155448"/>
          </a:xfrm>
          <a:prstGeom prst="ellipse">
            <a:avLst/>
          </a:prstGeom>
          <a:solidFill>
            <a:srgbClr val="1F8B5F"/>
          </a:solidFill>
          <a:ln w="12700">
            <a:solidFill>
              <a:srgbClr val="1F8B5F"/>
            </a:solidFill>
            <a:prstDash val="solid"/>
          </a:ln>
        </p:spPr>
      </p:sp>
      <p:sp>
        <p:nvSpPr>
          <p:cNvPr id="3" name="Text 1"/>
          <p:cNvSpPr txBox="1"/>
          <p:nvPr/>
        </p:nvSpPr>
        <p:spPr>
          <a:xfrm>
            <a:off x="932688" y="502920"/>
            <a:ext cx="10588752"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What to watch, on your side</a:t>
            </a:r>
            <a:endParaRPr lang="en-US" sz="2300" dirty="0"/>
          </a:p>
        </p:txBody>
      </p:sp>
      <p:sp>
        <p:nvSpPr>
          <p:cNvPr id="4" name="Shape 2"/>
          <p:cNvSpPr/>
          <p:nvPr/>
        </p:nvSpPr>
        <p:spPr>
          <a:xfrm>
            <a:off x="640080" y="1435608"/>
            <a:ext cx="146304" cy="146304"/>
          </a:xfrm>
          <a:prstGeom prst="ellipse">
            <a:avLst/>
          </a:prstGeom>
          <a:solidFill>
            <a:srgbClr val="1F8B5F"/>
          </a:solidFill>
          <a:ln w="12700">
            <a:solidFill>
              <a:srgbClr val="1F8B5F"/>
            </a:solidFill>
            <a:prstDash val="solid"/>
          </a:ln>
        </p:spPr>
      </p:sp>
      <p:sp>
        <p:nvSpPr>
          <p:cNvPr id="5" name="Text 3"/>
          <p:cNvSpPr txBox="1"/>
          <p:nvPr/>
        </p:nvSpPr>
        <p:spPr>
          <a:xfrm>
            <a:off x="960120" y="1325880"/>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first lab test</a:t>
            </a:r>
            <a:endParaRPr lang="en-US" sz="1600" dirty="0"/>
          </a:p>
        </p:txBody>
      </p:sp>
      <p:sp>
        <p:nvSpPr>
          <p:cNvPr id="6" name="Text 4"/>
          <p:cNvSpPr txBox="1"/>
          <p:nvPr/>
        </p:nvSpPr>
        <p:spPr>
          <a:xfrm>
            <a:off x="4389120" y="1325880"/>
            <a:ext cx="7132320" cy="731520"/>
          </a:xfrm>
          <a:prstGeom prst="rect">
            <a:avLst/>
          </a:prstGeom>
          <a:noFill/>
          <a:ln/>
        </p:spPr>
        <p:txBody>
          <a:bodyPr wrap="square" lIns="0" tIns="0" rIns="0" bIns="0" rtlCol="0" anchor="ctr"/>
          <a:lstStyle/>
          <a:p>
            <a:pPr indent="0" marL="0">
              <a:lnSpc>
                <a:spcPct val="110000"/>
              </a:lnSpc>
              <a:buNone/>
            </a:pPr>
            <a:r>
              <a:rPr lang="en-US" sz="1400" dirty="0">
                <a:solidFill>
                  <a:srgbClr val="B9C7BF"/>
                </a:solidFill>
                <a:latin typeface="Calibri" pitchFamily="34" charset="0"/>
                <a:ea typeface="Calibri" pitchFamily="34" charset="-122"/>
                <a:cs typeface="Calibri" pitchFamily="34" charset="-120"/>
              </a:rPr>
              <a:t>Roughly $2,000 to $5,000. A planning estimate, not a quote from a lab yet.</a:t>
            </a:r>
            <a:endParaRPr lang="en-US" sz="1400" dirty="0"/>
          </a:p>
        </p:txBody>
      </p:sp>
      <p:sp>
        <p:nvSpPr>
          <p:cNvPr id="7" name="Shape 5"/>
          <p:cNvSpPr/>
          <p:nvPr/>
        </p:nvSpPr>
        <p:spPr>
          <a:xfrm>
            <a:off x="640080" y="2395728"/>
            <a:ext cx="146304" cy="146304"/>
          </a:xfrm>
          <a:prstGeom prst="ellipse">
            <a:avLst/>
          </a:prstGeom>
          <a:solidFill>
            <a:srgbClr val="1F8B5F"/>
          </a:solidFill>
          <a:ln w="12700">
            <a:solidFill>
              <a:srgbClr val="1F8B5F"/>
            </a:solidFill>
            <a:prstDash val="solid"/>
          </a:ln>
        </p:spPr>
      </p:sp>
      <p:sp>
        <p:nvSpPr>
          <p:cNvPr id="8" name="Text 6"/>
          <p:cNvSpPr txBox="1"/>
          <p:nvPr/>
        </p:nvSpPr>
        <p:spPr>
          <a:xfrm>
            <a:off x="960120" y="2286000"/>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Patent fees</a:t>
            </a:r>
            <a:endParaRPr lang="en-US" sz="1600" dirty="0"/>
          </a:p>
        </p:txBody>
      </p:sp>
      <p:sp>
        <p:nvSpPr>
          <p:cNvPr id="9" name="Text 7"/>
          <p:cNvSpPr txBox="1"/>
          <p:nvPr/>
        </p:nvSpPr>
        <p:spPr>
          <a:xfrm>
            <a:off x="4389120" y="2286000"/>
            <a:ext cx="7132320" cy="731520"/>
          </a:xfrm>
          <a:prstGeom prst="rect">
            <a:avLst/>
          </a:prstGeom>
          <a:noFill/>
          <a:ln/>
        </p:spPr>
        <p:txBody>
          <a:bodyPr wrap="square" lIns="0" tIns="0" rIns="0" bIns="0" rtlCol="0" anchor="ctr"/>
          <a:lstStyle/>
          <a:p>
            <a:pPr indent="0" marL="0">
              <a:lnSpc>
                <a:spcPct val="110000"/>
              </a:lnSpc>
              <a:buNone/>
            </a:pPr>
            <a:r>
              <a:rPr lang="en-US" sz="1400" dirty="0">
                <a:solidFill>
                  <a:srgbClr val="B9C7BF"/>
                </a:solidFill>
                <a:latin typeface="Calibri" pitchFamily="34" charset="0"/>
                <a:ea typeface="Calibri" pitchFamily="34" charset="-122"/>
                <a:cs typeface="Calibri" pitchFamily="34" charset="-120"/>
              </a:rPr>
              <a:t>Ongoing, and the main real expense so far.</a:t>
            </a:r>
            <a:endParaRPr lang="en-US" sz="1400" dirty="0"/>
          </a:p>
        </p:txBody>
      </p:sp>
      <p:sp>
        <p:nvSpPr>
          <p:cNvPr id="10" name="Shape 8"/>
          <p:cNvSpPr/>
          <p:nvPr/>
        </p:nvSpPr>
        <p:spPr>
          <a:xfrm>
            <a:off x="640080" y="3355848"/>
            <a:ext cx="146304" cy="146304"/>
          </a:xfrm>
          <a:prstGeom prst="ellipse">
            <a:avLst/>
          </a:prstGeom>
          <a:solidFill>
            <a:srgbClr val="1F8B5F"/>
          </a:solidFill>
          <a:ln w="12700">
            <a:solidFill>
              <a:srgbClr val="1F8B5F"/>
            </a:solidFill>
            <a:prstDash val="solid"/>
          </a:ln>
        </p:spPr>
      </p:sp>
      <p:sp>
        <p:nvSpPr>
          <p:cNvPr id="11" name="Text 9"/>
          <p:cNvSpPr txBox="1"/>
          <p:nvPr/>
        </p:nvSpPr>
        <p:spPr>
          <a:xfrm>
            <a:off x="960120" y="3246120"/>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One deadline question</a:t>
            </a:r>
            <a:endParaRPr lang="en-US" sz="1600" dirty="0"/>
          </a:p>
        </p:txBody>
      </p:sp>
      <p:sp>
        <p:nvSpPr>
          <p:cNvPr id="12" name="Text 10"/>
          <p:cNvSpPr txBox="1"/>
          <p:nvPr/>
        </p:nvSpPr>
        <p:spPr>
          <a:xfrm>
            <a:off x="4389120" y="3246120"/>
            <a:ext cx="7132320" cy="731520"/>
          </a:xfrm>
          <a:prstGeom prst="rect">
            <a:avLst/>
          </a:prstGeom>
          <a:noFill/>
          <a:ln/>
        </p:spPr>
        <p:txBody>
          <a:bodyPr wrap="square" lIns="0" tIns="0" rIns="0" bIns="0" rtlCol="0" anchor="ctr"/>
          <a:lstStyle/>
          <a:p>
            <a:pPr indent="0" marL="0">
              <a:lnSpc>
                <a:spcPct val="110000"/>
              </a:lnSpc>
              <a:buNone/>
            </a:pPr>
            <a:r>
              <a:rPr lang="en-US" sz="1400" dirty="0">
                <a:solidFill>
                  <a:srgbClr val="B9C7BF"/>
                </a:solidFill>
                <a:latin typeface="Calibri" pitchFamily="34" charset="0"/>
                <a:ea typeface="Calibri" pitchFamily="34" charset="-122"/>
                <a:cs typeface="Calibri" pitchFamily="34" charset="-120"/>
              </a:rPr>
              <a:t>Whether an early paper was ever posted publicly. That sets how long is left to file patents in some countries.</a:t>
            </a:r>
            <a:endParaRPr lang="en-US" sz="1400" dirty="0"/>
          </a:p>
        </p:txBody>
      </p:sp>
      <p:sp>
        <p:nvSpPr>
          <p:cNvPr id="13" name="Text 11"/>
          <p:cNvSpPr txBox="1"/>
          <p:nvPr/>
        </p:nvSpPr>
        <p:spPr>
          <a:xfrm>
            <a:off x="640080" y="4434840"/>
            <a:ext cx="10881360" cy="914400"/>
          </a:xfrm>
          <a:prstGeom prst="rect">
            <a:avLst/>
          </a:prstGeom>
          <a:noFill/>
          <a:ln/>
        </p:spPr>
        <p:txBody>
          <a:bodyPr wrap="square" lIns="0" tIns="0" rIns="0" bIns="0" rtlCol="0" anchor="ctr"/>
          <a:lstStyle/>
          <a:p>
            <a:pPr indent="0" marL="0">
              <a:lnSpc>
                <a:spcPct val="115000"/>
              </a:lnSpc>
              <a:buNone/>
            </a:pPr>
            <a:r>
              <a:rPr lang="en-US" sz="1400" i="1" dirty="0">
                <a:solidFill>
                  <a:srgbClr val="FFFFFF"/>
                </a:solidFill>
                <a:latin typeface="Calibri" pitchFamily="34" charset="0"/>
                <a:ea typeface="Calibri" pitchFamily="34" charset="-122"/>
                <a:cs typeface="Calibri" pitchFamily="34" charset="-120"/>
              </a:rPr>
              <a:t>And the part nobody likes saying out loud: most research companies at this stage never reach that ceiling. The whole point of being careful is that if it fails, it fails cheaply and early, on a $3,000 test instead of a $3,000,000 one.</a:t>
            </a:r>
            <a:endParaRPr lang="en-US" sz="1400" dirty="0"/>
          </a:p>
        </p:txBody>
      </p:sp>
      <p:sp>
        <p:nvSpPr>
          <p:cNvPr id="14" name="Text 12"/>
          <p:cNvSpPr txBox="1"/>
          <p:nvPr/>
        </p:nvSpPr>
        <p:spPr>
          <a:xfrm>
            <a:off x="640080" y="5577840"/>
            <a:ext cx="10881360" cy="822960"/>
          </a:xfrm>
          <a:prstGeom prst="rect">
            <a:avLst/>
          </a:prstGeom>
          <a:noFill/>
          <a:ln/>
        </p:spPr>
        <p:txBody>
          <a:bodyPr wrap="square" lIns="0" tIns="0" rIns="0" bIns="0" rtlCol="0" anchor="ctr"/>
          <a:lstStyle/>
          <a:p>
            <a:pPr indent="0" marL="0">
              <a:lnSpc>
                <a:spcPct val="112000"/>
              </a:lnSpc>
              <a:buNone/>
            </a:pPr>
            <a:r>
              <a:rPr lang="en-US" sz="1500" dirty="0">
                <a:solidFill>
                  <a:srgbClr val="1F8B5F"/>
                </a:solidFill>
                <a:latin typeface="Cambria" pitchFamily="34" charset="0"/>
                <a:ea typeface="Cambria" pitchFamily="34" charset="-122"/>
                <a:cs typeface="Cambria" pitchFamily="34" charset="-120"/>
              </a:rPr>
              <a:t>She is trying to store a file inside something alive, because living things copy and repair themselves and our machines do not. The one test that decides whether it is real has not been run yet.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Acheron, in plain language</dc:title>
  <dc:subject>Data that heals itself</dc:subject>
  <dc:creator>Acheron</dc:creator>
  <cp:lastModifiedBy>Acheron</cp:lastModifiedBy>
  <cp:revision>1</cp:revision>
  <dcterms:created xsi:type="dcterms:W3CDTF">2026-09-21T05:49:47Z</dcterms:created>
  <dcterms:modified xsi:type="dcterms:W3CDTF">2026-09-21T05:49:47Z</dcterms:modified>
</cp:coreProperties>
</file>