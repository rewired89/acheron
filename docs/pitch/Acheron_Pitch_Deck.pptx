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B77"/>
                </a:solidFill>
                <a:latin typeface="Arial"/>
              </a:defRPr>
            </a:pPr>
            <a:r>
              <a:rPr sz="1200" b="0" i="0" u="none" strike="noStrike">
                <a:solidFill>
                  <a:srgbClr val="5B6B77"/>
                </a:solidFill>
                <a:latin typeface="Arial"/>
              </a:rPr>
              <a:t>All three numerically tie at ~2% surviving, the number alone is misleading</a:t>
            </a:r>
          </a:p>
        </c:rich>
      </c:tx>
      <c:layout/>
      <c:overlay val="0"/>
    </c:title>
    <c:autoTitleDeleted val="0"/>
    <c:plotArea>
      <c:layout/>
      <c:barChart>
        <c:barDir val="col"/>
        <c:grouping val="clustered"/>
        <c:varyColors val="0"/>
        <c:ser>
          <c:idx val="0"/>
          <c:order val="0"/>
          <c:tx>
            <c:strRef>
              <c:f>Sheet1!$B$1</c:f>
              <c:strCache>
                <c:ptCount val="1"/>
                <c:pt idx="0">
                  <c:v>Recovery threshold (% surviving cells needed for ≥70% fidelity)</c:v>
                </c:pt>
              </c:strCache>
            </c:strRef>
          </c:tx>
          <c:spPr>
            <a:solidFill>
              <a:srgbClr val="2EC4B6"/>
            </a:solidFill>
            <a:effectLst/>
          </c:spPr>
          <c:invertIfNegative val="0"/>
          <c:dLbls>
            <c:numFmt formatCode="#,##0" sourceLinked="0"/>
            <c:txPr>
              <a:bodyPr/>
              <a:lstStyle/>
              <a:p>
                <a:pPr>
                  <a:defRPr b="0" i="0" strike="noStrike" sz="1200" u="none">
                    <a:solidFill>
                      <a:srgbClr val="16232F"/>
                    </a:solidFill>
                    <a:latin typeface="Arial"/>
                  </a:defRPr>
                </a:pPr>
              </a:p>
            </c:txPr>
            <c:showLegendKey val="0"/>
            <c:showVal val="1"/>
            <c:showCatName val="0"/>
            <c:showSerName val="0"/>
            <c:showPercent val="0"/>
            <c:showBubbleSize val="0"/>
            <c:showLeaderLines val="0"/>
          </c:dLbls>
          <c:cat>
            <c:multiLvlStrRef>
              <c:f>Sheet1!$A$2:$A$4</c:f>
              <c:multiLvlStrCache>
                <c:ptCount val="3"/>
                <c:lvl>
                  <c:pt idx="0">
                    <c:v>B. subtilis,
engineered circuit</c:v>
                  </c:pt>
                  <c:pt idx="1">
                    <c:v>B. subtilis,
methylation</c:v>
                  </c:pt>
                  <c:pt idx="2">
                    <c:v>Planarian,
bioelectric circuit</c:v>
                  </c:pt>
                </c:lvl>
              </c:multiLvlStrCache>
            </c:multiLvlStrRef>
          </c:cat>
          <c:val>
            <c:numRef>
              <c:f>Sheet1!$B$2:$B$4</c:f>
              <c:numCache>
                <c:formatCode>General</c:formatCode>
                <c:ptCount val="3"/>
                <c:pt idx="0">
                  <c:v>2</c:v>
                </c:pt>
                <c:pt idx="1">
                  <c:v>2</c:v>
                </c:pt>
                <c:pt idx="2">
                  <c:v>2</c:v>
                </c:pt>
              </c:numCache>
            </c:numRef>
          </c:val>
        </c:ser>
        <c:dLbls>
          <c:numFmt formatCode="#,##0" sourceLinked="0"/>
          <c:txPr>
            <a:bodyPr/>
            <a:lstStyle/>
            <a:p>
              <a:pPr>
                <a:defRPr b="0" i="0" strike="noStrike" sz="1200" u="none">
                  <a:solidFill>
                    <a:srgbClr val="1623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Shape 1"/>
          <p:cNvSpPr/>
          <p:nvPr/>
        </p:nvSpPr>
        <p:spPr>
          <a:xfrm>
            <a:off x="9692640" y="-1097280"/>
            <a:ext cx="5029200" cy="5029200"/>
          </a:xfrm>
          <a:prstGeom prst="ellipse">
            <a:avLst/>
          </a:prstGeom>
          <a:solidFill>
            <a:srgbClr val="2EC4B6">
              <a:alpha val="10000"/>
            </a:srgbClr>
          </a:solidFill>
          <a:ln/>
        </p:spPr>
      </p:sp>
      <p:sp>
        <p:nvSpPr>
          <p:cNvPr id="4" name="Shape 2"/>
          <p:cNvSpPr/>
          <p:nvPr/>
        </p:nvSpPr>
        <p:spPr>
          <a:xfrm>
            <a:off x="10789920" y="3291840"/>
            <a:ext cx="2926080" cy="2926080"/>
          </a:xfrm>
          <a:prstGeom prst="ellipse">
            <a:avLst/>
          </a:prstGeom>
          <a:solidFill>
            <a:srgbClr val="2EC4B6">
              <a:alpha val="12000"/>
            </a:srgbClr>
          </a:solidFill>
          <a:ln/>
        </p:spPr>
      </p:sp>
      <p:sp>
        <p:nvSpPr>
          <p:cNvPr id="5" name="Shape 3"/>
          <p:cNvSpPr/>
          <p:nvPr/>
        </p:nvSpPr>
        <p:spPr>
          <a:xfrm>
            <a:off x="-1371600" y="4389120"/>
            <a:ext cx="3657600" cy="3657600"/>
          </a:xfrm>
          <a:prstGeom prst="ellipse">
            <a:avLst/>
          </a:prstGeom>
          <a:solidFill>
            <a:srgbClr val="2EC4B6">
              <a:alpha val="8000"/>
            </a:srgbClr>
          </a:solidFill>
          <a:ln/>
        </p:spPr>
      </p:sp>
      <p:sp>
        <p:nvSpPr>
          <p:cNvPr id="6" name="Text 4"/>
          <p:cNvSpPr txBox="1"/>
          <p:nvPr/>
        </p:nvSpPr>
        <p:spPr>
          <a:xfrm>
            <a:off x="822960" y="914400"/>
            <a:ext cx="54864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INCUBATOR PITCH, SEPTEMBER 2026</a:t>
            </a:r>
            <a:endParaRPr lang="en-US" sz="1200" dirty="0"/>
          </a:p>
        </p:txBody>
      </p:sp>
      <p:sp>
        <p:nvSpPr>
          <p:cNvPr id="7" name="Text 5"/>
          <p:cNvSpPr txBox="1"/>
          <p:nvPr/>
        </p:nvSpPr>
        <p:spPr>
          <a:xfrm>
            <a:off x="777240" y="1371600"/>
            <a:ext cx="10058400" cy="118872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Acheron</a:t>
            </a:r>
            <a:endParaRPr lang="en-US" sz="6200" dirty="0"/>
          </a:p>
        </p:txBody>
      </p:sp>
      <p:sp>
        <p:nvSpPr>
          <p:cNvPr id="8" name="Text 6"/>
          <p:cNvSpPr txBox="1"/>
          <p:nvPr/>
        </p:nvSpPr>
        <p:spPr>
          <a:xfrm>
            <a:off x="822960" y="2514600"/>
            <a:ext cx="9601200" cy="640080"/>
          </a:xfrm>
          <a:prstGeom prst="rect">
            <a:avLst/>
          </a:prstGeom>
          <a:noFill/>
          <a:ln/>
        </p:spPr>
        <p:txBody>
          <a:bodyPr wrap="square" lIns="0" tIns="0" rIns="0" bIns="0" rtlCol="0" anchor="ctr"/>
          <a:lstStyle/>
          <a:p>
            <a:pPr indent="0" marL="0">
              <a:buNone/>
            </a:pPr>
            <a:r>
              <a:rPr lang="en-US" sz="2400" dirty="0">
                <a:solidFill>
                  <a:srgbClr val="CFE3E0"/>
                </a:solidFill>
                <a:latin typeface="Calibri" pitchFamily="34" charset="0"/>
                <a:ea typeface="Calibri" pitchFamily="34" charset="-122"/>
                <a:cs typeface="Calibri" pitchFamily="34" charset="-120"/>
              </a:rPr>
              <a:t>Self-Healing Bioelectric Memory</a:t>
            </a:r>
            <a:endParaRPr lang="en-US" sz="2400" dirty="0"/>
          </a:p>
        </p:txBody>
      </p:sp>
      <p:sp>
        <p:nvSpPr>
          <p:cNvPr id="9" name="Text 7"/>
          <p:cNvSpPr txBox="1"/>
          <p:nvPr/>
        </p:nvSpPr>
        <p:spPr>
          <a:xfrm>
            <a:off x="822960" y="3200400"/>
            <a:ext cx="8412480" cy="548640"/>
          </a:xfrm>
          <a:prstGeom prst="rect">
            <a:avLst/>
          </a:prstGeom>
          <a:noFill/>
          <a:ln/>
        </p:spPr>
        <p:txBody>
          <a:bodyPr wrap="square" lIns="0" tIns="0" rIns="0" bIns="0" rtlCol="0" anchor="ctr"/>
          <a:lstStyle/>
          <a:p>
            <a:pPr indent="0" marL="0">
              <a:buNone/>
            </a:pPr>
            <a:r>
              <a:rPr lang="en-US" sz="1400" i="1" dirty="0">
                <a:solidFill>
                  <a:srgbClr val="8FA6AE"/>
                </a:solidFill>
                <a:latin typeface="Calibri" pitchFamily="34" charset="0"/>
                <a:ea typeface="Calibri" pitchFamily="34" charset="-122"/>
                <a:cs typeface="Calibri" pitchFamily="34" charset="-120"/>
              </a:rPr>
              <a:t>Persistent, regenerative data storage in living cells, for places nobody can send a repair technician.</a:t>
            </a:r>
            <a:endParaRPr lang="en-US" sz="1400" dirty="0"/>
          </a:p>
        </p:txBody>
      </p:sp>
      <p:sp>
        <p:nvSpPr>
          <p:cNvPr id="10" name="Shape 8"/>
          <p:cNvSpPr/>
          <p:nvPr/>
        </p:nvSpPr>
        <p:spPr>
          <a:xfrm>
            <a:off x="822960" y="3977640"/>
            <a:ext cx="4937760" cy="0"/>
          </a:xfrm>
          <a:prstGeom prst="line">
            <a:avLst/>
          </a:prstGeom>
          <a:noFill/>
          <a:ln w="25400">
            <a:solidFill>
              <a:srgbClr val="2EC4B6"/>
            </a:solidFill>
            <a:prstDash val="solid"/>
          </a:ln>
        </p:spPr>
      </p:sp>
      <p:sp>
        <p:nvSpPr>
          <p:cNvPr id="11" name="Text 9"/>
          <p:cNvSpPr txBox="1"/>
          <p:nvPr/>
        </p:nvSpPr>
        <p:spPr>
          <a:xfrm>
            <a:off x="822960" y="4160520"/>
            <a:ext cx="6035040" cy="320040"/>
          </a:xfrm>
          <a:prstGeom prst="rect">
            <a:avLst/>
          </a:prstGeom>
          <a:noFill/>
          <a:ln/>
        </p:spPr>
        <p:txBody>
          <a:bodyPr wrap="square" lIns="0" tIns="0" rIns="0" bIns="0" rtlCol="0" anchor="ctr"/>
          <a:lstStyle/>
          <a:p>
            <a:pPr indent="0" marL="0">
              <a:buNone/>
            </a:pPr>
            <a:r>
              <a:rPr lang="en-US" sz="1300" dirty="0">
                <a:solidFill>
                  <a:srgbClr val="8FA6AE"/>
                </a:solidFill>
                <a:latin typeface="Calibri" pitchFamily="34" charset="0"/>
                <a:ea typeface="Calibri" pitchFamily="34" charset="-122"/>
                <a:cs typeface="Calibri" pitchFamily="34" charset="-120"/>
              </a:rPr>
              <a:t>Founder &amp; Lead Researcher: </a:t>
            </a:r>
            <a:pPr indent="0" marL="0">
              <a:buNone/>
            </a:pPr>
            <a:r>
              <a:rPr lang="en-US" sz="1300" b="1" dirty="0">
                <a:solidFill>
                  <a:srgbClr val="FFFFFF"/>
                </a:solidFill>
                <a:latin typeface="Calibri" pitchFamily="34" charset="0"/>
                <a:ea typeface="Calibri" pitchFamily="34" charset="-122"/>
                <a:cs typeface="Calibri" pitchFamily="34" charset="-120"/>
              </a:rPr>
              <a:t>Dayana Sanchez</a:t>
            </a:r>
            <a:endParaRPr lang="en-US" sz="1300" dirty="0"/>
          </a:p>
        </p:txBody>
      </p:sp>
      <p:sp>
        <p:nvSpPr>
          <p:cNvPr id="12" name="Text 10"/>
          <p:cNvSpPr txBox="1"/>
          <p:nvPr/>
        </p:nvSpPr>
        <p:spPr>
          <a:xfrm>
            <a:off x="822960" y="4480560"/>
            <a:ext cx="6035040" cy="320040"/>
          </a:xfrm>
          <a:prstGeom prst="rect">
            <a:avLst/>
          </a:prstGeom>
          <a:noFill/>
          <a:ln/>
        </p:spPr>
        <p:txBody>
          <a:bodyPr wrap="square" lIns="0" tIns="0" rIns="0" bIns="0" rtlCol="0" anchor="ctr"/>
          <a:lstStyle/>
          <a:p>
            <a:pPr indent="0" marL="0">
              <a:buNone/>
            </a:pPr>
            <a:r>
              <a:rPr lang="en-US" sz="1300" dirty="0">
                <a:solidFill>
                  <a:srgbClr val="8FA6AE"/>
                </a:solidFill>
                <a:latin typeface="Calibri" pitchFamily="34" charset="0"/>
                <a:ea typeface="Calibri" pitchFamily="34" charset="-122"/>
                <a:cs typeface="Calibri" pitchFamily="34" charset="-120"/>
              </a:rPr>
              <a:t>Contact: </a:t>
            </a:r>
            <a:pPr indent="0" marL="0">
              <a:buNone/>
            </a:pPr>
            <a:r>
              <a:rPr lang="en-US" sz="1300" dirty="0">
                <a:solidFill>
                  <a:srgbClr val="FFFFFF"/>
                </a:solidFill>
                <a:latin typeface="Calibri" pitchFamily="34" charset="0"/>
                <a:ea typeface="Calibri" pitchFamily="34" charset="-122"/>
                <a:cs typeface="Calibri" pitchFamily="34" charset="-120"/>
              </a:rPr>
              <a:t>sanchezleal1989@gmail.com</a:t>
            </a:r>
            <a:endParaRPr lang="en-US" sz="1300" dirty="0"/>
          </a:p>
        </p:txBody>
      </p:sp>
      <p:sp>
        <p:nvSpPr>
          <p:cNvPr id="13" name="Text 11"/>
          <p:cNvSpPr txBox="1"/>
          <p:nvPr/>
        </p:nvSpPr>
        <p:spPr>
          <a:xfrm>
            <a:off x="822960" y="4800600"/>
            <a:ext cx="6035040" cy="320040"/>
          </a:xfrm>
          <a:prstGeom prst="rect">
            <a:avLst/>
          </a:prstGeom>
          <a:noFill/>
          <a:ln/>
        </p:spPr>
        <p:txBody>
          <a:bodyPr wrap="square" lIns="0" tIns="0" rIns="0" bIns="0" rtlCol="0" anchor="ctr"/>
          <a:lstStyle/>
          <a:p>
            <a:pPr indent="0" marL="0">
              <a:buNone/>
            </a:pPr>
            <a:r>
              <a:rPr lang="en-US" sz="1300" dirty="0">
                <a:solidFill>
                  <a:srgbClr val="8FA6AE"/>
                </a:solidFill>
                <a:latin typeface="Calibri" pitchFamily="34" charset="0"/>
                <a:ea typeface="Calibri" pitchFamily="34" charset="-122"/>
                <a:cs typeface="Calibri" pitchFamily="34" charset="-120"/>
              </a:rPr>
              <a:t>Co-Founder, Head of Business: </a:t>
            </a:r>
            <a:pPr indent="0" marL="0">
              <a:buNone/>
            </a:pPr>
            <a:r>
              <a:rPr lang="en-US" sz="1300" b="1" dirty="0">
                <a:solidFill>
                  <a:srgbClr val="FFFFFF"/>
                </a:solidFill>
                <a:latin typeface="Calibri" pitchFamily="34" charset="0"/>
                <a:ea typeface="Calibri" pitchFamily="34" charset="-122"/>
                <a:cs typeface="Calibri" pitchFamily="34" charset="-120"/>
              </a:rPr>
              <a:t>Jacqueline Solano</a:t>
            </a:r>
            <a:endParaRPr lang="en-US" sz="1300" dirty="0"/>
          </a:p>
        </p:txBody>
      </p:sp>
      <p:sp>
        <p:nvSpPr>
          <p:cNvPr id="14" name="Text 12"/>
          <p:cNvSpPr txBox="1"/>
          <p:nvPr/>
        </p:nvSpPr>
        <p:spPr>
          <a:xfrm>
            <a:off x="822960" y="5120640"/>
            <a:ext cx="6035040" cy="320040"/>
          </a:xfrm>
          <a:prstGeom prst="rect">
            <a:avLst/>
          </a:prstGeom>
          <a:noFill/>
          <a:ln/>
        </p:spPr>
        <p:txBody>
          <a:bodyPr wrap="square" lIns="0" tIns="0" rIns="0" bIns="0" rtlCol="0" anchor="ctr"/>
          <a:lstStyle/>
          <a:p>
            <a:pPr indent="0" marL="0">
              <a:buNone/>
            </a:pPr>
            <a:r>
              <a:rPr lang="en-US" sz="1300" dirty="0">
                <a:solidFill>
                  <a:srgbClr val="8FA6AE"/>
                </a:solidFill>
                <a:latin typeface="Calibri" pitchFamily="34" charset="0"/>
                <a:ea typeface="Calibri" pitchFamily="34" charset="-122"/>
                <a:cs typeface="Calibri" pitchFamily="34" charset="-120"/>
              </a:rPr>
              <a:t>Contact: </a:t>
            </a:r>
            <a:pPr indent="0" marL="0">
              <a:buNone/>
            </a:pPr>
            <a:r>
              <a:rPr lang="en-US" sz="1300" dirty="0">
                <a:solidFill>
                  <a:srgbClr val="FFFFFF"/>
                </a:solidFill>
                <a:latin typeface="Calibri" pitchFamily="34" charset="0"/>
                <a:ea typeface="Calibri" pitchFamily="34" charset="-122"/>
                <a:cs typeface="Calibri" pitchFamily="34" charset="-120"/>
              </a:rPr>
              <a:t>jackiea.solano@gmail.com</a:t>
            </a:r>
            <a:endParaRPr lang="en-US" sz="1300" dirty="0"/>
          </a:p>
        </p:txBody>
      </p:sp>
      <p:sp>
        <p:nvSpPr>
          <p:cNvPr id="15" name="Text 13"/>
          <p:cNvSpPr txBox="1"/>
          <p:nvPr/>
        </p:nvSpPr>
        <p:spPr>
          <a:xfrm>
            <a:off x="822960" y="5440680"/>
            <a:ext cx="6035040" cy="320040"/>
          </a:xfrm>
          <a:prstGeom prst="rect">
            <a:avLst/>
          </a:prstGeom>
          <a:noFill/>
          <a:ln/>
        </p:spPr>
        <p:txBody>
          <a:bodyPr wrap="square" lIns="0" tIns="0" rIns="0" bIns="0" rtlCol="0" anchor="ctr"/>
          <a:lstStyle/>
          <a:p>
            <a:pPr indent="0" marL="0">
              <a:buNone/>
            </a:pPr>
            <a:r>
              <a:rPr lang="en-US" sz="1300" dirty="0">
                <a:solidFill>
                  <a:srgbClr val="8FA6AE"/>
                </a:solidFill>
                <a:latin typeface="Calibri" pitchFamily="34" charset="0"/>
                <a:ea typeface="Calibri" pitchFamily="34" charset="-122"/>
                <a:cs typeface="Calibri" pitchFamily="34" charset="-120"/>
              </a:rPr>
              <a:t>Repository: </a:t>
            </a:r>
            <a:pPr indent="0" marL="0">
              <a:buNone/>
            </a:pPr>
            <a:r>
              <a:rPr lang="en-US" sz="1300" dirty="0">
                <a:solidFill>
                  <a:srgbClr val="FFFFFF"/>
                </a:solidFill>
                <a:latin typeface="Calibri" pitchFamily="34" charset="0"/>
                <a:ea typeface="Calibri" pitchFamily="34" charset="-122"/>
                <a:cs typeface="Calibri" pitchFamily="34" charset="-120"/>
              </a:rPr>
              <a:t>github.com/rewired89/Acheron</a:t>
            </a:r>
            <a:endParaRPr lang="en-US" sz="1300" dirty="0"/>
          </a:p>
        </p:txBody>
      </p:sp>
      <p:sp>
        <p:nvSpPr>
          <p:cNvPr id="16" name="Text 1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2600" b="1" dirty="0">
                <a:solidFill>
                  <a:srgbClr val="16232F"/>
                </a:solidFill>
                <a:latin typeface="Cambria" pitchFamily="34" charset="0"/>
                <a:ea typeface="Cambria" pitchFamily="34" charset="-122"/>
                <a:cs typeface="Cambria" pitchFamily="34" charset="-120"/>
              </a:rPr>
              <a:t>Every biocomputing product today runs on neurons, cells built for speed, not for storage</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1828800"/>
        </p:xfrm>
        <a:graphic>
          <a:graphicData uri="http://schemas.openxmlformats.org/drawingml/2006/table">
            <a:tbl>
              <a:tblPr/>
              <a:tblGrid>
                <a:gridCol w="1965960"/>
                <a:gridCol w="1965960"/>
                <a:gridCol w="1965960"/>
                <a:gridCol w="19659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Substrate</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Lifespan</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r>
              <a:tr h="457200">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Cortical Labs</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Human neurons on silicon (CL-1)</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6 months</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$35,000 / unit</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457200">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Koniku</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Neuron-silicon sensing chips</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~2 years</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Not public</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457200">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FinalSpark</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Brain organoids</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Not public</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300" dirty="0">
                          <a:solidFill>
                            <a:srgbClr val="16232F"/>
                          </a:solidFill>
                          <a:latin typeface="Calibri" pitchFamily="34" charset="0"/>
                          <a:ea typeface="Calibri" pitchFamily="34" charset="-122"/>
                          <a:cs typeface="Calibri" pitchFamily="34" charset="-120"/>
                        </a:rPr>
                        <a:t>Cloud access only</a:t>
                      </a:r>
                      <a:endParaRPr lang="en-US" sz="13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bl>
          </a:graphicData>
        </a:graphic>
      </p:graphicFrame>
      <p:sp>
        <p:nvSpPr>
          <p:cNvPr id="5" name="Shape 2"/>
          <p:cNvSpPr/>
          <p:nvPr/>
        </p:nvSpPr>
        <p:spPr>
          <a:xfrm>
            <a:off x="8778240" y="1828800"/>
            <a:ext cx="2788920" cy="4206240"/>
          </a:xfrm>
          <a:prstGeom prst="roundRect">
            <a:avLst>
              <a:gd name="adj" fmla="val 2623"/>
            </a:avLst>
          </a:prstGeom>
          <a:solidFill>
            <a:srgbClr val="0B1F3A"/>
          </a:solidFill>
          <a:ln/>
        </p:spPr>
      </p:sp>
      <p:sp>
        <p:nvSpPr>
          <p:cNvPr id="6" name="Text 3"/>
          <p:cNvSpPr txBox="1"/>
          <p:nvPr/>
        </p:nvSpPr>
        <p:spPr>
          <a:xfrm>
            <a:off x="9006840" y="2057400"/>
            <a:ext cx="2377440" cy="822960"/>
          </a:xfrm>
          <a:prstGeom prst="rect">
            <a:avLst/>
          </a:prstGeom>
          <a:noFill/>
          <a:ln/>
        </p:spPr>
        <p:txBody>
          <a:bodyPr wrap="square" lIns="0" tIns="0" rIns="0" bIns="0" rtlCol="0" anchor="ctr"/>
          <a:lstStyle/>
          <a:p>
            <a:pPr indent="0" marL="0">
              <a:buNone/>
            </a:pPr>
            <a:r>
              <a:rPr lang="en-US" sz="1500" b="1" dirty="0">
                <a:solidFill>
                  <a:srgbClr val="2EC4B6"/>
                </a:solidFill>
                <a:latin typeface="Cambria" pitchFamily="34" charset="0"/>
                <a:ea typeface="Cambria" pitchFamily="34" charset="-122"/>
                <a:cs typeface="Cambria" pitchFamily="34" charset="-120"/>
              </a:rPr>
              <a:t>Why this fails for</a:t>
            </a:r>
            <a:endParaRPr lang="en-US" sz="1500" dirty="0"/>
          </a:p>
          <a:p>
            <a:pPr indent="0" marL="0">
              <a:buNone/>
            </a:pPr>
            <a:r>
              <a:rPr lang="en-US" sz="1500" b="1" dirty="0">
                <a:solidFill>
                  <a:srgbClr val="2EC4B6"/>
                </a:solidFill>
                <a:latin typeface="Cambria" pitchFamily="34" charset="0"/>
                <a:ea typeface="Cambria" pitchFamily="34" charset="-122"/>
                <a:cs typeface="Cambria" pitchFamily="34" charset="-120"/>
              </a:rPr>
              <a:t>long-duration storage</a:t>
            </a:r>
            <a:endParaRPr lang="en-US" sz="1500" dirty="0"/>
          </a:p>
        </p:txBody>
      </p:sp>
      <p:sp>
        <p:nvSpPr>
          <p:cNvPr id="7" name="Text 4"/>
          <p:cNvSpPr txBox="1"/>
          <p:nvPr/>
        </p:nvSpPr>
        <p:spPr>
          <a:xfrm>
            <a:off x="9006840" y="2880360"/>
            <a:ext cx="2377440" cy="29260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DCE7E5"/>
                </a:solidFill>
                <a:latin typeface="Calibri" pitchFamily="34" charset="0"/>
                <a:ea typeface="Calibri" pitchFamily="34" charset="-122"/>
                <a:cs typeface="Calibri" pitchFamily="34" charset="-120"/>
              </a:rPr>
              <a:t>Neurons need continuous energy to hold any signal at all</a:t>
            </a:r>
            <a:endParaRPr lang="en-US" sz="1200" dirty="0"/>
          </a:p>
          <a:p>
            <a:pPr marL="342900" indent="-342900">
              <a:spcAft>
                <a:spcPts val="1000"/>
              </a:spcAft>
              <a:buSzPct val="100000"/>
              <a:buChar char="•"/>
            </a:pPr>
            <a:r>
              <a:rPr lang="en-US" sz="1200" dirty="0">
                <a:solidFill>
                  <a:srgbClr val="DCE7E5"/>
                </a:solidFill>
                <a:latin typeface="Calibri" pitchFamily="34" charset="0"/>
                <a:ea typeface="Calibri" pitchFamily="34" charset="-122"/>
                <a:cs typeface="Calibri" pitchFamily="34" charset="-120"/>
              </a:rPr>
              <a:t>Fixed replacement clock, no self-repair, ever</a:t>
            </a:r>
            <a:endParaRPr lang="en-US" sz="1200" dirty="0"/>
          </a:p>
          <a:p>
            <a:pPr marL="342900" indent="-342900">
              <a:spcAft>
                <a:spcPts val="1000"/>
              </a:spcAft>
              <a:buSzPct val="100000"/>
              <a:buChar char="•"/>
            </a:pPr>
            <a:r>
              <a:rPr lang="en-US" sz="1200" dirty="0">
                <a:solidFill>
                  <a:srgbClr val="DCE7E5"/>
                </a:solidFill>
                <a:latin typeface="Calibri" pitchFamily="34" charset="0"/>
                <a:ea typeface="Calibri" pitchFamily="34" charset="-122"/>
                <a:cs typeface="Calibri" pitchFamily="34" charset="-120"/>
              </a:rPr>
              <a:t>Requires life support: temperature, pH, oxygen control</a:t>
            </a:r>
            <a:endParaRPr lang="en-US" sz="1200" dirty="0"/>
          </a:p>
          <a:p>
            <a:pPr marL="342900" indent="-342900">
              <a:spcAft>
                <a:spcPts val="1000"/>
              </a:spcAft>
              <a:buSzPct val="100000"/>
              <a:buChar char="•"/>
            </a:pPr>
            <a:r>
              <a:rPr lang="en-US" sz="1200" dirty="0">
                <a:solidFill>
                  <a:srgbClr val="DCE7E5"/>
                </a:solidFill>
                <a:latin typeface="Calibri" pitchFamily="34" charset="0"/>
                <a:ea typeface="Calibri" pitchFamily="34" charset="-122"/>
                <a:cs typeface="Calibri" pitchFamily="34" charset="-120"/>
              </a:rPr>
              <a:t>None of this survives radiation, vacuum, or physical damage</a:t>
            </a:r>
            <a:endParaRPr lang="en-US" sz="1200" dirty="0"/>
          </a:p>
        </p:txBody>
      </p:sp>
      <p:sp>
        <p:nvSpPr>
          <p:cNvPr id="8" name="Text 5"/>
          <p:cNvSpPr txBox="1"/>
          <p:nvPr/>
        </p:nvSpPr>
        <p:spPr>
          <a:xfrm>
            <a:off x="640080" y="3977640"/>
            <a:ext cx="7863840" cy="1463040"/>
          </a:xfrm>
          <a:prstGeom prst="rect">
            <a:avLst/>
          </a:prstGeom>
          <a:noFill/>
          <a:ln/>
        </p:spPr>
        <p:txBody>
          <a:bodyPr wrap="square" lIns="0" tIns="0" rIns="0" bIns="0" rtlCol="0" anchor="ctr"/>
          <a:lstStyle/>
          <a:p>
            <a:pPr indent="0" marL="0">
              <a:buNone/>
            </a:pPr>
            <a:r>
              <a:rPr lang="en-US" sz="1500" i="1" dirty="0">
                <a:solidFill>
                  <a:srgbClr val="5B6B77"/>
                </a:solidFill>
                <a:latin typeface="Calibri" pitchFamily="34" charset="0"/>
                <a:ea typeface="Calibri" pitchFamily="34" charset="-122"/>
                <a:cs typeface="Calibri" pitchFamily="34" charset="-120"/>
              </a:rPr>
              <a:t>Spacecraft, seafloor sensors, and remote infrastructure share one hard requirement both silicon and neurons fail: nobody can service the hardware in person.</a:t>
            </a:r>
            <a:endParaRPr lang="en-US" sz="1500" dirty="0"/>
          </a:p>
        </p:txBody>
      </p:sp>
      <p:sp>
        <p:nvSpPr>
          <p:cNvPr id="9" name="Text 6"/>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THE IDEA</a:t>
            </a:r>
            <a:endParaRPr lang="en-US" sz="1200" dirty="0"/>
          </a:p>
        </p:txBody>
      </p:sp>
      <p:sp>
        <p:nvSpPr>
          <p:cNvPr id="3" name="Text 1"/>
          <p:cNvSpPr txBox="1"/>
          <p:nvPr/>
        </p:nvSpPr>
        <p:spPr>
          <a:xfrm>
            <a:off x="640080" y="777240"/>
            <a:ext cx="10881360" cy="822960"/>
          </a:xfrm>
          <a:prstGeom prst="rect">
            <a:avLst/>
          </a:prstGeom>
          <a:noFill/>
          <a:ln/>
        </p:spPr>
        <p:txBody>
          <a:bodyPr wrap="square" lIns="0" tIns="0" rIns="0" bIns="0" rtlCol="0" anchor="ctr"/>
          <a:lstStyle/>
          <a:p>
            <a:pPr indent="0" marL="0">
              <a:buNone/>
            </a:pPr>
            <a:r>
              <a:rPr lang="en-US" sz="2500" b="1" dirty="0">
                <a:solidFill>
                  <a:srgbClr val="16232F"/>
                </a:solidFill>
                <a:latin typeface="Cambria" pitchFamily="34" charset="0"/>
                <a:ea typeface="Cambria" pitchFamily="34" charset="-122"/>
                <a:cs typeface="Cambria" pitchFamily="34" charset="-120"/>
              </a:rPr>
              <a:t>Some living tissue holds a voltage pattern for weeks, and regrows itself after damage</a:t>
            </a:r>
            <a:endParaRPr lang="en-US" sz="2500" dirty="0"/>
          </a:p>
        </p:txBody>
      </p:sp>
      <p:sp>
        <p:nvSpPr>
          <p:cNvPr id="4" name="Shape 2"/>
          <p:cNvSpPr/>
          <p:nvPr/>
        </p:nvSpPr>
        <p:spPr>
          <a:xfrm>
            <a:off x="64008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5" name="Shape 3"/>
          <p:cNvSpPr/>
          <p:nvPr/>
        </p:nvSpPr>
        <p:spPr>
          <a:xfrm>
            <a:off x="914400" y="2103120"/>
            <a:ext cx="502920" cy="502920"/>
          </a:xfrm>
          <a:prstGeom prst="ellipse">
            <a:avLst/>
          </a:prstGeom>
          <a:solidFill>
            <a:srgbClr val="2EC4B6"/>
          </a:solidFill>
          <a:ln/>
        </p:spPr>
      </p:sp>
      <p:sp>
        <p:nvSpPr>
          <p:cNvPr id="6" name="Text 4"/>
          <p:cNvSpPr txBox="1"/>
          <p:nvPr/>
        </p:nvSpPr>
        <p:spPr>
          <a:xfrm>
            <a:off x="914400" y="2103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914400" y="2743200"/>
            <a:ext cx="3017520" cy="54864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Natural precedent</a:t>
            </a:r>
            <a:endParaRPr lang="en-US" sz="1600" dirty="0"/>
          </a:p>
        </p:txBody>
      </p:sp>
      <p:sp>
        <p:nvSpPr>
          <p:cNvPr id="8" name="Text 6"/>
          <p:cNvSpPr txBox="1"/>
          <p:nvPr/>
        </p:nvSpPr>
        <p:spPr>
          <a:xfrm>
            <a:off x="914400" y="3291840"/>
            <a:ext cx="3017520" cy="246888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Planarian flatworms store body-plan identity ("grow a head here") as a bioelectric pattern. Cut one in half, the pattern survives and rebuilds correctly in both halves.</a:t>
            </a:r>
            <a:endParaRPr lang="en-US" sz="1250" dirty="0"/>
          </a:p>
        </p:txBody>
      </p:sp>
      <p:sp>
        <p:nvSpPr>
          <p:cNvPr id="9" name="Shape 7"/>
          <p:cNvSpPr/>
          <p:nvPr/>
        </p:nvSpPr>
        <p:spPr>
          <a:xfrm>
            <a:off x="443484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10" name="Shape 8"/>
          <p:cNvSpPr/>
          <p:nvPr/>
        </p:nvSpPr>
        <p:spPr>
          <a:xfrm>
            <a:off x="4709160" y="2103120"/>
            <a:ext cx="502920" cy="502920"/>
          </a:xfrm>
          <a:prstGeom prst="ellipse">
            <a:avLst/>
          </a:prstGeom>
          <a:solidFill>
            <a:srgbClr val="2EC4B6"/>
          </a:solidFill>
          <a:ln/>
        </p:spPr>
      </p:sp>
      <p:sp>
        <p:nvSpPr>
          <p:cNvPr id="11" name="Text 9"/>
          <p:cNvSpPr txBox="1"/>
          <p:nvPr/>
        </p:nvSpPr>
        <p:spPr>
          <a:xfrm>
            <a:off x="4709160" y="2103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709160" y="2743200"/>
            <a:ext cx="3017520" cy="54864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Our question</a:t>
            </a:r>
            <a:endParaRPr lang="en-US" sz="1600" dirty="0"/>
          </a:p>
        </p:txBody>
      </p:sp>
      <p:sp>
        <p:nvSpPr>
          <p:cNvPr id="13" name="Text 11"/>
          <p:cNvSpPr txBox="1"/>
          <p:nvPr/>
        </p:nvSpPr>
        <p:spPr>
          <a:xfrm>
            <a:off x="4709160" y="3291840"/>
            <a:ext cx="3017520" cy="246888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Can the same kind of system, voltage state plus strong regenerative inheritance, hold arbitrary binary data, not just the organism's own natural signal?</a:t>
            </a:r>
            <a:endParaRPr lang="en-US" sz="1250" dirty="0"/>
          </a:p>
        </p:txBody>
      </p:sp>
      <p:sp>
        <p:nvSpPr>
          <p:cNvPr id="14" name="Shape 12"/>
          <p:cNvSpPr/>
          <p:nvPr/>
        </p:nvSpPr>
        <p:spPr>
          <a:xfrm>
            <a:off x="822960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15" name="Shape 13"/>
          <p:cNvSpPr/>
          <p:nvPr/>
        </p:nvSpPr>
        <p:spPr>
          <a:xfrm>
            <a:off x="8503920" y="2103120"/>
            <a:ext cx="502920" cy="502920"/>
          </a:xfrm>
          <a:prstGeom prst="ellipse">
            <a:avLst/>
          </a:prstGeom>
          <a:solidFill>
            <a:srgbClr val="2EC4B6"/>
          </a:solidFill>
          <a:ln/>
        </p:spPr>
      </p:sp>
      <p:sp>
        <p:nvSpPr>
          <p:cNvPr id="16" name="Text 14"/>
          <p:cNvSpPr txBox="1"/>
          <p:nvPr/>
        </p:nvSpPr>
        <p:spPr>
          <a:xfrm>
            <a:off x="8503920" y="2103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8503920" y="2743200"/>
            <a:ext cx="3017520" cy="54864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Why it would matter</a:t>
            </a:r>
            <a:endParaRPr lang="en-US" sz="1600" dirty="0"/>
          </a:p>
        </p:txBody>
      </p:sp>
      <p:sp>
        <p:nvSpPr>
          <p:cNvPr id="18" name="Text 16"/>
          <p:cNvSpPr txBox="1"/>
          <p:nvPr/>
        </p:nvSpPr>
        <p:spPr>
          <a:xfrm>
            <a:off x="8503920" y="3291840"/>
            <a:ext cx="3017520" cy="246888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A substrate that needs no power to hold state, and repairs itself after physical damage, is a fundamentally different answer to extreme-environment storage.</a:t>
            </a:r>
            <a:endParaRPr lang="en-US" sz="1250" dirty="0"/>
          </a:p>
        </p:txBody>
      </p:sp>
      <p:sp>
        <p:nvSpPr>
          <p:cNvPr id="19" name="Text 1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THE FULL GOAL</a:t>
            </a:r>
            <a:endParaRPr lang="en-US" sz="1200" dirty="0"/>
          </a:p>
        </p:txBody>
      </p:sp>
      <p:sp>
        <p:nvSpPr>
          <p:cNvPr id="3" name="Text 1"/>
          <p:cNvSpPr txBox="1"/>
          <p:nvPr/>
        </p:nvSpPr>
        <p:spPr>
          <a:xfrm>
            <a:off x="640080" y="777240"/>
            <a:ext cx="10881360" cy="868680"/>
          </a:xfrm>
          <a:prstGeom prst="rect">
            <a:avLst/>
          </a:prstGeom>
          <a:noFill/>
          <a:ln/>
        </p:spPr>
        <p:txBody>
          <a:bodyPr wrap="square" lIns="0" tIns="0" rIns="0" bIns="0" rtlCol="0" anchor="ctr"/>
          <a:lstStyle/>
          <a:p>
            <a:pPr indent="0" marL="0">
              <a:buNone/>
            </a:pPr>
            <a:r>
              <a:rPr lang="en-US" sz="2100" b="1" dirty="0">
                <a:solidFill>
                  <a:srgbClr val="16232F"/>
                </a:solidFill>
                <a:latin typeface="Cambria" pitchFamily="34" charset="0"/>
                <a:ea typeface="Cambria" pitchFamily="34" charset="-122"/>
                <a:cs typeface="Cambria" pitchFamily="34" charset="-120"/>
              </a:rPr>
              <a:t>Storing a bit is step one. The real target is a cell that writes, hands off, and heals itself for reuse</a:t>
            </a:r>
            <a:endParaRPr lang="en-US" sz="2100" dirty="0"/>
          </a:p>
        </p:txBody>
      </p:sp>
      <p:sp>
        <p:nvSpPr>
          <p:cNvPr id="4" name="Shape 2"/>
          <p:cNvSpPr/>
          <p:nvPr/>
        </p:nvSpPr>
        <p:spPr>
          <a:xfrm>
            <a:off x="640080" y="1828800"/>
            <a:ext cx="3566160" cy="2286000"/>
          </a:xfrm>
          <a:prstGeom prst="roundRect">
            <a:avLst>
              <a:gd name="adj" fmla="val 3200"/>
            </a:avLst>
          </a:prstGeom>
          <a:solidFill>
            <a:srgbClr val="0B1F3A"/>
          </a:solidFill>
          <a:ln/>
        </p:spPr>
      </p:sp>
      <p:sp>
        <p:nvSpPr>
          <p:cNvPr id="5" name="Text 3"/>
          <p:cNvSpPr txBox="1"/>
          <p:nvPr/>
        </p:nvSpPr>
        <p:spPr>
          <a:xfrm>
            <a:off x="896112" y="2057400"/>
            <a:ext cx="3054096" cy="457200"/>
          </a:xfrm>
          <a:prstGeom prst="rect">
            <a:avLst/>
          </a:prstGeom>
          <a:noFill/>
          <a:ln/>
        </p:spPr>
        <p:txBody>
          <a:bodyPr wrap="square" lIns="0" tIns="0" rIns="0" bIns="0" rtlCol="0" anchor="ctr"/>
          <a:lstStyle/>
          <a:p>
            <a:pPr indent="0" marL="0">
              <a:buNone/>
            </a:pPr>
            <a:r>
              <a:rPr lang="en-US" sz="1600" b="1" dirty="0">
                <a:solidFill>
                  <a:srgbClr val="2EC4B6"/>
                </a:solidFill>
                <a:latin typeface="Cambria" pitchFamily="34" charset="0"/>
                <a:ea typeface="Cambria" pitchFamily="34" charset="-122"/>
                <a:cs typeface="Cambria" pitchFamily="34" charset="-120"/>
              </a:rPr>
              <a:t>1. Write</a:t>
            </a:r>
            <a:endParaRPr lang="en-US" sz="1600" dirty="0"/>
          </a:p>
        </p:txBody>
      </p:sp>
      <p:sp>
        <p:nvSpPr>
          <p:cNvPr id="6" name="Text 4"/>
          <p:cNvSpPr txBox="1"/>
          <p:nvPr/>
        </p:nvSpPr>
        <p:spPr>
          <a:xfrm>
            <a:off x="896112" y="2560320"/>
            <a:ext cx="3054096" cy="1463040"/>
          </a:xfrm>
          <a:prstGeom prst="rect">
            <a:avLst/>
          </a:prstGeom>
          <a:noFill/>
          <a:ln/>
        </p:spPr>
        <p:txBody>
          <a:bodyPr wrap="square" lIns="0" tIns="0" rIns="0" bIns="0" rtlCol="0" anchor="ctr"/>
          <a:lstStyle/>
          <a:p>
            <a:pPr indent="0" marL="0">
              <a:lnSpc>
                <a:spcPct val="115000"/>
              </a:lnSpc>
              <a:buNone/>
            </a:pPr>
            <a:r>
              <a:rPr lang="en-US" sz="1200" dirty="0">
                <a:solidFill>
                  <a:srgbClr val="CFE0DD"/>
                </a:solidFill>
                <a:latin typeface="Calibri" pitchFamily="34" charset="0"/>
                <a:ea typeface="Calibri" pitchFamily="34" charset="-122"/>
                <a:cs typeface="Calibri" pitchFamily="34" charset="-120"/>
              </a:rPr>
              <a:t>A bit is written into the cell's engineered voltage-holding circuit.</a:t>
            </a:r>
            <a:endParaRPr lang="en-US" sz="1200" dirty="0"/>
          </a:p>
        </p:txBody>
      </p:sp>
      <p:sp>
        <p:nvSpPr>
          <p:cNvPr id="7" name="Shape 5"/>
          <p:cNvSpPr/>
          <p:nvPr/>
        </p:nvSpPr>
        <p:spPr>
          <a:xfrm>
            <a:off x="4434840" y="1828800"/>
            <a:ext cx="3566160" cy="2286000"/>
          </a:xfrm>
          <a:prstGeom prst="roundRect">
            <a:avLst>
              <a:gd name="adj" fmla="val 3200"/>
            </a:avLst>
          </a:prstGeom>
          <a:solidFill>
            <a:srgbClr val="0B1F3A"/>
          </a:solidFill>
          <a:ln/>
        </p:spPr>
      </p:sp>
      <p:sp>
        <p:nvSpPr>
          <p:cNvPr id="8" name="Text 6"/>
          <p:cNvSpPr txBox="1"/>
          <p:nvPr/>
        </p:nvSpPr>
        <p:spPr>
          <a:xfrm>
            <a:off x="4690872" y="2057400"/>
            <a:ext cx="3054096" cy="457200"/>
          </a:xfrm>
          <a:prstGeom prst="rect">
            <a:avLst/>
          </a:prstGeom>
          <a:noFill/>
          <a:ln/>
        </p:spPr>
        <p:txBody>
          <a:bodyPr wrap="square" lIns="0" tIns="0" rIns="0" bIns="0" rtlCol="0" anchor="ctr"/>
          <a:lstStyle/>
          <a:p>
            <a:pPr indent="0" marL="0">
              <a:buNone/>
            </a:pPr>
            <a:r>
              <a:rPr lang="en-US" sz="1600" b="1" dirty="0">
                <a:solidFill>
                  <a:srgbClr val="2EC4B6"/>
                </a:solidFill>
                <a:latin typeface="Cambria" pitchFamily="34" charset="0"/>
                <a:ea typeface="Cambria" pitchFamily="34" charset="-122"/>
                <a:cs typeface="Cambria" pitchFamily="34" charset="-120"/>
              </a:rPr>
              <a:t>2. Transfer on split</a:t>
            </a:r>
            <a:endParaRPr lang="en-US" sz="1600" dirty="0"/>
          </a:p>
        </p:txBody>
      </p:sp>
      <p:sp>
        <p:nvSpPr>
          <p:cNvPr id="9" name="Text 7"/>
          <p:cNvSpPr txBox="1"/>
          <p:nvPr/>
        </p:nvSpPr>
        <p:spPr>
          <a:xfrm>
            <a:off x="4690872" y="2560320"/>
            <a:ext cx="3054096" cy="1463040"/>
          </a:xfrm>
          <a:prstGeom prst="rect">
            <a:avLst/>
          </a:prstGeom>
          <a:noFill/>
          <a:ln/>
        </p:spPr>
        <p:txBody>
          <a:bodyPr wrap="square" lIns="0" tIns="0" rIns="0" bIns="0" rtlCol="0" anchor="ctr"/>
          <a:lstStyle/>
          <a:p>
            <a:pPr indent="0" marL="0">
              <a:lnSpc>
                <a:spcPct val="115000"/>
              </a:lnSpc>
              <a:buNone/>
            </a:pPr>
            <a:r>
              <a:rPr lang="en-US" sz="1200" dirty="0">
                <a:solidFill>
                  <a:srgbClr val="CFE0DD"/>
                </a:solidFill>
                <a:latin typeface="Calibri" pitchFamily="34" charset="0"/>
                <a:ea typeface="Calibri" pitchFamily="34" charset="-122"/>
                <a:cs typeface="Calibri" pitchFamily="34" charset="-120"/>
              </a:rPr>
              <a:t>When the organism naturally regenerates or divides, the data travels with it into the new organism, not just genetic material, the written state itself.</a:t>
            </a:r>
            <a:endParaRPr lang="en-US" sz="1200" dirty="0"/>
          </a:p>
        </p:txBody>
      </p:sp>
      <p:sp>
        <p:nvSpPr>
          <p:cNvPr id="10" name="Shape 8"/>
          <p:cNvSpPr/>
          <p:nvPr/>
        </p:nvSpPr>
        <p:spPr>
          <a:xfrm>
            <a:off x="8229600" y="1828800"/>
            <a:ext cx="3566160" cy="2286000"/>
          </a:xfrm>
          <a:prstGeom prst="roundRect">
            <a:avLst>
              <a:gd name="adj" fmla="val 3200"/>
            </a:avLst>
          </a:prstGeom>
          <a:solidFill>
            <a:srgbClr val="0B1F3A"/>
          </a:solidFill>
          <a:ln/>
        </p:spPr>
      </p:sp>
      <p:sp>
        <p:nvSpPr>
          <p:cNvPr id="11" name="Text 9"/>
          <p:cNvSpPr txBox="1"/>
          <p:nvPr/>
        </p:nvSpPr>
        <p:spPr>
          <a:xfrm>
            <a:off x="8485632" y="2057400"/>
            <a:ext cx="3054096" cy="457200"/>
          </a:xfrm>
          <a:prstGeom prst="rect">
            <a:avLst/>
          </a:prstGeom>
          <a:noFill/>
          <a:ln/>
        </p:spPr>
        <p:txBody>
          <a:bodyPr wrap="square" lIns="0" tIns="0" rIns="0" bIns="0" rtlCol="0" anchor="ctr"/>
          <a:lstStyle/>
          <a:p>
            <a:pPr indent="0" marL="0">
              <a:buNone/>
            </a:pPr>
            <a:r>
              <a:rPr lang="en-US" sz="1600" b="1" dirty="0">
                <a:solidFill>
                  <a:srgbClr val="2EC4B6"/>
                </a:solidFill>
                <a:latin typeface="Cambria" pitchFamily="34" charset="0"/>
                <a:ea typeface="Cambria" pitchFamily="34" charset="-122"/>
                <a:cs typeface="Cambria" pitchFamily="34" charset="-120"/>
              </a:rPr>
              <a:t>3. Self-heal for reuse</a:t>
            </a:r>
            <a:endParaRPr lang="en-US" sz="1600" dirty="0"/>
          </a:p>
        </p:txBody>
      </p:sp>
      <p:sp>
        <p:nvSpPr>
          <p:cNvPr id="12" name="Text 10"/>
          <p:cNvSpPr txBox="1"/>
          <p:nvPr/>
        </p:nvSpPr>
        <p:spPr>
          <a:xfrm>
            <a:off x="8485632" y="2560320"/>
            <a:ext cx="3054096" cy="1463040"/>
          </a:xfrm>
          <a:prstGeom prst="rect">
            <a:avLst/>
          </a:prstGeom>
          <a:noFill/>
          <a:ln/>
        </p:spPr>
        <p:txBody>
          <a:bodyPr wrap="square" lIns="0" tIns="0" rIns="0" bIns="0" rtlCol="0" anchor="ctr"/>
          <a:lstStyle/>
          <a:p>
            <a:pPr indent="0" marL="0">
              <a:lnSpc>
                <a:spcPct val="115000"/>
              </a:lnSpc>
              <a:buNone/>
            </a:pPr>
            <a:r>
              <a:rPr lang="en-US" sz="1200" dirty="0">
                <a:solidFill>
                  <a:srgbClr val="CFE0DD"/>
                </a:solidFill>
                <a:latin typeface="Calibri" pitchFamily="34" charset="0"/>
                <a:ea typeface="Calibri" pitchFamily="34" charset="-122"/>
                <a:cs typeface="Calibri" pitchFamily="34" charset="-120"/>
              </a:rPr>
              <a:t>The original cell/colony recovers back to a clean baseline afterward, so it can be written to again rather than being a one-time-use component.</a:t>
            </a:r>
            <a:endParaRPr lang="en-US" sz="1200" dirty="0"/>
          </a:p>
        </p:txBody>
      </p:sp>
      <p:sp>
        <p:nvSpPr>
          <p:cNvPr id="13" name="Shape 11"/>
          <p:cNvSpPr/>
          <p:nvPr/>
        </p:nvSpPr>
        <p:spPr>
          <a:xfrm>
            <a:off x="640080" y="4343400"/>
            <a:ext cx="10972800" cy="1828800"/>
          </a:xfrm>
          <a:prstGeom prst="roundRect">
            <a:avLst>
              <a:gd name="adj" fmla="val 4000"/>
            </a:avLst>
          </a:prstGeom>
          <a:solidFill>
            <a:srgbClr val="F4F6F7"/>
          </a:solidFill>
          <a:ln w="12700">
            <a:solidFill>
              <a:srgbClr val="DCE3E6"/>
            </a:solidFill>
            <a:prstDash val="solid"/>
          </a:ln>
        </p:spPr>
      </p:sp>
      <p:sp>
        <p:nvSpPr>
          <p:cNvPr id="14" name="Text 12"/>
          <p:cNvSpPr txBox="1"/>
          <p:nvPr/>
        </p:nvSpPr>
        <p:spPr>
          <a:xfrm>
            <a:off x="914400" y="4526280"/>
            <a:ext cx="10424160" cy="365760"/>
          </a:xfrm>
          <a:prstGeom prst="rect">
            <a:avLst/>
          </a:prstGeom>
          <a:noFill/>
          <a:ln/>
        </p:spPr>
        <p:txBody>
          <a:bodyPr wrap="square" lIns="0" tIns="0" rIns="0" bIns="0" rtlCol="0" anchor="ctr"/>
          <a:lstStyle/>
          <a:p>
            <a:pPr indent="0" marL="0">
              <a:buNone/>
            </a:pPr>
            <a:r>
              <a:rPr lang="en-US" sz="1450" b="1" dirty="0">
                <a:solidFill>
                  <a:srgbClr val="1C8F84"/>
                </a:solidFill>
                <a:latin typeface="Cambria" pitchFamily="34" charset="0"/>
                <a:ea typeface="Cambria" pitchFamily="34" charset="-122"/>
                <a:cs typeface="Cambria" pitchFamily="34" charset="-120"/>
              </a:rPr>
              <a:t>In plain English</a:t>
            </a:r>
            <a:endParaRPr lang="en-US" sz="1450" dirty="0"/>
          </a:p>
        </p:txBody>
      </p:sp>
      <p:sp>
        <p:nvSpPr>
          <p:cNvPr id="15" name="Text 13"/>
          <p:cNvSpPr txBox="1"/>
          <p:nvPr/>
        </p:nvSpPr>
        <p:spPr>
          <a:xfrm>
            <a:off x="914400" y="4937760"/>
            <a:ext cx="10424160" cy="1143000"/>
          </a:xfrm>
          <a:prstGeom prst="rect">
            <a:avLst/>
          </a:prstGeom>
          <a:noFill/>
          <a:ln/>
        </p:spPr>
        <p:txBody>
          <a:bodyPr wrap="square" lIns="0" tIns="0" rIns="0" bIns="0" rtlCol="0" anchor="ctr"/>
          <a:lstStyle/>
          <a:p>
            <a:pPr indent="0" marL="0">
              <a:lnSpc>
                <a:spcPct val="130000"/>
              </a:lnSpc>
              <a:buNone/>
            </a:pPr>
            <a:r>
              <a:rPr lang="en-US" sz="1350" b="1" dirty="0">
                <a:solidFill>
                  <a:srgbClr val="16232F"/>
                </a:solidFill>
                <a:latin typeface="Calibri" pitchFamily="34" charset="0"/>
                <a:ea typeface="Calibri" pitchFamily="34" charset="-122"/>
                <a:cs typeface="Calibri" pitchFamily="34" charset="-120"/>
              </a:rPr>
              <a:t>Living cell</a:t>
            </a:r>
            <a:pPr indent="0" marL="0">
              <a:lnSpc>
                <a:spcPct val="130000"/>
              </a:lnSpc>
              <a:buNone/>
            </a:pPr>
            <a:r>
              <a:rPr lang="en-US" sz="1350" dirty="0">
                <a:solidFill>
                  <a:srgbClr val="5B6B77"/>
                </a:solidFill>
                <a:latin typeface="Calibri" pitchFamily="34" charset="0"/>
                <a:ea typeface="Calibri" pitchFamily="34" charset="-122"/>
                <a:cs typeface="Calibri" pitchFamily="34" charset="-120"/>
              </a:rPr>
              <a:t> = a reusable notebook.  </a:t>
            </a:r>
            <a:pPr indent="0" marL="0">
              <a:lnSpc>
                <a:spcPct val="130000"/>
              </a:lnSpc>
              <a:buNone/>
            </a:pPr>
            <a:r>
              <a:rPr lang="en-US" sz="1350" b="1" dirty="0">
                <a:solidFill>
                  <a:srgbClr val="16232F"/>
                </a:solidFill>
                <a:latin typeface="Calibri" pitchFamily="34" charset="0"/>
                <a:ea typeface="Calibri" pitchFamily="34" charset="-122"/>
                <a:cs typeface="Calibri" pitchFamily="34" charset="-120"/>
              </a:rPr>
              <a:t>Writing a bit</a:t>
            </a:r>
            <a:pPr indent="0" marL="0">
              <a:lnSpc>
                <a:spcPct val="130000"/>
              </a:lnSpc>
              <a:buNone/>
            </a:pPr>
            <a:r>
              <a:rPr lang="en-US" sz="1350" dirty="0">
                <a:solidFill>
                  <a:srgbClr val="5B6B77"/>
                </a:solidFill>
                <a:latin typeface="Calibri" pitchFamily="34" charset="0"/>
                <a:ea typeface="Calibri" pitchFamily="34" charset="-122"/>
                <a:cs typeface="Calibri" pitchFamily="34" charset="-120"/>
              </a:rPr>
              <a:t> = a pencil note in it.  </a:t>
            </a:r>
            <a:pPr indent="0" marL="0">
              <a:lnSpc>
                <a:spcPct val="130000"/>
              </a:lnSpc>
              <a:buNone/>
            </a:pPr>
            <a:r>
              <a:rPr lang="en-US" sz="1350" b="1" dirty="0">
                <a:solidFill>
                  <a:srgbClr val="16232F"/>
                </a:solidFill>
                <a:latin typeface="Calibri" pitchFamily="34" charset="0"/>
                <a:ea typeface="Calibri" pitchFamily="34" charset="-122"/>
                <a:cs typeface="Calibri" pitchFamily="34" charset="-120"/>
              </a:rPr>
              <a:t>The organism splitting/regrowing</a:t>
            </a:r>
            <a:pPr indent="0" marL="0">
              <a:lnSpc>
                <a:spcPct val="130000"/>
              </a:lnSpc>
              <a:buNone/>
            </a:pPr>
            <a:r>
              <a:rPr lang="en-US" sz="1350" dirty="0">
                <a:solidFill>
                  <a:srgbClr val="5B6B77"/>
                </a:solidFill>
                <a:latin typeface="Calibri" pitchFamily="34" charset="0"/>
                <a:ea typeface="Calibri" pitchFamily="34" charset="-122"/>
                <a:cs typeface="Calibri" pitchFamily="34" charset="-120"/>
              </a:rPr>
              <a:t> = photocopying the notebook.  </a:t>
            </a:r>
            <a:endParaRPr lang="en-US" sz="1350" dirty="0"/>
          </a:p>
          <a:p>
            <a:pPr indent="0" marL="0">
              <a:lnSpc>
                <a:spcPct val="130000"/>
              </a:lnSpc>
              <a:buNone/>
            </a:pPr>
            <a:r>
              <a:rPr lang="en-US" sz="1350" b="1" dirty="0">
                <a:solidFill>
                  <a:srgbClr val="16232F"/>
                </a:solidFill>
                <a:latin typeface="Calibri" pitchFamily="34" charset="0"/>
                <a:ea typeface="Calibri" pitchFamily="34" charset="-122"/>
                <a:cs typeface="Calibri" pitchFamily="34" charset="-120"/>
              </a:rPr>
              <a:t>The new organism</a:t>
            </a:r>
            <a:pPr indent="0" marL="0">
              <a:lnSpc>
                <a:spcPct val="130000"/>
              </a:lnSpc>
              <a:buNone/>
            </a:pPr>
            <a:r>
              <a:rPr lang="en-US" sz="1350" dirty="0">
                <a:solidFill>
                  <a:srgbClr val="5B6B77"/>
                </a:solidFill>
                <a:latin typeface="Calibri" pitchFamily="34" charset="0"/>
                <a:ea typeface="Calibri" pitchFamily="34" charset="-122"/>
                <a:cs typeface="Calibri" pitchFamily="34" charset="-120"/>
              </a:rPr>
              <a:t> = a new notebook that already has the note copied in.  </a:t>
            </a:r>
            <a:pPr indent="0" marL="0">
              <a:lnSpc>
                <a:spcPct val="130000"/>
              </a:lnSpc>
              <a:buNone/>
            </a:pPr>
            <a:r>
              <a:rPr lang="en-US" sz="1350" b="1" dirty="0">
                <a:solidFill>
                  <a:srgbClr val="16232F"/>
                </a:solidFill>
                <a:latin typeface="Calibri" pitchFamily="34" charset="0"/>
                <a:ea typeface="Calibri" pitchFamily="34" charset="-122"/>
                <a:cs typeface="Calibri" pitchFamily="34" charset="-120"/>
              </a:rPr>
              <a:t>Self-healing</a:t>
            </a:r>
            <a:pPr indent="0" marL="0">
              <a:lnSpc>
                <a:spcPct val="130000"/>
              </a:lnSpc>
              <a:buNone/>
            </a:pPr>
            <a:r>
              <a:rPr lang="en-US" sz="1350" dirty="0">
                <a:solidFill>
                  <a:srgbClr val="5B6B77"/>
                </a:solidFill>
                <a:latin typeface="Calibri" pitchFamily="34" charset="0"/>
                <a:ea typeface="Calibri" pitchFamily="34" charset="-122"/>
                <a:cs typeface="Calibri" pitchFamily="34" charset="-120"/>
              </a:rPr>
              <a:t> = the original notebook erases its own note and is ready to write a new one.</a:t>
            </a:r>
            <a:endParaRPr lang="en-US" sz="1350" dirty="0"/>
          </a:p>
        </p:txBody>
      </p:sp>
      <p:sp>
        <p:nvSpPr>
          <p:cNvPr id="16" name="Text 14"/>
          <p:cNvSpPr txBox="1"/>
          <p:nvPr/>
        </p:nvSpPr>
        <p:spPr>
          <a:xfrm>
            <a:off x="640080" y="6355080"/>
            <a:ext cx="10972800" cy="365760"/>
          </a:xfrm>
          <a:prstGeom prst="rect">
            <a:avLst/>
          </a:prstGeom>
          <a:noFill/>
          <a:ln/>
        </p:spPr>
        <p:txBody>
          <a:bodyPr wrap="square" lIns="0" tIns="0" rIns="0" bIns="0" rtlCol="0" anchor="ctr"/>
          <a:lstStyle/>
          <a:p>
            <a:pPr indent="0" marL="0">
              <a:buNone/>
            </a:pPr>
            <a:r>
              <a:rPr lang="en-US" sz="1150" i="1" dirty="0">
                <a:solidFill>
                  <a:srgbClr val="5B6B77"/>
                </a:solidFill>
                <a:latin typeface="Calibri" pitchFamily="34" charset="0"/>
                <a:ea typeface="Calibri" pitchFamily="34" charset="-122"/>
                <a:cs typeface="Calibri" pitchFamily="34" charset="-120"/>
              </a:rPr>
              <a:t>This full cycle hasn't been tested in a wet lab yet. It's the goal the roadmap experiment works toward.</a:t>
            </a:r>
            <a:endParaRPr lang="en-US" sz="1150" dirty="0"/>
          </a:p>
        </p:txBody>
      </p:sp>
      <p:sp>
        <p:nvSpPr>
          <p:cNvPr id="17" name="Text 1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SCIENTIFIC FOUNDATION</a:t>
            </a:r>
            <a:endParaRPr lang="en-US" sz="1200" dirty="0"/>
          </a:p>
        </p:txBody>
      </p:sp>
      <p:sp>
        <p:nvSpPr>
          <p:cNvPr id="3" name="Text 1"/>
          <p:cNvSpPr txBox="1"/>
          <p:nvPr/>
        </p:nvSpPr>
        <p:spPr>
          <a:xfrm>
            <a:off x="640080" y="777240"/>
            <a:ext cx="10881360" cy="640080"/>
          </a:xfrm>
          <a:prstGeom prst="rect">
            <a:avLst/>
          </a:prstGeom>
          <a:noFill/>
          <a:ln/>
        </p:spPr>
        <p:txBody>
          <a:bodyPr wrap="square" lIns="0" tIns="0" rIns="0" bIns="0" rtlCol="0" anchor="ctr"/>
          <a:lstStyle/>
          <a:p>
            <a:pPr indent="0" marL="0">
              <a:buNone/>
            </a:pPr>
            <a:r>
              <a:rPr lang="en-US" sz="2500" b="1" dirty="0">
                <a:solidFill>
                  <a:srgbClr val="16232F"/>
                </a:solidFill>
                <a:latin typeface="Cambria" pitchFamily="34" charset="0"/>
                <a:ea typeface="Cambria" pitchFamily="34" charset="-122"/>
                <a:cs typeface="Cambria" pitchFamily="34" charset="-120"/>
              </a:rPr>
              <a:t>Three independently published results this concept is built on</a:t>
            </a:r>
            <a:endParaRPr lang="en-US" sz="2500" dirty="0"/>
          </a:p>
        </p:txBody>
      </p:sp>
      <p:sp>
        <p:nvSpPr>
          <p:cNvPr id="4" name="Shape 2"/>
          <p:cNvSpPr/>
          <p:nvPr/>
        </p:nvSpPr>
        <p:spPr>
          <a:xfrm>
            <a:off x="640080" y="1737360"/>
            <a:ext cx="54864" cy="1234440"/>
          </a:xfrm>
          <a:prstGeom prst="rect">
            <a:avLst/>
          </a:prstGeom>
          <a:solidFill>
            <a:srgbClr val="2EC4B6"/>
          </a:solidFill>
          <a:ln/>
        </p:spPr>
      </p:sp>
      <p:sp>
        <p:nvSpPr>
          <p:cNvPr id="5" name="Text 3"/>
          <p:cNvSpPr txBox="1"/>
          <p:nvPr/>
        </p:nvSpPr>
        <p:spPr>
          <a:xfrm>
            <a:off x="914400" y="1691640"/>
            <a:ext cx="3657600" cy="3657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Bioelectric body-plan control</a:t>
            </a:r>
            <a:endParaRPr lang="en-US" sz="1550" dirty="0"/>
          </a:p>
        </p:txBody>
      </p:sp>
      <p:sp>
        <p:nvSpPr>
          <p:cNvPr id="6" name="Text 4"/>
          <p:cNvSpPr txBox="1"/>
          <p:nvPr/>
        </p:nvSpPr>
        <p:spPr>
          <a:xfrm>
            <a:off x="914400" y="2075688"/>
            <a:ext cx="3657600" cy="365760"/>
          </a:xfrm>
          <a:prstGeom prst="rect">
            <a:avLst/>
          </a:prstGeom>
          <a:noFill/>
          <a:ln/>
        </p:spPr>
        <p:txBody>
          <a:bodyPr wrap="square" lIns="0" tIns="0" rIns="0" bIns="0" rtlCol="0" anchor="ctr"/>
          <a:lstStyle/>
          <a:p>
            <a:pPr indent="0" marL="0">
              <a:buNone/>
            </a:pPr>
            <a:r>
              <a:rPr lang="en-US" sz="1150" i="1" dirty="0">
                <a:solidFill>
                  <a:srgbClr val="1C8F84"/>
                </a:solidFill>
                <a:latin typeface="Calibri" pitchFamily="34" charset="0"/>
                <a:ea typeface="Calibri" pitchFamily="34" charset="-122"/>
                <a:cs typeface="Calibri" pitchFamily="34" charset="-120"/>
              </a:rPr>
              <a:t>Levin et al., multiple papers 2006-2023 (Tufts)</a:t>
            </a:r>
            <a:endParaRPr lang="en-US" sz="1150" dirty="0"/>
          </a:p>
        </p:txBody>
      </p:sp>
      <p:sp>
        <p:nvSpPr>
          <p:cNvPr id="7" name="Text 5"/>
          <p:cNvSpPr txBox="1"/>
          <p:nvPr/>
        </p:nvSpPr>
        <p:spPr>
          <a:xfrm>
            <a:off x="4754880" y="1691640"/>
            <a:ext cx="6766560" cy="1280160"/>
          </a:xfrm>
          <a:prstGeom prst="rect">
            <a:avLst/>
          </a:prstGeom>
          <a:noFill/>
          <a:ln/>
        </p:spPr>
        <p:txBody>
          <a:bodyPr wrap="square" lIns="0" tIns="0" rIns="0" bIns="0" rtlCol="0" anchor="t"/>
          <a:lstStyle/>
          <a:p>
            <a:pPr indent="0" marL="0">
              <a:lnSpc>
                <a:spcPct val="115000"/>
              </a:lnSpc>
              <a:buNone/>
            </a:pPr>
            <a:r>
              <a:rPr lang="en-US" sz="1300" dirty="0">
                <a:solidFill>
                  <a:srgbClr val="5B6B77"/>
                </a:solidFill>
                <a:latin typeface="Calibri" pitchFamily="34" charset="0"/>
                <a:ea typeface="Calibri" pitchFamily="34" charset="-122"/>
                <a:cs typeface="Calibri" pitchFamily="34" charset="-120"/>
              </a:rPr>
              <a:t>Voltage gradients control regeneration outcomes in planaria, replicated across multiple labs, the two-headed-worm result is the most cited example.</a:t>
            </a:r>
            <a:endParaRPr lang="en-US" sz="1300" dirty="0"/>
          </a:p>
        </p:txBody>
      </p:sp>
      <p:sp>
        <p:nvSpPr>
          <p:cNvPr id="8" name="Shape 6"/>
          <p:cNvSpPr/>
          <p:nvPr/>
        </p:nvSpPr>
        <p:spPr>
          <a:xfrm>
            <a:off x="640080" y="3200400"/>
            <a:ext cx="54864" cy="1234440"/>
          </a:xfrm>
          <a:prstGeom prst="rect">
            <a:avLst/>
          </a:prstGeom>
          <a:solidFill>
            <a:srgbClr val="2EC4B6"/>
          </a:solidFill>
          <a:ln/>
        </p:spPr>
      </p:sp>
      <p:sp>
        <p:nvSpPr>
          <p:cNvPr id="9" name="Text 7"/>
          <p:cNvSpPr txBox="1"/>
          <p:nvPr/>
        </p:nvSpPr>
        <p:spPr>
          <a:xfrm>
            <a:off x="914400" y="3154680"/>
            <a:ext cx="3657600" cy="3657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Engineered genetic bistability</a:t>
            </a:r>
            <a:endParaRPr lang="en-US" sz="1550" dirty="0"/>
          </a:p>
        </p:txBody>
      </p:sp>
      <p:sp>
        <p:nvSpPr>
          <p:cNvPr id="10" name="Text 8"/>
          <p:cNvSpPr txBox="1"/>
          <p:nvPr/>
        </p:nvSpPr>
        <p:spPr>
          <a:xfrm>
            <a:off x="914400" y="3538728"/>
            <a:ext cx="3657600" cy="365760"/>
          </a:xfrm>
          <a:prstGeom prst="rect">
            <a:avLst/>
          </a:prstGeom>
          <a:noFill/>
          <a:ln/>
        </p:spPr>
        <p:txBody>
          <a:bodyPr wrap="square" lIns="0" tIns="0" rIns="0" bIns="0" rtlCol="0" anchor="ctr"/>
          <a:lstStyle/>
          <a:p>
            <a:pPr indent="0" marL="0">
              <a:buNone/>
            </a:pPr>
            <a:r>
              <a:rPr lang="en-US" sz="1150" i="1" dirty="0">
                <a:solidFill>
                  <a:srgbClr val="1C8F84"/>
                </a:solidFill>
                <a:latin typeface="Calibri" pitchFamily="34" charset="0"/>
                <a:ea typeface="Calibri" pitchFamily="34" charset="-122"/>
                <a:cs typeface="Calibri" pitchFamily="34" charset="-120"/>
              </a:rPr>
              <a:t>Gardner, Cantor &amp; Collins, 2000, Nature</a:t>
            </a:r>
            <a:endParaRPr lang="en-US" sz="1150" dirty="0"/>
          </a:p>
        </p:txBody>
      </p:sp>
      <p:sp>
        <p:nvSpPr>
          <p:cNvPr id="11" name="Text 9"/>
          <p:cNvSpPr txBox="1"/>
          <p:nvPr/>
        </p:nvSpPr>
        <p:spPr>
          <a:xfrm>
            <a:off x="4754880" y="3154680"/>
            <a:ext cx="6766560" cy="1280160"/>
          </a:xfrm>
          <a:prstGeom prst="rect">
            <a:avLst/>
          </a:prstGeom>
          <a:noFill/>
          <a:ln/>
        </p:spPr>
        <p:txBody>
          <a:bodyPr wrap="square" lIns="0" tIns="0" rIns="0" bIns="0" rtlCol="0" anchor="t"/>
          <a:lstStyle/>
          <a:p>
            <a:pPr indent="0" marL="0">
              <a:lnSpc>
                <a:spcPct val="115000"/>
              </a:lnSpc>
              <a:buNone/>
            </a:pPr>
            <a:r>
              <a:rPr lang="en-US" sz="1300" dirty="0">
                <a:solidFill>
                  <a:srgbClr val="5B6B77"/>
                </a:solidFill>
                <a:latin typeface="Calibri" pitchFamily="34" charset="0"/>
                <a:ea typeface="Calibri" pitchFamily="34" charset="-122"/>
                <a:cs typeface="Calibri" pitchFamily="34" charset="-120"/>
              </a:rPr>
              <a:t>A synthetic 2-repressor circuit in E. coli holds one of two states indefinitely once flipped, a solved, 25-year-old result, described by its authors as an addressable cellular memory unit.</a:t>
            </a:r>
            <a:endParaRPr lang="en-US" sz="1300" dirty="0"/>
          </a:p>
        </p:txBody>
      </p:sp>
      <p:sp>
        <p:nvSpPr>
          <p:cNvPr id="12" name="Shape 10"/>
          <p:cNvSpPr/>
          <p:nvPr/>
        </p:nvSpPr>
        <p:spPr>
          <a:xfrm>
            <a:off x="640080" y="4663440"/>
            <a:ext cx="54864" cy="1234440"/>
          </a:xfrm>
          <a:prstGeom prst="rect">
            <a:avLst/>
          </a:prstGeom>
          <a:solidFill>
            <a:srgbClr val="2EC4B6"/>
          </a:solidFill>
          <a:ln/>
        </p:spPr>
      </p:sp>
      <p:sp>
        <p:nvSpPr>
          <p:cNvPr id="13" name="Text 11"/>
          <p:cNvSpPr txBox="1"/>
          <p:nvPr/>
        </p:nvSpPr>
        <p:spPr>
          <a:xfrm>
            <a:off x="914400" y="4617720"/>
            <a:ext cx="3657600" cy="3657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Non-destructive electrical readout</a:t>
            </a:r>
            <a:endParaRPr lang="en-US" sz="1550" dirty="0"/>
          </a:p>
        </p:txBody>
      </p:sp>
      <p:sp>
        <p:nvSpPr>
          <p:cNvPr id="14" name="Text 12"/>
          <p:cNvSpPr txBox="1"/>
          <p:nvPr/>
        </p:nvSpPr>
        <p:spPr>
          <a:xfrm>
            <a:off x="914400" y="5001768"/>
            <a:ext cx="3657600" cy="365760"/>
          </a:xfrm>
          <a:prstGeom prst="rect">
            <a:avLst/>
          </a:prstGeom>
          <a:noFill/>
          <a:ln/>
        </p:spPr>
        <p:txBody>
          <a:bodyPr wrap="square" lIns="0" tIns="0" rIns="0" bIns="0" rtlCol="0" anchor="ctr"/>
          <a:lstStyle/>
          <a:p>
            <a:pPr indent="0" marL="0">
              <a:buNone/>
            </a:pPr>
            <a:r>
              <a:rPr lang="en-US" sz="1150" i="1" dirty="0">
                <a:solidFill>
                  <a:srgbClr val="1C8F84"/>
                </a:solidFill>
                <a:latin typeface="Calibri" pitchFamily="34" charset="0"/>
                <a:ea typeface="Calibri" pitchFamily="34" charset="-122"/>
                <a:cs typeface="Calibri" pitchFamily="34" charset="-120"/>
              </a:rPr>
              <a:t>Akabuogu et al., 2024, Nano Letters</a:t>
            </a:r>
            <a:endParaRPr lang="en-US" sz="1150" dirty="0"/>
          </a:p>
        </p:txBody>
      </p:sp>
      <p:sp>
        <p:nvSpPr>
          <p:cNvPr id="15" name="Text 13"/>
          <p:cNvSpPr txBox="1"/>
          <p:nvPr/>
        </p:nvSpPr>
        <p:spPr>
          <a:xfrm>
            <a:off x="4754880" y="4617720"/>
            <a:ext cx="6766560" cy="1280160"/>
          </a:xfrm>
          <a:prstGeom prst="rect">
            <a:avLst/>
          </a:prstGeom>
          <a:noFill/>
          <a:ln/>
        </p:spPr>
        <p:txBody>
          <a:bodyPr wrap="square" lIns="0" tIns="0" rIns="0" bIns="0" rtlCol="0" anchor="t"/>
          <a:lstStyle/>
          <a:p>
            <a:pPr indent="0" marL="0">
              <a:lnSpc>
                <a:spcPct val="115000"/>
              </a:lnSpc>
              <a:buNone/>
            </a:pPr>
            <a:r>
              <a:rPr lang="en-US" sz="1300" dirty="0">
                <a:solidFill>
                  <a:srgbClr val="5B6B77"/>
                </a:solidFill>
                <a:latin typeface="Calibri" pitchFamily="34" charset="0"/>
                <a:ea typeface="Calibri" pitchFamily="34" charset="-122"/>
                <a:cs typeface="Calibri" pitchFamily="34" charset="-120"/>
              </a:rPr>
              <a:t>A simple two-electrode impedance measurement distinguishes live from dead bacterial biofilm, tied to one specific ion channel's activity, no dye, no sample destruction.</a:t>
            </a:r>
            <a:endParaRPr lang="en-US" sz="1300" dirty="0"/>
          </a:p>
        </p:txBody>
      </p:sp>
      <p:sp>
        <p:nvSpPr>
          <p:cNvPr id="16" name="Text 14"/>
          <p:cNvSpPr txBox="1"/>
          <p:nvPr/>
        </p:nvSpPr>
        <p:spPr>
          <a:xfrm>
            <a:off x="640080" y="5989320"/>
            <a:ext cx="10972800" cy="548640"/>
          </a:xfrm>
          <a:prstGeom prst="rect">
            <a:avLst/>
          </a:prstGeom>
          <a:noFill/>
          <a:ln/>
        </p:spPr>
        <p:txBody>
          <a:bodyPr wrap="square" lIns="0" tIns="0" rIns="0" bIns="0" rtlCol="0" anchor="ctr"/>
          <a:lstStyle/>
          <a:p>
            <a:pPr indent="0" marL="0">
              <a:lnSpc>
                <a:spcPct val="115000"/>
              </a:lnSpc>
              <a:buNone/>
            </a:pPr>
            <a:r>
              <a:rPr lang="en-US" sz="1100" b="1" i="1" dirty="0">
                <a:solidFill>
                  <a:srgbClr val="1C8F84"/>
                </a:solidFill>
                <a:latin typeface="Calibri" pitchFamily="34" charset="0"/>
                <a:ea typeface="Calibri" pitchFamily="34" charset="-122"/>
                <a:cs typeface="Calibri" pitchFamily="34" charset="-120"/>
              </a:rPr>
              <a:t>Modeling approach: </a:t>
            </a:r>
            <a:pPr indent="0" marL="0">
              <a:lnSpc>
                <a:spcPct val="115000"/>
              </a:lnSpc>
              <a:buNone/>
            </a:pPr>
            <a:r>
              <a:rPr lang="en-US" sz="1100" i="1" dirty="0">
                <a:solidFill>
                  <a:srgbClr val="5B6B77"/>
                </a:solidFill>
                <a:latin typeface="Calibri" pitchFamily="34" charset="0"/>
                <a:ea typeface="Calibri" pitchFamily="34" charset="-122"/>
                <a:cs typeface="Calibri" pitchFamily="34" charset="-120"/>
              </a:rPr>
              <a:t>physics-based, BETSE-inspired simulation (gap-junction diffusion, ion-channel membrane dynamics), the same framework underlying the Levin Lab's own BETSE tool, cross-validated against tasmorpho (Blattner, 2026, bioRxiv), an independently published BETSE-based method whose reference values we reproduce to 6 decimal places.</a:t>
            </a:r>
            <a:endParaRPr lang="en-US" sz="1100" dirty="0"/>
          </a:p>
        </p:txBody>
      </p:sp>
      <p:sp>
        <p:nvSpPr>
          <p:cNvPr id="17" name="Text 1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WHAT WE FOUND WHEN WE TESTED OUR OWN CLAIM</a:t>
            </a:r>
            <a:endParaRPr lang="en-US" sz="1200" dirty="0"/>
          </a:p>
        </p:txBody>
      </p:sp>
      <p:sp>
        <p:nvSpPr>
          <p:cNvPr id="3" name="Text 1"/>
          <p:cNvSpPr txBox="1"/>
          <p:nvPr/>
        </p:nvSpPr>
        <p:spPr>
          <a:xfrm>
            <a:off x="640080" y="822960"/>
            <a:ext cx="10881360" cy="8229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Our first simulation's headline result doesn't survive realistic noise</a:t>
            </a:r>
            <a:endParaRPr lang="en-US" sz="2600" dirty="0"/>
          </a:p>
        </p:txBody>
      </p:sp>
      <p:sp>
        <p:nvSpPr>
          <p:cNvPr id="4" name="Shape 2"/>
          <p:cNvSpPr/>
          <p:nvPr/>
        </p:nvSpPr>
        <p:spPr>
          <a:xfrm>
            <a:off x="640080" y="1920240"/>
            <a:ext cx="3383280" cy="4023360"/>
          </a:xfrm>
          <a:prstGeom prst="roundRect">
            <a:avLst>
              <a:gd name="adj" fmla="val 2162"/>
            </a:avLst>
          </a:prstGeom>
          <a:solidFill>
            <a:srgbClr val="132A4D"/>
          </a:solidFill>
          <a:ln/>
        </p:spPr>
      </p:sp>
      <p:sp>
        <p:nvSpPr>
          <p:cNvPr id="5" name="Text 3"/>
          <p:cNvSpPr txBox="1"/>
          <p:nvPr/>
        </p:nvSpPr>
        <p:spPr>
          <a:xfrm>
            <a:off x="822960" y="2148840"/>
            <a:ext cx="3017520" cy="914400"/>
          </a:xfrm>
          <a:prstGeom prst="rect">
            <a:avLst/>
          </a:prstGeom>
          <a:noFill/>
          <a:ln/>
        </p:spPr>
        <p:txBody>
          <a:bodyPr wrap="square" lIns="0" tIns="0" rIns="0" bIns="0" rtlCol="0" anchor="ctr"/>
          <a:lstStyle/>
          <a:p>
            <a:pPr indent="0" marL="0">
              <a:buNone/>
            </a:pPr>
            <a:r>
              <a:rPr lang="en-US" sz="4600" b="1" dirty="0">
                <a:solidFill>
                  <a:srgbClr val="2EC4B6"/>
                </a:solidFill>
                <a:latin typeface="Cambria" pitchFamily="34" charset="0"/>
                <a:ea typeface="Cambria" pitchFamily="34" charset="-122"/>
                <a:cs typeface="Cambria" pitchFamily="34" charset="-120"/>
              </a:rPr>
              <a:t>100%</a:t>
            </a:r>
            <a:endParaRPr lang="en-US" sz="4600" dirty="0"/>
          </a:p>
        </p:txBody>
      </p:sp>
      <p:sp>
        <p:nvSpPr>
          <p:cNvPr id="6" name="Text 4"/>
          <p:cNvSpPr txBox="1"/>
          <p:nvPr/>
        </p:nvSpPr>
        <p:spPr>
          <a:xfrm>
            <a:off x="822960" y="3063240"/>
            <a:ext cx="3017520" cy="822960"/>
          </a:xfrm>
          <a:prstGeom prst="rect">
            <a:avLst/>
          </a:prstGeom>
          <a:noFill/>
          <a:ln/>
        </p:spPr>
        <p:txBody>
          <a:bodyPr wrap="square" lIns="0" tIns="0" rIns="0" bIns="0" rtlCol="0" anchor="ctr"/>
          <a:lstStyle/>
          <a:p>
            <a:pPr indent="0" marL="0">
              <a:buNone/>
            </a:pPr>
            <a:r>
              <a:rPr lang="en-US" sz="1250" dirty="0">
                <a:solidFill>
                  <a:srgbClr val="AEC2C8"/>
                </a:solidFill>
                <a:latin typeface="Calibri" pitchFamily="34" charset="0"/>
                <a:ea typeface="Calibri" pitchFamily="34" charset="-122"/>
                <a:cs typeface="Calibri" pitchFamily="34" charset="-120"/>
              </a:rPr>
              <a:t>Bit integrity in a zero-noise simulation</a:t>
            </a:r>
            <a:endParaRPr lang="en-US" sz="1250" dirty="0"/>
          </a:p>
        </p:txBody>
      </p:sp>
      <p:sp>
        <p:nvSpPr>
          <p:cNvPr id="7" name="Shape 5"/>
          <p:cNvSpPr/>
          <p:nvPr/>
        </p:nvSpPr>
        <p:spPr>
          <a:xfrm>
            <a:off x="868680" y="3977640"/>
            <a:ext cx="2926080" cy="0"/>
          </a:xfrm>
          <a:prstGeom prst="line">
            <a:avLst/>
          </a:prstGeom>
          <a:noFill/>
          <a:ln w="12700">
            <a:solidFill>
              <a:srgbClr val="2A4463"/>
            </a:solidFill>
            <a:prstDash val="solid"/>
          </a:ln>
        </p:spPr>
      </p:sp>
      <p:sp>
        <p:nvSpPr>
          <p:cNvPr id="8" name="Text 6"/>
          <p:cNvSpPr txBox="1"/>
          <p:nvPr/>
        </p:nvSpPr>
        <p:spPr>
          <a:xfrm>
            <a:off x="822960" y="4160520"/>
            <a:ext cx="3017520" cy="914400"/>
          </a:xfrm>
          <a:prstGeom prst="rect">
            <a:avLst/>
          </a:prstGeom>
          <a:noFill/>
          <a:ln/>
        </p:spPr>
        <p:txBody>
          <a:bodyPr wrap="square" lIns="0" tIns="0" rIns="0" bIns="0" rtlCol="0" anchor="ctr"/>
          <a:lstStyle/>
          <a:p>
            <a:pPr indent="0" marL="0">
              <a:buNone/>
            </a:pPr>
            <a:r>
              <a:rPr lang="en-US" sz="4600" b="1" dirty="0">
                <a:solidFill>
                  <a:srgbClr val="E8604C"/>
                </a:solidFill>
                <a:latin typeface="Cambria" pitchFamily="34" charset="0"/>
                <a:ea typeface="Cambria" pitchFamily="34" charset="-122"/>
                <a:cs typeface="Cambria" pitchFamily="34" charset="-120"/>
              </a:rPr>
              <a:t>~50%</a:t>
            </a:r>
            <a:endParaRPr lang="en-US" sz="4600" dirty="0"/>
          </a:p>
        </p:txBody>
      </p:sp>
      <p:sp>
        <p:nvSpPr>
          <p:cNvPr id="9" name="Text 7"/>
          <p:cNvSpPr txBox="1"/>
          <p:nvPr/>
        </p:nvSpPr>
        <p:spPr>
          <a:xfrm>
            <a:off x="822960" y="5074920"/>
            <a:ext cx="3017520" cy="822960"/>
          </a:xfrm>
          <a:prstGeom prst="rect">
            <a:avLst/>
          </a:prstGeom>
          <a:noFill/>
          <a:ln/>
        </p:spPr>
        <p:txBody>
          <a:bodyPr wrap="square" lIns="0" tIns="0" rIns="0" bIns="0" rtlCol="0" anchor="ctr"/>
          <a:lstStyle/>
          <a:p>
            <a:pPr indent="0" marL="0">
              <a:buNone/>
            </a:pPr>
            <a:r>
              <a:rPr lang="en-US" sz="1250" dirty="0">
                <a:solidFill>
                  <a:srgbClr val="AEC2C8"/>
                </a:solidFill>
                <a:latin typeface="Calibri" pitchFamily="34" charset="0"/>
                <a:ea typeface="Calibri" pitchFamily="34" charset="-122"/>
                <a:cs typeface="Calibri" pitchFamily="34" charset="-120"/>
              </a:rPr>
              <a:t>Bit integrity with realistic biological noise added, a coin flip</a:t>
            </a:r>
            <a:endParaRPr lang="en-US" sz="1250" dirty="0"/>
          </a:p>
        </p:txBody>
      </p:sp>
      <p:sp>
        <p:nvSpPr>
          <p:cNvPr id="10" name="Text 8"/>
          <p:cNvSpPr txBox="1"/>
          <p:nvPr/>
        </p:nvSpPr>
        <p:spPr>
          <a:xfrm>
            <a:off x="4434840" y="1920240"/>
            <a:ext cx="7132320" cy="274320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Why it fails:
</a:t>
            </a:r>
            <a:endParaRPr lang="en-US" sz="1500" dirty="0"/>
          </a:p>
          <a:p>
            <a:pPr indent="0" marL="0">
              <a:lnSpc>
                <a:spcPct val="120000"/>
              </a:lnSpc>
              <a:spcAft>
                <a:spcPts val="1000"/>
              </a:spcAft>
              <a:buNone/>
            </a:pPr>
            <a:r>
              <a:rPr lang="en-US" sz="1500" dirty="0">
                <a:solidFill>
                  <a:srgbClr val="CFE0DD"/>
                </a:solidFill>
                <a:latin typeface="Calibri" pitchFamily="34" charset="0"/>
                <a:ea typeface="Calibri" pitchFamily="34" charset="-122"/>
                <a:cs typeface="Calibri" pitchFamily="34" charset="-120"/>
              </a:rPr>
              <a:t>Passive bioelectric persistence isn't enough on its own, the base model has no real attractor, just a very slow leak, and noise beats slow. </a:t>
            </a:r>
            <a:endParaRPr lang="en-US" sz="1500" dirty="0"/>
          </a:p>
          <a:p>
            <a:pPr indent="0" marL="0">
              <a:lnSpc>
                <a:spcPct val="120000"/>
              </a:lnSpc>
              <a:buNone/>
            </a:pPr>
            <a:r>
              <a:rPr lang="en-US" sz="1500" dirty="0">
                <a:solidFill>
                  <a:srgbClr val="CFE0DD"/>
                </a:solidFill>
                <a:latin typeface="Calibri" pitchFamily="34" charset="0"/>
                <a:ea typeface="Calibri" pitchFamily="34" charset="-122"/>
                <a:cs typeface="Calibri" pitchFamily="34" charset="-120"/>
              </a:rPr>
              <a:t>We found this ourselves, by stress-testing our own model, before any outside reviewer did.</a:t>
            </a:r>
            <a:endParaRPr lang="en-US" sz="1500" dirty="0"/>
          </a:p>
        </p:txBody>
      </p:sp>
      <p:sp>
        <p:nvSpPr>
          <p:cNvPr id="11" name="Shape 9"/>
          <p:cNvSpPr/>
          <p:nvPr/>
        </p:nvSpPr>
        <p:spPr>
          <a:xfrm>
            <a:off x="4434840" y="4709160"/>
            <a:ext cx="7132320" cy="1280160"/>
          </a:xfrm>
          <a:prstGeom prst="roundRect">
            <a:avLst>
              <a:gd name="adj" fmla="val 5714"/>
            </a:avLst>
          </a:prstGeom>
          <a:solidFill>
            <a:srgbClr val="18314F"/>
          </a:solidFill>
          <a:ln w="12700">
            <a:solidFill>
              <a:srgbClr val="E8A33D"/>
            </a:solidFill>
            <a:prstDash val="solid"/>
          </a:ln>
        </p:spPr>
      </p:sp>
      <p:sp>
        <p:nvSpPr>
          <p:cNvPr id="12" name="Text 10"/>
          <p:cNvSpPr txBox="1"/>
          <p:nvPr/>
        </p:nvSpPr>
        <p:spPr>
          <a:xfrm>
            <a:off x="4663440" y="4709160"/>
            <a:ext cx="6675120" cy="12801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The fix is specific, not a mystery:  </a:t>
            </a:r>
            <a:pPr indent="0" marL="0">
              <a:buNone/>
            </a:pPr>
            <a:r>
              <a:rPr lang="en-US" sz="1400" dirty="0">
                <a:solidFill>
                  <a:srgbClr val="E7ECEF"/>
                </a:solidFill>
                <a:latin typeface="Calibri" pitchFamily="34" charset="0"/>
                <a:ea typeface="Calibri" pitchFamily="34" charset="-122"/>
                <a:cs typeface="Calibri" pitchFamily="34" charset="-120"/>
              </a:rPr>
              <a:t>an actively engineered bistable circuit, not passive cell behavior. See next.</a:t>
            </a:r>
            <a:endParaRPr lang="en-US" sz="1400" dirty="0"/>
          </a:p>
        </p:txBody>
      </p:sp>
      <p:sp>
        <p:nvSpPr>
          <p:cNvPr id="13" name="Text 11"/>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THE FIX</a:t>
            </a:r>
            <a:endParaRPr lang="en-US" sz="12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2500" b="1" dirty="0">
                <a:solidFill>
                  <a:srgbClr val="16232F"/>
                </a:solidFill>
                <a:latin typeface="Cambria" pitchFamily="34" charset="0"/>
                <a:ea typeface="Cambria" pitchFamily="34" charset="-122"/>
                <a:cs typeface="Cambria" pitchFamily="34" charset="-120"/>
              </a:rPr>
              <a:t>An engineered bistable circuit, built from parts that already exist</a:t>
            </a:r>
            <a:endParaRPr lang="en-US" sz="2500" dirty="0"/>
          </a:p>
        </p:txBody>
      </p:sp>
      <p:sp>
        <p:nvSpPr>
          <p:cNvPr id="4" name="Shape 2"/>
          <p:cNvSpPr/>
          <p:nvPr/>
        </p:nvSpPr>
        <p:spPr>
          <a:xfrm>
            <a:off x="640080" y="1737360"/>
            <a:ext cx="6675120" cy="4297680"/>
          </a:xfrm>
          <a:prstGeom prst="roundRect">
            <a:avLst>
              <a:gd name="adj" fmla="val 1702"/>
            </a:avLst>
          </a:prstGeom>
          <a:solidFill>
            <a:srgbClr val="FFFFFF"/>
          </a:solidFill>
          <a:ln w="12700">
            <a:solidFill>
              <a:srgbClr val="DCE3E6"/>
            </a:solidFill>
            <a:prstDash val="solid"/>
          </a:ln>
        </p:spPr>
      </p:sp>
      <p:sp>
        <p:nvSpPr>
          <p:cNvPr id="5" name="Text 3"/>
          <p:cNvSpPr txBox="1"/>
          <p:nvPr/>
        </p:nvSpPr>
        <p:spPr>
          <a:xfrm>
            <a:off x="914400" y="1920240"/>
            <a:ext cx="6217920" cy="365760"/>
          </a:xfrm>
          <a:prstGeom prst="rect">
            <a:avLst/>
          </a:prstGeom>
          <a:noFill/>
          <a:ln/>
        </p:spPr>
        <p:txBody>
          <a:bodyPr wrap="square" lIns="0" tIns="0" rIns="0" bIns="0" rtlCol="0" anchor="ctr"/>
          <a:lstStyle/>
          <a:p>
            <a:pPr indent="0" marL="0">
              <a:buNone/>
            </a:pPr>
            <a:r>
              <a:rPr lang="en-US" sz="1500" b="1" dirty="0">
                <a:solidFill>
                  <a:srgbClr val="16232F"/>
                </a:solidFill>
                <a:latin typeface="Cambria" pitchFamily="34" charset="0"/>
                <a:ea typeface="Cambria" pitchFamily="34" charset="-122"/>
                <a:cs typeface="Cambria" pitchFamily="34" charset="-120"/>
              </a:rPr>
              <a:t>Two parts, already characterized separately</a:t>
            </a:r>
            <a:endParaRPr lang="en-US" sz="1500" dirty="0"/>
          </a:p>
        </p:txBody>
      </p:sp>
      <p:sp>
        <p:nvSpPr>
          <p:cNvPr id="6" name="Text 4"/>
          <p:cNvSpPr txBox="1"/>
          <p:nvPr/>
        </p:nvSpPr>
        <p:spPr>
          <a:xfrm>
            <a:off x="914400" y="2423160"/>
            <a:ext cx="6217920" cy="868680"/>
          </a:xfrm>
          <a:prstGeom prst="rect">
            <a:avLst/>
          </a:prstGeom>
          <a:noFill/>
          <a:ln/>
        </p:spPr>
        <p:txBody>
          <a:bodyPr wrap="square" lIns="0" tIns="0" rIns="0" bIns="0" rtlCol="0" anchor="ctr"/>
          <a:lstStyle/>
          <a:p>
            <a:pPr indent="0" marL="0">
              <a:lnSpc>
                <a:spcPct val="115000"/>
              </a:lnSpc>
              <a:buNone/>
            </a:pPr>
            <a:r>
              <a:rPr lang="en-US" sz="1250" b="1" dirty="0">
                <a:solidFill>
                  <a:srgbClr val="1C8F84"/>
                </a:solidFill>
                <a:latin typeface="Calibri" pitchFamily="34" charset="0"/>
                <a:ea typeface="Calibri" pitchFamily="34" charset="-122"/>
                <a:cs typeface="Calibri" pitchFamily="34" charset="-120"/>
              </a:rPr>
              <a:t>Topology, </a:t>
            </a:r>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Gardner, Cantor &amp; Collins (2000), two mutually-repressing promoters, demonstrated bistable regime, equations public.</a:t>
            </a:r>
            <a:endParaRPr lang="en-US" sz="1250" dirty="0"/>
          </a:p>
        </p:txBody>
      </p:sp>
      <p:sp>
        <p:nvSpPr>
          <p:cNvPr id="7" name="Text 5"/>
          <p:cNvSpPr txBox="1"/>
          <p:nvPr/>
        </p:nvSpPr>
        <p:spPr>
          <a:xfrm>
            <a:off x="914400" y="3383280"/>
            <a:ext cx="6217920" cy="868680"/>
          </a:xfrm>
          <a:prstGeom prst="rect">
            <a:avLst/>
          </a:prstGeom>
          <a:noFill/>
          <a:ln/>
        </p:spPr>
        <p:txBody>
          <a:bodyPr wrap="square" lIns="0" tIns="0" rIns="0" bIns="0" rtlCol="0" anchor="ctr"/>
          <a:lstStyle/>
          <a:p>
            <a:pPr indent="0" marL="0">
              <a:lnSpc>
                <a:spcPct val="115000"/>
              </a:lnSpc>
              <a:buNone/>
            </a:pPr>
            <a:r>
              <a:rPr lang="en-US" sz="1250" b="1" dirty="0">
                <a:solidFill>
                  <a:srgbClr val="1C8F84"/>
                </a:solidFill>
                <a:latin typeface="Calibri" pitchFamily="34" charset="0"/>
                <a:ea typeface="Calibri" pitchFamily="34" charset="-122"/>
                <a:cs typeface="Calibri" pitchFamily="34" charset="-120"/>
              </a:rPr>
              <a:t>Chassis parts, </a:t>
            </a:r>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Bacillus BioBrick Box (Radeck et al. 2013, 2017), free, chromosomally-integrating promoters, characterized in B. subtilis specifically (this project's target organism, not E. coli).</a:t>
            </a:r>
            <a:endParaRPr lang="en-US" sz="1250" dirty="0"/>
          </a:p>
        </p:txBody>
      </p:sp>
      <p:sp>
        <p:nvSpPr>
          <p:cNvPr id="8" name="Shape 6"/>
          <p:cNvSpPr/>
          <p:nvPr/>
        </p:nvSpPr>
        <p:spPr>
          <a:xfrm>
            <a:off x="914400" y="4389120"/>
            <a:ext cx="6217920" cy="0"/>
          </a:xfrm>
          <a:prstGeom prst="line">
            <a:avLst/>
          </a:prstGeom>
          <a:noFill/>
          <a:ln w="12700">
            <a:solidFill>
              <a:srgbClr val="E4E9EA"/>
            </a:solidFill>
            <a:prstDash val="solid"/>
          </a:ln>
        </p:spPr>
      </p:sp>
      <p:sp>
        <p:nvSpPr>
          <p:cNvPr id="9" name="Text 7"/>
          <p:cNvSpPr txBox="1"/>
          <p:nvPr/>
        </p:nvSpPr>
        <p:spPr>
          <a:xfrm>
            <a:off x="914400" y="4526280"/>
            <a:ext cx="6217920" cy="365760"/>
          </a:xfrm>
          <a:prstGeom prst="rect">
            <a:avLst/>
          </a:prstGeom>
          <a:noFill/>
          <a:ln/>
        </p:spPr>
        <p:txBody>
          <a:bodyPr wrap="square" lIns="0" tIns="0" rIns="0" bIns="0" rtlCol="0" anchor="ctr"/>
          <a:lstStyle/>
          <a:p>
            <a:pPr indent="0" marL="0">
              <a:buNone/>
            </a:pPr>
            <a:r>
              <a:rPr lang="en-US" sz="1500" b="1" dirty="0">
                <a:solidFill>
                  <a:srgbClr val="16232F"/>
                </a:solidFill>
                <a:latin typeface="Cambria" pitchFamily="34" charset="0"/>
                <a:ea typeface="Cambria" pitchFamily="34" charset="-122"/>
                <a:cs typeface="Cambria" pitchFamily="34" charset="-120"/>
              </a:rPr>
              <a:t>What running the combined model found</a:t>
            </a:r>
            <a:endParaRPr lang="en-US" sz="1500" dirty="0"/>
          </a:p>
        </p:txBody>
      </p:sp>
      <p:sp>
        <p:nvSpPr>
          <p:cNvPr id="10" name="Text 8"/>
          <p:cNvSpPr txBox="1"/>
          <p:nvPr/>
        </p:nvSpPr>
        <p:spPr>
          <a:xfrm>
            <a:off x="914400" y="4937760"/>
            <a:ext cx="6217920" cy="1188720"/>
          </a:xfrm>
          <a:prstGeom prst="rect">
            <a:avLst/>
          </a:prstGeom>
          <a:noFill/>
          <a:ln/>
        </p:spPr>
        <p:txBody>
          <a:bodyPr wrap="square" lIns="0" tIns="0" rIns="0" bIns="0" rtlCol="0" anchor="ctr"/>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The real finding isn't that a matched circuit works (it does, 100% fidelity at 24 hours), it's what happens at severe promoter mismatch: </a:t>
            </a:r>
            <a:endParaRPr lang="en-US" sz="1250" dirty="0"/>
          </a:p>
          <a:p>
            <a:pPr indent="0" marL="0">
              <a:lnSpc>
                <a:spcPct val="120000"/>
              </a:lnSpc>
              <a:buNone/>
            </a:pPr>
            <a:r>
              <a:rPr lang="en-US" sz="1250" b="1" dirty="0">
                <a:solidFill>
                  <a:srgbClr val="16232F"/>
                </a:solidFill>
                <a:latin typeface="Calibri" pitchFamily="34" charset="0"/>
                <a:ea typeface="Calibri" pitchFamily="34" charset="-122"/>
                <a:cs typeface="Calibri" pitchFamily="34" charset="-120"/>
              </a:rPr>
              <a:t>the circuit doesn't degrade gracefully, it loses bistability entirely and always relaxes to the same state.</a:t>
            </a:r>
            <a:endParaRPr lang="en-US" sz="1250" dirty="0"/>
          </a:p>
        </p:txBody>
      </p:sp>
      <p:sp>
        <p:nvSpPr>
          <p:cNvPr id="11" name="Shape 9"/>
          <p:cNvSpPr/>
          <p:nvPr/>
        </p:nvSpPr>
        <p:spPr>
          <a:xfrm>
            <a:off x="7543800" y="1737360"/>
            <a:ext cx="4023360" cy="2011680"/>
          </a:xfrm>
          <a:prstGeom prst="roundRect">
            <a:avLst>
              <a:gd name="adj" fmla="val 3636"/>
            </a:avLst>
          </a:prstGeom>
          <a:solidFill>
            <a:srgbClr val="0B1F3A"/>
          </a:solidFill>
          <a:ln/>
        </p:spPr>
      </p:sp>
      <p:sp>
        <p:nvSpPr>
          <p:cNvPr id="12" name="Text 10"/>
          <p:cNvSpPr txBox="1"/>
          <p:nvPr/>
        </p:nvSpPr>
        <p:spPr>
          <a:xfrm>
            <a:off x="7772400" y="1874520"/>
            <a:ext cx="3566160" cy="777240"/>
          </a:xfrm>
          <a:prstGeom prst="rect">
            <a:avLst/>
          </a:prstGeom>
          <a:noFill/>
          <a:ln/>
        </p:spPr>
        <p:txBody>
          <a:bodyPr wrap="square" lIns="0" tIns="0" rIns="0" bIns="0" rtlCol="0" anchor="ctr"/>
          <a:lstStyle/>
          <a:p>
            <a:pPr indent="0" marL="0">
              <a:buNone/>
            </a:pPr>
            <a:r>
              <a:rPr lang="en-US" sz="3600" b="1" dirty="0">
                <a:solidFill>
                  <a:srgbClr val="2EC4B6"/>
                </a:solidFill>
                <a:latin typeface="Cambria" pitchFamily="34" charset="0"/>
                <a:ea typeface="Cambria" pitchFamily="34" charset="-122"/>
                <a:cs typeface="Cambria" pitchFamily="34" charset="-120"/>
              </a:rPr>
              <a:t>100%</a:t>
            </a:r>
            <a:endParaRPr lang="en-US" sz="3600" dirty="0"/>
          </a:p>
        </p:txBody>
      </p:sp>
      <p:sp>
        <p:nvSpPr>
          <p:cNvPr id="13" name="Text 11"/>
          <p:cNvSpPr txBox="1"/>
          <p:nvPr/>
        </p:nvSpPr>
        <p:spPr>
          <a:xfrm>
            <a:off x="7772400" y="2606040"/>
            <a:ext cx="3566160" cy="1005840"/>
          </a:xfrm>
          <a:prstGeom prst="rect">
            <a:avLst/>
          </a:prstGeom>
          <a:noFill/>
          <a:ln/>
        </p:spPr>
        <p:txBody>
          <a:bodyPr wrap="square" lIns="0" tIns="0" rIns="0" bIns="0" rtlCol="0" anchor="ctr"/>
          <a:lstStyle/>
          <a:p>
            <a:pPr indent="0" marL="0">
              <a:buNone/>
            </a:pPr>
            <a:r>
              <a:rPr lang="en-US" sz="1200" dirty="0">
                <a:solidFill>
                  <a:srgbClr val="CFE0DD"/>
                </a:solidFill>
                <a:latin typeface="Calibri" pitchFamily="34" charset="0"/>
                <a:ea typeface="Calibri" pitchFamily="34" charset="-122"/>
                <a:cs typeface="Calibri" pitchFamily="34" charset="-120"/>
              </a:rPr>
              <a:t>Fidelity at 24 hours, matched promoters (BBB range 1.0x-10x)</a:t>
            </a:r>
            <a:endParaRPr lang="en-US" sz="1200" dirty="0"/>
          </a:p>
        </p:txBody>
      </p:sp>
      <p:sp>
        <p:nvSpPr>
          <p:cNvPr id="14" name="Shape 12"/>
          <p:cNvSpPr/>
          <p:nvPr/>
        </p:nvSpPr>
        <p:spPr>
          <a:xfrm>
            <a:off x="7543800" y="3931920"/>
            <a:ext cx="4023360" cy="2103120"/>
          </a:xfrm>
          <a:prstGeom prst="roundRect">
            <a:avLst>
              <a:gd name="adj" fmla="val 3478"/>
            </a:avLst>
          </a:prstGeom>
          <a:solidFill>
            <a:srgbClr val="0B1F3A"/>
          </a:solidFill>
          <a:ln/>
        </p:spPr>
      </p:sp>
      <p:sp>
        <p:nvSpPr>
          <p:cNvPr id="15" name="Text 13"/>
          <p:cNvSpPr txBox="1"/>
          <p:nvPr/>
        </p:nvSpPr>
        <p:spPr>
          <a:xfrm>
            <a:off x="7772400" y="4069080"/>
            <a:ext cx="3566160" cy="777240"/>
          </a:xfrm>
          <a:prstGeom prst="rect">
            <a:avLst/>
          </a:prstGeom>
          <a:noFill/>
          <a:ln/>
        </p:spPr>
        <p:txBody>
          <a:bodyPr wrap="square" lIns="0" tIns="0" rIns="0" bIns="0" rtlCol="0" anchor="ctr"/>
          <a:lstStyle/>
          <a:p>
            <a:pPr indent="0" marL="0">
              <a:buNone/>
            </a:pPr>
            <a:r>
              <a:rPr lang="en-US" sz="3600" b="1" dirty="0">
                <a:solidFill>
                  <a:srgbClr val="E8604C"/>
                </a:solidFill>
                <a:latin typeface="Cambria" pitchFamily="34" charset="0"/>
                <a:ea typeface="Cambria" pitchFamily="34" charset="-122"/>
                <a:cs typeface="Cambria" pitchFamily="34" charset="-120"/>
              </a:rPr>
              <a:t>50%</a:t>
            </a:r>
            <a:endParaRPr lang="en-US" sz="3600" dirty="0"/>
          </a:p>
        </p:txBody>
      </p:sp>
      <p:sp>
        <p:nvSpPr>
          <p:cNvPr id="16" name="Text 14"/>
          <p:cNvSpPr txBox="1"/>
          <p:nvPr/>
        </p:nvSpPr>
        <p:spPr>
          <a:xfrm>
            <a:off x="7772400" y="4800600"/>
            <a:ext cx="3566160" cy="1097280"/>
          </a:xfrm>
          <a:prstGeom prst="rect">
            <a:avLst/>
          </a:prstGeom>
          <a:noFill/>
          <a:ln/>
        </p:spPr>
        <p:txBody>
          <a:bodyPr wrap="square" lIns="0" tIns="0" rIns="0" bIns="0" rtlCol="0" anchor="ctr"/>
          <a:lstStyle/>
          <a:p>
            <a:pPr indent="0" marL="0">
              <a:buNone/>
            </a:pPr>
            <a:r>
              <a:rPr lang="en-US" sz="1150" dirty="0">
                <a:solidFill>
                  <a:srgbClr val="CFE0DD"/>
                </a:solidFill>
                <a:latin typeface="Calibri" pitchFamily="34" charset="0"/>
                <a:ea typeface="Calibri" pitchFamily="34" charset="-122"/>
                <a:cs typeface="Calibri" pitchFamily="34" charset="-120"/>
              </a:rPr>
              <a:t>Fidelity at severe promoter mismatch (0.1x), a design constraint found before any wet-lab spend</a:t>
            </a:r>
            <a:endParaRPr lang="en-US" sz="1150" dirty="0"/>
          </a:p>
        </p:txBody>
      </p:sp>
      <p:sp>
        <p:nvSpPr>
          <p:cNvPr id="17" name="Text 1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HONEST RISK RANKING</a:t>
            </a:r>
            <a:endParaRPr lang="en-US" sz="1200" dirty="0"/>
          </a:p>
        </p:txBody>
      </p:sp>
      <p:sp>
        <p:nvSpPr>
          <p:cNvPr id="3" name="Text 1"/>
          <p:cNvSpPr txBox="1"/>
          <p:nvPr/>
        </p:nvSpPr>
        <p:spPr>
          <a:xfrm>
            <a:off x="640080" y="777240"/>
            <a:ext cx="10881360" cy="777240"/>
          </a:xfrm>
          <a:prstGeom prst="rect">
            <a:avLst/>
          </a:prstGeom>
          <a:noFill/>
          <a:ln/>
        </p:spPr>
        <p:txBody>
          <a:bodyPr wrap="square" lIns="0" tIns="0" rIns="0" bIns="0" rtlCol="0" anchor="ctr"/>
          <a:lstStyle/>
          <a:p>
            <a:pPr indent="0" marL="0">
              <a:buNone/>
            </a:pPr>
            <a:r>
              <a:rPr lang="en-US" sz="2300" b="1" dirty="0">
                <a:solidFill>
                  <a:srgbClr val="16232F"/>
                </a:solidFill>
                <a:latin typeface="Cambria" pitchFamily="34" charset="0"/>
                <a:ea typeface="Cambria" pitchFamily="34" charset="-122"/>
                <a:cs typeface="Cambria" pitchFamily="34" charset="-120"/>
              </a:rPr>
              <a:t>We ranked our own three candidate mechanisms by how much wet-lab risk each still hides</a:t>
            </a:r>
            <a:endParaRPr lang="en-US" sz="2300" dirty="0"/>
          </a:p>
        </p:txBody>
      </p:sp>
      <p:graphicFrame>
        <p:nvGraphicFramePr>
          <p:cNvPr id="4" name="Chart 0" descr=""/>
          <p:cNvGraphicFramePr/>
          <p:nvPr/>
        </p:nvGraphicFramePr>
        <p:xfrm>
          <a:off x="640080" y="1783080"/>
          <a:ext cx="612648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95160" y="1783080"/>
          <a:ext cx="4572000" cy="4114800"/>
        </p:xfrm>
        <a:graphic>
          <a:graphicData uri="http://schemas.openxmlformats.org/drawingml/2006/table">
            <a:tbl>
              <a:tblPr/>
              <a:tblGrid>
                <a:gridCol w="2286000"/>
                <a:gridCol w="2286000"/>
              </a:tblGrid>
              <a:tr h="5486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Mechanism</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Grounding confidence</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r>
              <a:tr h="1188720">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B. subtilis, engineered circuit</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Highest, inheritance is mechanistically forced (division copies existing protein)</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1188720">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B. subtilis, methylation</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Medium, real fidelity numbers exist, but from a different species</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1188720">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Planarian, bioelectric circuit</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150" dirty="0">
                          <a:solidFill>
                            <a:srgbClr val="16232F"/>
                          </a:solidFill>
                          <a:latin typeface="Calibri" pitchFamily="34" charset="0"/>
                          <a:ea typeface="Calibri" pitchFamily="34" charset="-122"/>
                          <a:cs typeface="Calibri" pitchFamily="34" charset="-120"/>
                        </a:rPr>
                        <a:t>Lowest, cell-coupling strength is a borrowed assumption, never measured</a:t>
                      </a:r>
                      <a:endParaRPr lang="en-US" sz="11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bl>
          </a:graphicData>
        </a:graphic>
      </p:graphicFrame>
      <p:sp>
        <p:nvSpPr>
          <p:cNvPr id="6" name="Text 2"/>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Our original organism choice (planarian) is currently our weakest-evidence option. We're reporting that now, before spending wet-lab money on it.</a:t>
            </a:r>
            <a:endParaRPr lang="en-US" sz="1300" dirty="0"/>
          </a:p>
        </p:txBody>
      </p:sp>
      <p:sp>
        <p:nvSpPr>
          <p:cNvPr id="7" name="Text 3"/>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STRESS-TESTING OUR OWN DESIGN</a:t>
            </a:r>
            <a:endParaRPr lang="en-US" sz="1200" dirty="0"/>
          </a:p>
        </p:txBody>
      </p:sp>
      <p:sp>
        <p:nvSpPr>
          <p:cNvPr id="3" name="Text 1"/>
          <p:cNvSpPr txBox="1"/>
          <p:nvPr/>
        </p:nvSpPr>
        <p:spPr>
          <a:xfrm>
            <a:off x="640080" y="777240"/>
            <a:ext cx="10881360" cy="86868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A risk nobody asked about: the colony's own biology can scramble the read, even when the data is fine</a:t>
            </a:r>
            <a:endParaRPr lang="en-US" sz="2200" dirty="0"/>
          </a:p>
        </p:txBody>
      </p:sp>
      <p:sp>
        <p:nvSpPr>
          <p:cNvPr id="4" name="Shape 2"/>
          <p:cNvSpPr/>
          <p:nvPr/>
        </p:nvSpPr>
        <p:spPr>
          <a:xfrm>
            <a:off x="640080" y="1874520"/>
            <a:ext cx="3566160" cy="3931920"/>
          </a:xfrm>
          <a:prstGeom prst="roundRect">
            <a:avLst>
              <a:gd name="adj" fmla="val 2051"/>
            </a:avLst>
          </a:prstGeom>
          <a:solidFill>
            <a:srgbClr val="FFFFFF"/>
          </a:solidFill>
          <a:ln w="12700">
            <a:solidFill>
              <a:srgbClr val="DCE3E6"/>
            </a:solidFill>
            <a:prstDash val="solid"/>
          </a:ln>
        </p:spPr>
      </p:sp>
      <p:sp>
        <p:nvSpPr>
          <p:cNvPr id="5" name="Shape 3"/>
          <p:cNvSpPr/>
          <p:nvPr/>
        </p:nvSpPr>
        <p:spPr>
          <a:xfrm>
            <a:off x="640080" y="1874520"/>
            <a:ext cx="3566160" cy="82296"/>
          </a:xfrm>
          <a:prstGeom prst="rect">
            <a:avLst/>
          </a:prstGeom>
          <a:solidFill>
            <a:srgbClr val="1C8F84"/>
          </a:solidFill>
          <a:ln/>
        </p:spPr>
      </p:sp>
      <p:sp>
        <p:nvSpPr>
          <p:cNvPr id="6" name="Text 4"/>
          <p:cNvSpPr txBox="1"/>
          <p:nvPr/>
        </p:nvSpPr>
        <p:spPr>
          <a:xfrm>
            <a:off x="896112" y="2148840"/>
            <a:ext cx="3054096" cy="54864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The natural signal</a:t>
            </a:r>
            <a:endParaRPr lang="en-US" sz="1550" dirty="0"/>
          </a:p>
        </p:txBody>
      </p:sp>
      <p:sp>
        <p:nvSpPr>
          <p:cNvPr id="7" name="Text 5"/>
          <p:cNvSpPr txBox="1"/>
          <p:nvPr/>
        </p:nvSpPr>
        <p:spPr>
          <a:xfrm>
            <a:off x="896112" y="2743200"/>
            <a:ext cx="3054096" cy="2834640"/>
          </a:xfrm>
          <a:prstGeom prst="rect">
            <a:avLst/>
          </a:prstGeom>
          <a:noFill/>
          <a:ln/>
        </p:spPr>
        <p:txBody>
          <a:bodyPr wrap="square" lIns="0" tIns="0" rIns="0" bIns="0" rtlCol="0" anchor="ctr"/>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B. subtilis biofilms run a continuous potassium-wave electrical signal of their own (Prindle lab, 2015), independent of anything Acheron builds.</a:t>
            </a:r>
            <a:endParaRPr lang="en-US" sz="1250" dirty="0"/>
          </a:p>
        </p:txBody>
      </p:sp>
      <p:sp>
        <p:nvSpPr>
          <p:cNvPr id="8" name="Shape 6"/>
          <p:cNvSpPr/>
          <p:nvPr/>
        </p:nvSpPr>
        <p:spPr>
          <a:xfrm>
            <a:off x="4425696" y="1874520"/>
            <a:ext cx="3566160" cy="3931920"/>
          </a:xfrm>
          <a:prstGeom prst="roundRect">
            <a:avLst>
              <a:gd name="adj" fmla="val 2051"/>
            </a:avLst>
          </a:prstGeom>
          <a:solidFill>
            <a:srgbClr val="FFFFFF"/>
          </a:solidFill>
          <a:ln w="12700">
            <a:solidFill>
              <a:srgbClr val="DCE3E6"/>
            </a:solidFill>
            <a:prstDash val="solid"/>
          </a:ln>
        </p:spPr>
      </p:sp>
      <p:sp>
        <p:nvSpPr>
          <p:cNvPr id="9" name="Shape 7"/>
          <p:cNvSpPr/>
          <p:nvPr/>
        </p:nvSpPr>
        <p:spPr>
          <a:xfrm>
            <a:off x="4425696" y="1874520"/>
            <a:ext cx="3566160" cy="82296"/>
          </a:xfrm>
          <a:prstGeom prst="rect">
            <a:avLst/>
          </a:prstGeom>
          <a:solidFill>
            <a:srgbClr val="E8604C"/>
          </a:solidFill>
          <a:ln/>
        </p:spPr>
      </p:sp>
      <p:sp>
        <p:nvSpPr>
          <p:cNvPr id="10" name="Text 8"/>
          <p:cNvSpPr txBox="1"/>
          <p:nvPr/>
        </p:nvSpPr>
        <p:spPr>
          <a:xfrm>
            <a:off x="4681728" y="2148840"/>
            <a:ext cx="3054096" cy="54864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What we found</a:t>
            </a:r>
            <a:endParaRPr lang="en-US" sz="1550" dirty="0"/>
          </a:p>
        </p:txBody>
      </p:sp>
      <p:sp>
        <p:nvSpPr>
          <p:cNvPr id="11" name="Text 9"/>
          <p:cNvSpPr txBox="1"/>
          <p:nvPr/>
        </p:nvSpPr>
        <p:spPr>
          <a:xfrm>
            <a:off x="4681728" y="2743200"/>
            <a:ext cx="3054096" cy="2834640"/>
          </a:xfrm>
          <a:prstGeom prst="rect">
            <a:avLst/>
          </a:prstGeom>
          <a:noFill/>
          <a:ln/>
        </p:spPr>
        <p:txBody>
          <a:bodyPr wrap="square" lIns="0" tIns="0" rIns="0" bIns="0" rtlCol="0" anchor="ctr"/>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In simulation, this natural oscillation can corrupt an instantaneous voltage reading even when the underlying engineered circuit's data is 100% intact.</a:t>
            </a:r>
            <a:endParaRPr lang="en-US" sz="1250" dirty="0"/>
          </a:p>
        </p:txBody>
      </p:sp>
      <p:sp>
        <p:nvSpPr>
          <p:cNvPr id="12" name="Shape 10"/>
          <p:cNvSpPr/>
          <p:nvPr/>
        </p:nvSpPr>
        <p:spPr>
          <a:xfrm>
            <a:off x="8211312" y="1874520"/>
            <a:ext cx="3566160" cy="3931920"/>
          </a:xfrm>
          <a:prstGeom prst="roundRect">
            <a:avLst>
              <a:gd name="adj" fmla="val 2051"/>
            </a:avLst>
          </a:prstGeom>
          <a:solidFill>
            <a:srgbClr val="FFFFFF"/>
          </a:solidFill>
          <a:ln w="12700">
            <a:solidFill>
              <a:srgbClr val="DCE3E6"/>
            </a:solidFill>
            <a:prstDash val="solid"/>
          </a:ln>
        </p:spPr>
      </p:sp>
      <p:sp>
        <p:nvSpPr>
          <p:cNvPr id="13" name="Shape 11"/>
          <p:cNvSpPr/>
          <p:nvPr/>
        </p:nvSpPr>
        <p:spPr>
          <a:xfrm>
            <a:off x="8211312" y="1874520"/>
            <a:ext cx="3566160" cy="82296"/>
          </a:xfrm>
          <a:prstGeom prst="rect">
            <a:avLst/>
          </a:prstGeom>
          <a:solidFill>
            <a:srgbClr val="1C8F84"/>
          </a:solidFill>
          <a:ln/>
        </p:spPr>
      </p:sp>
      <p:sp>
        <p:nvSpPr>
          <p:cNvPr id="14" name="Text 12"/>
          <p:cNvSpPr txBox="1"/>
          <p:nvPr/>
        </p:nvSpPr>
        <p:spPr>
          <a:xfrm>
            <a:off x="8467344" y="2148840"/>
            <a:ext cx="3054096" cy="54864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The fix, and its limit</a:t>
            </a:r>
            <a:endParaRPr lang="en-US" sz="1550" dirty="0"/>
          </a:p>
        </p:txBody>
      </p:sp>
      <p:sp>
        <p:nvSpPr>
          <p:cNvPr id="15" name="Text 13"/>
          <p:cNvSpPr txBox="1"/>
          <p:nvPr/>
        </p:nvSpPr>
        <p:spPr>
          <a:xfrm>
            <a:off x="8467344" y="2743200"/>
            <a:ext cx="3054096" cy="2834640"/>
          </a:xfrm>
          <a:prstGeom prst="rect">
            <a:avLst/>
          </a:prstGeom>
          <a:noFill/>
          <a:ln/>
        </p:spPr>
        <p:txBody>
          <a:bodyPr wrap="square" lIns="0" tIns="0" rIns="0" bIns="0" rtlCol="0" anchor="ctr"/>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Reading via impedance (EIS) instead of raw voltage helps, but a single fast EIS sweep isn't immune either, it needs to integrate across a full oscillation cycle (~3h) to recover accuracy.</a:t>
            </a:r>
            <a:endParaRPr lang="en-US" sz="1250" dirty="0"/>
          </a:p>
        </p:txBody>
      </p:sp>
      <p:sp>
        <p:nvSpPr>
          <p:cNvPr id="16" name="Text 14"/>
          <p:cNvSpPr txBox="1"/>
          <p:nvPr/>
        </p:nvSpPr>
        <p:spPr>
          <a:xfrm>
            <a:off x="640080" y="5989320"/>
            <a:ext cx="10972800" cy="640080"/>
          </a:xfrm>
          <a:prstGeom prst="rect">
            <a:avLst/>
          </a:prstGeom>
          <a:noFill/>
          <a:ln/>
        </p:spPr>
        <p:txBody>
          <a:bodyPr wrap="square" lIns="0" tIns="0" rIns="0" bIns="0" rtlCol="0" anchor="ctr"/>
          <a:lstStyle/>
          <a:p>
            <a:pPr indent="0" marL="0">
              <a:buNone/>
            </a:pPr>
            <a:r>
              <a:rPr lang="en-US" sz="1250" i="1" dirty="0">
                <a:solidFill>
                  <a:srgbClr val="5B6B77"/>
                </a:solidFill>
                <a:latin typeface="Calibri" pitchFamily="34" charset="0"/>
                <a:ea typeface="Calibri" pitchFamily="34" charset="-122"/>
                <a:cs typeface="Calibri" pitchFamily="34" charset="-120"/>
              </a:rPr>
              <a:t>Fidelity at 10-20mV of ambient oscillation (well below the circuit's own 70mV signal range) collapsed to 50-59% for single-snapshot voltage reads, this is a solvable engineering problem, not a fatal one, but a real, previously-unflagged design requirement.</a:t>
            </a:r>
            <a:endParaRPr lang="en-US" sz="1250" dirty="0"/>
          </a:p>
        </p:txBody>
      </p:sp>
      <p:sp>
        <p:nvSpPr>
          <p:cNvPr id="17" name="Text 1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WHAT WE ALREADY HAVE</a:t>
            </a:r>
            <a:endParaRPr lang="en-US" sz="1200" dirty="0"/>
          </a:p>
        </p:txBody>
      </p:sp>
      <p:sp>
        <p:nvSpPr>
          <p:cNvPr id="3" name="Text 1"/>
          <p:cNvSpPr txBox="1"/>
          <p:nvPr/>
        </p:nvSpPr>
        <p:spPr>
          <a:xfrm>
            <a:off x="640080" y="731520"/>
            <a:ext cx="10881360" cy="64008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Four computational results, explained for a scientist and for everyone else</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72800" cy="4572000"/>
        </p:xfrm>
        <a:graphic>
          <a:graphicData uri="http://schemas.openxmlformats.org/drawingml/2006/table">
            <a:tbl>
              <a:tblPr/>
              <a:tblGrid>
                <a:gridCol w="2377440"/>
                <a:gridCol w="4480560"/>
                <a:gridCol w="41148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Technical (for a scientist)</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Plain English (for everyone else)</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r>
              <a:tr h="1051560">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Passive persistence fails</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24h bit integrity collapses from 100% (zero-noise) to ~50-58% under realistic channel/metabolic/thermal noise.</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A cell just holding a charge on its own is like a coin balanced on its edge, it falls over almost immediately.</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1051560">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Engineered circuit works across its whole practical design range</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Gardner topology + Bacillus BioBrick Box parts holds state at 100% fidelity at 24 hours for any promoter pair within the BBB's entire characterized 1.0x-10.0x strength range; only pushing far outside the catalog, to a severe 0.1x mismatch, collapses fidelity to 50%, a monostable dead switch.</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The circuit is a light switch held by two springs. Any pair of springs from the parts catalog, even fairly different strengths, holds the switch fine. Only deliberately grabbing two wildly mismatched springs, far outside what the catalog offers, gets the switch stuck at "off".</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1051560">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Bacteria beats planaria on evidence, for now</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Cross-organism sweep: B. subtilis engineered circuit ranks highest-confidence (inheritance is mechanistically forced by cell division); planarian circuit ranks lowest (coupling strength is an unmeasured assumption).</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Betting on the organism with a measured mechanism is like betting on a scale you've calibrated, not one you're guessing the weight of.</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1051560">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A new, real risk found before it was asked about</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B. subtilis biofilms' native potassium-wave signaling (Prindle et al. 2015) corrupts single-snapshot voltage reads at just 10-20mV, even when the underlying circuit data is 100% intact.</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050" dirty="0">
                          <a:solidFill>
                            <a:srgbClr val="16232F"/>
                          </a:solidFill>
                          <a:latin typeface="Calibri" pitchFamily="34" charset="0"/>
                          <a:ea typeface="Calibri" pitchFamily="34" charset="-122"/>
                          <a:cs typeface="Calibri" pitchFamily="34" charset="-120"/>
                        </a:rPr>
                        <a:t>Circuit = Radio station = Reading the signal at the wrong moment is like tuning in during a burst of static. The message was sent correctly; you just have to listen at the right time.</a:t>
                      </a:r>
                      <a:endParaRPr lang="en-US" sz="105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bl>
          </a:graphicData>
        </a:graphic>
      </p:graphicFrame>
      <p:sp>
        <p:nvSpPr>
          <p:cNvPr id="5" name="Text 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REAL STORAGE COMPETITORS</a:t>
            </a:r>
            <a:endParaRPr lang="en-US" sz="1200" dirty="0"/>
          </a:p>
        </p:txBody>
      </p:sp>
      <p:sp>
        <p:nvSpPr>
          <p:cNvPr id="3" name="Text 1"/>
          <p:cNvSpPr txBox="1"/>
          <p:nvPr/>
        </p:nvSpPr>
        <p:spPr>
          <a:xfrm>
            <a:off x="640080" y="777240"/>
            <a:ext cx="10881360" cy="777240"/>
          </a:xfrm>
          <a:prstGeom prst="rect">
            <a:avLst/>
          </a:prstGeom>
          <a:noFill/>
          <a:ln/>
        </p:spPr>
        <p:txBody>
          <a:bodyPr wrap="square" lIns="0" tIns="0" rIns="0" bIns="0" rtlCol="0" anchor="ctr"/>
          <a:lstStyle/>
          <a:p>
            <a:pPr indent="0" marL="0">
              <a:buNone/>
            </a:pPr>
            <a:r>
              <a:rPr lang="en-US" sz="2300" b="1" dirty="0">
                <a:solidFill>
                  <a:srgbClr val="16232F"/>
                </a:solidFill>
                <a:latin typeface="Cambria" pitchFamily="34" charset="0"/>
                <a:ea typeface="Cambria" pitchFamily="34" charset="-122"/>
                <a:cs typeface="Cambria" pitchFamily="34" charset="-120"/>
              </a:rPr>
              <a:t>Nobody else is storing arbitrary data as a dynamic, rewritable bioelectric state</a:t>
            </a:r>
            <a:endParaRPr lang="en-US" sz="2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72800" cy="3246120"/>
        </p:xfrm>
        <a:graphic>
          <a:graphicData uri="http://schemas.openxmlformats.org/drawingml/2006/table">
            <a:tbl>
              <a:tblPr/>
              <a:tblGrid>
                <a:gridCol w="2743200"/>
                <a:gridCol w="2743200"/>
                <a:gridCol w="2743200"/>
                <a:gridCol w="274320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Player</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they store</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mechanism</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Gap vs. Acheron</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solidFill>
                      <a:srgbClr val="0B1F3A"/>
                    </a:solidFill>
                  </a:tcPr>
                </a:tc>
              </a:tr>
              <a:tr h="868680">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Mycelium memristor</a:t>
                      </a:r>
                      <a:endParaRPr lang="en-US" sz="1200" dirty="0">
                        <a:latin typeface="Calibri" charset="0"/>
                        <a:ea typeface="Calibri" charset="0"/>
                        <a:cs typeface="Calibri" charset="0"/>
                      </a:endParaRPr>
                    </a:p>
                    <a:p>
                      <a:pPr indent="0" marL="0">
                        <a:buNone/>
                      </a:pPr>
                      <a:r>
                        <a:rPr lang="en-US" sz="1200" dirty="0">
                          <a:solidFill>
                            <a:srgbClr val="16232F"/>
                          </a:solidFill>
                          <a:latin typeface="Calibri" pitchFamily="34" charset="0"/>
                          <a:ea typeface="Calibri" pitchFamily="34" charset="-122"/>
                          <a:cs typeface="Calibri" pitchFamily="34" charset="-120"/>
                        </a:rPr>
                        <a:t>(LaRocco et al. 2025)</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Analog resistance state</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Continuous signal</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90% accuracy; no addressable write layer</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868680">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BioCompute Inc. / Biomemory</a:t>
                      </a:r>
                      <a:endParaRPr lang="en-US" sz="1200" dirty="0">
                        <a:latin typeface="Calibri" charset="0"/>
                        <a:ea typeface="Calibri" charset="0"/>
                        <a:cs typeface="Calibri" charset="0"/>
                      </a:endParaRPr>
                    </a:p>
                    <a:p>
                      <a:pPr indent="0" marL="0">
                        <a:buNone/>
                      </a:pPr>
                      <a:r>
                        <a:rPr lang="en-US" sz="1200" dirty="0">
                          <a:solidFill>
                            <a:srgbClr val="16232F"/>
                          </a:solidFill>
                          <a:latin typeface="Calibri" pitchFamily="34" charset="0"/>
                          <a:ea typeface="Calibri" pitchFamily="34" charset="-122"/>
                          <a:cs typeface="Calibri" pitchFamily="34" charset="-120"/>
                        </a:rPr>
                        <a:t>(w/ Yachie &amp; Tomita 2007 precedent)</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DNA sequence (archival)</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Destructive sequencing</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Write-once archive, not rewritable state</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r h="868680">
                <a:tc>
                  <a:txBody>
                    <a:bodyPr/>
                    <a:lstStyle/>
                    <a:p>
                      <a:pPr indent="0" marL="0">
                        <a:buNone/>
                      </a:pPr>
                      <a:r>
                        <a:rPr lang="en-US" sz="1200" b="1" dirty="0">
                          <a:solidFill>
                            <a:srgbClr val="1C8F84"/>
                          </a:solidFill>
                          <a:latin typeface="Calibri" pitchFamily="34" charset="0"/>
                          <a:ea typeface="Calibri" pitchFamily="34" charset="-122"/>
                          <a:cs typeface="Calibri" pitchFamily="34" charset="-120"/>
                        </a:rPr>
                        <a:t>Acheron</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Dynamic physiological/</a:t>
                      </a:r>
                      <a:endParaRPr lang="en-US" sz="1200" dirty="0">
                        <a:latin typeface="Calibri" charset="0"/>
                        <a:ea typeface="Calibri" charset="0"/>
                        <a:cs typeface="Calibri" charset="0"/>
                      </a:endParaRPr>
                    </a:p>
                    <a:p>
                      <a:pPr indent="0" marL="0">
                        <a:buNone/>
                      </a:pPr>
                      <a:r>
                        <a:rPr lang="en-US" sz="1200" dirty="0">
                          <a:solidFill>
                            <a:srgbClr val="16232F"/>
                          </a:solidFill>
                          <a:latin typeface="Calibri" pitchFamily="34" charset="0"/>
                          <a:ea typeface="Calibri" pitchFamily="34" charset="-122"/>
                          <a:cs typeface="Calibri" pitchFamily="34" charset="-120"/>
                        </a:rPr>
                        <a:t>bioelectric state</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Non-destructive (dye or EIS)</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c>
                  <a:txBody>
                    <a:bodyPr/>
                    <a:lstStyle/>
                    <a:p>
                      <a:pPr indent="0" marL="0">
                        <a:buNone/>
                      </a:pPr>
                      <a:r>
                        <a:rPr lang="en-US" sz="1200" b="1" dirty="0">
                          <a:solidFill>
                            <a:srgbClr val="16232F"/>
                          </a:solidFill>
                          <a:latin typeface="Calibri" pitchFamily="34" charset="0"/>
                          <a:ea typeface="Calibri" pitchFamily="34" charset="-122"/>
                          <a:cs typeface="Calibri" pitchFamily="34" charset="-120"/>
                        </a:rPr>
                        <a:t>Rewritable + self-healing, the combination nobody else has</a:t>
                      </a:r>
                      <a:endParaRPr lang="en-US" sz="1200" dirty="0">
                        <a:latin typeface="Calibri" charset="0"/>
                        <a:ea typeface="Calibri" charset="0"/>
                        <a:cs typeface="Calibri" charset="0"/>
                      </a:endParaRPr>
                    </a:p>
                  </a:txBody>
                  <a:tcPr marL="91440" marR="91440" marT="45720" marB="45720" anchor="ctr">
                    <a:lnL w="12700" cap="flat" cmpd="sng" algn="ctr">
                      <a:solidFill>
                        <a:srgbClr val="D8DEE1"/>
                      </a:solidFill>
                      <a:prstDash val="solid"/>
                      <a:round/>
                      <a:headEnd type="none" w="med" len="med"/>
                      <a:tailEnd type="none" w="med" len="med"/>
                    </a:lnL>
                    <a:lnR w="12700" cap="flat" cmpd="sng" algn="ctr">
                      <a:solidFill>
                        <a:srgbClr val="D8DEE1"/>
                      </a:solidFill>
                      <a:prstDash val="solid"/>
                      <a:round/>
                      <a:headEnd type="none" w="med" len="med"/>
                      <a:tailEnd type="none" w="med" len="med"/>
                    </a:lnR>
                    <a:lnT w="12700" cap="flat" cmpd="sng" algn="ctr">
                      <a:solidFill>
                        <a:srgbClr val="D8DEE1"/>
                      </a:solidFill>
                      <a:prstDash val="solid"/>
                      <a:round/>
                      <a:headEnd type="none" w="med" len="med"/>
                      <a:tailEnd type="none" w="med" len="med"/>
                    </a:lnT>
                    <a:lnB w="12700" cap="flat" cmpd="sng" algn="ctr">
                      <a:solidFill>
                        <a:srgbClr val="D8DEE1"/>
                      </a:solidFill>
                      <a:prstDash val="solid"/>
                      <a:round/>
                      <a:headEnd type="none" w="med" len="med"/>
                      <a:tailEnd type="none" w="med" len="med"/>
                    </a:lnB>
                  </a:tcPr>
                </a:tc>
              </a:tr>
            </a:tbl>
          </a:graphicData>
        </a:graphic>
      </p:graphicFrame>
      <p:sp>
        <p:nvSpPr>
          <p:cNvPr id="5" name="Shape 2"/>
          <p:cNvSpPr/>
          <p:nvPr/>
        </p:nvSpPr>
        <p:spPr>
          <a:xfrm>
            <a:off x="640080" y="5166360"/>
            <a:ext cx="10972800" cy="1234440"/>
          </a:xfrm>
          <a:prstGeom prst="roundRect">
            <a:avLst>
              <a:gd name="adj" fmla="val 5926"/>
            </a:avLst>
          </a:prstGeom>
          <a:solidFill>
            <a:srgbClr val="F4F6F7"/>
          </a:solidFill>
          <a:ln w="13970">
            <a:solidFill>
              <a:srgbClr val="DCE3E6"/>
            </a:solidFill>
            <a:prstDash val="solid"/>
          </a:ln>
        </p:spPr>
      </p:sp>
      <p:sp>
        <p:nvSpPr>
          <p:cNvPr id="6" name="Text 3"/>
          <p:cNvSpPr txBox="1"/>
          <p:nvPr/>
        </p:nvSpPr>
        <p:spPr>
          <a:xfrm>
            <a:off x="868680" y="5166360"/>
            <a:ext cx="10515600" cy="1234440"/>
          </a:xfrm>
          <a:prstGeom prst="rect">
            <a:avLst/>
          </a:prstGeom>
          <a:noFill/>
          <a:ln/>
        </p:spPr>
        <p:txBody>
          <a:bodyPr wrap="square" lIns="0" tIns="0" rIns="0" bIns="0" rtlCol="0" anchor="ctr"/>
          <a:lstStyle/>
          <a:p>
            <a:pPr indent="0" marL="0">
              <a:lnSpc>
                <a:spcPct val="120000"/>
              </a:lnSpc>
              <a:buNone/>
            </a:pPr>
            <a:r>
              <a:rPr lang="en-US" sz="1250" b="1" dirty="0">
                <a:solidFill>
                  <a:srgbClr val="1C8F84"/>
                </a:solidFill>
                <a:latin typeface="Calibri" pitchFamily="34" charset="0"/>
                <a:ea typeface="Calibri" pitchFamily="34" charset="-122"/>
                <a:cs typeface="Calibri" pitchFamily="34" charset="-120"/>
              </a:rPr>
              <a:t>Not included above, on purpose:  </a:t>
            </a:r>
            <a:pPr indent="0" marL="0">
              <a:lnSpc>
                <a:spcPct val="120000"/>
              </a:lnSpc>
              <a:buNone/>
            </a:pPr>
            <a:r>
              <a:rPr lang="en-US" sz="1250" dirty="0">
                <a:solidFill>
                  <a:srgbClr val="16232F"/>
                </a:solidFill>
                <a:latin typeface="Calibri" pitchFamily="34" charset="0"/>
                <a:ea typeface="Calibri" pitchFamily="34" charset="-122"/>
                <a:cs typeface="Calibri" pitchFamily="34" charset="-120"/>
              </a:rPr>
              <a:t>Cortical Labs, Koniku, and FinalSpark all build neuron-based wetware for cognition and sensing (playing games, detecting explosives, training AI), a different product category, not a memory-storage competitor. Their hardware is still worth studying, see next slide.</a:t>
            </a:r>
            <a:endParaRPr lang="en-US" sz="1250" dirty="0"/>
          </a:p>
        </p:txBody>
      </p:sp>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DIFFERENTIATION &amp; BORROWABLE RESEARCH</a:t>
            </a:r>
            <a:endParaRPr lang="en-US" sz="1200" dirty="0"/>
          </a:p>
        </p:txBody>
      </p:sp>
      <p:sp>
        <p:nvSpPr>
          <p:cNvPr id="3" name="Text 1"/>
          <p:cNvSpPr txBox="1"/>
          <p:nvPr/>
        </p:nvSpPr>
        <p:spPr>
          <a:xfrm>
            <a:off x="640080" y="777240"/>
            <a:ext cx="10881360" cy="868680"/>
          </a:xfrm>
          <a:prstGeom prst="rect">
            <a:avLst/>
          </a:prstGeom>
          <a:noFill/>
          <a:ln/>
        </p:spPr>
        <p:txBody>
          <a:bodyPr wrap="square" lIns="0" tIns="0" rIns="0" bIns="0" rtlCol="0" anchor="ctr"/>
          <a:lstStyle/>
          <a:p>
            <a:pPr indent="0" marL="0">
              <a:buNone/>
            </a:pPr>
            <a:r>
              <a:rPr lang="en-US" sz="2100" b="1" dirty="0">
                <a:solidFill>
                  <a:srgbClr val="16232F"/>
                </a:solidFill>
                <a:latin typeface="Cambria" pitchFamily="34" charset="0"/>
                <a:ea typeface="Cambria" pitchFamily="34" charset="-122"/>
                <a:cs typeface="Cambria" pitchFamily="34" charset="-120"/>
              </a:rPr>
              <a:t>Only two of these are competitors. The third is research worth borrowing from anyway</a:t>
            </a:r>
            <a:endParaRPr lang="en-US" sz="2100" dirty="0"/>
          </a:p>
        </p:txBody>
      </p:sp>
      <p:sp>
        <p:nvSpPr>
          <p:cNvPr id="4" name="Shape 2"/>
          <p:cNvSpPr/>
          <p:nvPr/>
        </p:nvSpPr>
        <p:spPr>
          <a:xfrm>
            <a:off x="64008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5" name="Shape 3"/>
          <p:cNvSpPr/>
          <p:nvPr/>
        </p:nvSpPr>
        <p:spPr>
          <a:xfrm>
            <a:off x="640080" y="1828800"/>
            <a:ext cx="3566160" cy="82296"/>
          </a:xfrm>
          <a:prstGeom prst="rect">
            <a:avLst/>
          </a:prstGeom>
          <a:solidFill>
            <a:srgbClr val="2EC4B6"/>
          </a:solidFill>
          <a:ln/>
        </p:spPr>
      </p:sp>
      <p:sp>
        <p:nvSpPr>
          <p:cNvPr id="6" name="Text 4"/>
          <p:cNvSpPr txBox="1"/>
          <p:nvPr/>
        </p:nvSpPr>
        <p:spPr>
          <a:xfrm>
            <a:off x="896112" y="2084832"/>
            <a:ext cx="3054096" cy="5943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Adjacent research, not a competitor</a:t>
            </a:r>
            <a:endParaRPr lang="en-US" sz="1550" dirty="0"/>
          </a:p>
        </p:txBody>
      </p:sp>
      <p:sp>
        <p:nvSpPr>
          <p:cNvPr id="7" name="Text 5"/>
          <p:cNvSpPr txBox="1"/>
          <p:nvPr/>
        </p:nvSpPr>
        <p:spPr>
          <a:xfrm>
            <a:off x="896112" y="2651760"/>
            <a:ext cx="3054096" cy="320040"/>
          </a:xfrm>
          <a:prstGeom prst="rect">
            <a:avLst/>
          </a:prstGeom>
          <a:noFill/>
          <a:ln/>
        </p:spPr>
        <p:txBody>
          <a:bodyPr wrap="square" lIns="0" tIns="0" rIns="0" bIns="0" rtlCol="0" anchor="ctr"/>
          <a:lstStyle/>
          <a:p>
            <a:pPr indent="0" marL="0">
              <a:buNone/>
            </a:pPr>
            <a:r>
              <a:rPr lang="en-US" sz="1050" i="1" dirty="0">
                <a:solidFill>
                  <a:srgbClr val="1C8F84"/>
                </a:solidFill>
                <a:latin typeface="Calibri" pitchFamily="34" charset="0"/>
                <a:ea typeface="Calibri" pitchFamily="34" charset="-122"/>
                <a:cs typeface="Calibri" pitchFamily="34" charset="-120"/>
              </a:rPr>
              <a:t>Cortical Labs (CL-1), Koniku</a:t>
            </a:r>
            <a:endParaRPr lang="en-US" sz="1050" dirty="0"/>
          </a:p>
        </p:txBody>
      </p:sp>
      <p:sp>
        <p:nvSpPr>
          <p:cNvPr id="8" name="Text 6"/>
          <p:cNvSpPr txBox="1"/>
          <p:nvPr/>
        </p:nvSpPr>
        <p:spPr>
          <a:xfrm>
            <a:off x="896112" y="3063240"/>
            <a:ext cx="3054096" cy="2697480"/>
          </a:xfrm>
          <a:prstGeom prst="rect">
            <a:avLst/>
          </a:prstGeom>
          <a:noFill/>
          <a:ln/>
        </p:spPr>
        <p:txBody>
          <a:bodyPr wrap="square" lIns="0" tIns="0" rIns="0" bIns="0" rtlCol="0" anchor="ctr"/>
          <a:lstStyle/>
          <a:p>
            <a:pPr indent="0" marL="0">
              <a:lnSpc>
                <a:spcPct val="115000"/>
              </a:lnSpc>
              <a:buNone/>
            </a:pPr>
            <a:r>
              <a:rPr lang="en-US" sz="1150" dirty="0">
                <a:solidFill>
                  <a:srgbClr val="5B6B77"/>
                </a:solidFill>
                <a:latin typeface="Calibri" pitchFamily="34" charset="0"/>
                <a:ea typeface="Calibri" pitchFamily="34" charset="-122"/>
                <a:cs typeface="Calibri" pitchFamily="34" charset="-120"/>
              </a:rPr>
              <a:t>Different product entirely, neuron-based cognition/sensing, not memory storage, so not a rival. Their hardware is still worth studying: CL-1 uses electrode arrays to write/read electrical signals into living tissue; Koniku holds a patent (JP6858769) for cleaner signal-to-noise electrode recording from noisy tissue, directly relevant to Acheron's own oscillation-interference problem.</a:t>
            </a:r>
            <a:endParaRPr lang="en-US" sz="1150" dirty="0"/>
          </a:p>
        </p:txBody>
      </p:sp>
      <p:sp>
        <p:nvSpPr>
          <p:cNvPr id="9" name="Shape 7"/>
          <p:cNvSpPr/>
          <p:nvPr/>
        </p:nvSpPr>
        <p:spPr>
          <a:xfrm>
            <a:off x="443484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10" name="Shape 8"/>
          <p:cNvSpPr/>
          <p:nvPr/>
        </p:nvSpPr>
        <p:spPr>
          <a:xfrm>
            <a:off x="4434840" y="1828800"/>
            <a:ext cx="3566160" cy="82296"/>
          </a:xfrm>
          <a:prstGeom prst="rect">
            <a:avLst/>
          </a:prstGeom>
          <a:solidFill>
            <a:srgbClr val="2EC4B6"/>
          </a:solidFill>
          <a:ln/>
        </p:spPr>
      </p:sp>
      <p:sp>
        <p:nvSpPr>
          <p:cNvPr id="11" name="Text 9"/>
          <p:cNvSpPr txBox="1"/>
          <p:nvPr/>
        </p:nvSpPr>
        <p:spPr>
          <a:xfrm>
            <a:off x="4690872" y="2084832"/>
            <a:ext cx="3054096" cy="5943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Mycelium memristor</a:t>
            </a:r>
            <a:endParaRPr lang="en-US" sz="1550" dirty="0"/>
          </a:p>
        </p:txBody>
      </p:sp>
      <p:sp>
        <p:nvSpPr>
          <p:cNvPr id="12" name="Text 10"/>
          <p:cNvSpPr txBox="1"/>
          <p:nvPr/>
        </p:nvSpPr>
        <p:spPr>
          <a:xfrm>
            <a:off x="4690872" y="2651760"/>
            <a:ext cx="3054096" cy="320040"/>
          </a:xfrm>
          <a:prstGeom prst="rect">
            <a:avLst/>
          </a:prstGeom>
          <a:noFill/>
          <a:ln/>
        </p:spPr>
        <p:txBody>
          <a:bodyPr wrap="square" lIns="0" tIns="0" rIns="0" bIns="0" rtlCol="0" anchor="ctr"/>
          <a:lstStyle/>
          <a:p>
            <a:pPr indent="0" marL="0">
              <a:buNone/>
            </a:pPr>
            <a:r>
              <a:rPr lang="en-US" sz="1050" i="1" dirty="0">
                <a:solidFill>
                  <a:srgbClr val="1C8F84"/>
                </a:solidFill>
                <a:latin typeface="Calibri" pitchFamily="34" charset="0"/>
                <a:ea typeface="Calibri" pitchFamily="34" charset="-122"/>
                <a:cs typeface="Calibri" pitchFamily="34" charset="-120"/>
              </a:rPr>
              <a:t>LaRocco et al. 2025, PLOS ONE</a:t>
            </a:r>
            <a:endParaRPr lang="en-US" sz="1050" dirty="0"/>
          </a:p>
        </p:txBody>
      </p:sp>
      <p:sp>
        <p:nvSpPr>
          <p:cNvPr id="13" name="Text 11"/>
          <p:cNvSpPr txBox="1"/>
          <p:nvPr/>
        </p:nvSpPr>
        <p:spPr>
          <a:xfrm>
            <a:off x="4690872" y="3063240"/>
            <a:ext cx="3054096" cy="2697480"/>
          </a:xfrm>
          <a:prstGeom prst="rect">
            <a:avLst/>
          </a:prstGeom>
          <a:noFill/>
          <a:ln/>
        </p:spPr>
        <p:txBody>
          <a:bodyPr wrap="square" lIns="0" tIns="0" rIns="0" bIns="0" rtlCol="0" anchor="ctr"/>
          <a:lstStyle/>
          <a:p>
            <a:pPr indent="0" marL="0">
              <a:lnSpc>
                <a:spcPct val="115000"/>
              </a:lnSpc>
              <a:buNone/>
            </a:pPr>
            <a:r>
              <a:rPr lang="en-US" sz="1150" dirty="0">
                <a:solidFill>
                  <a:srgbClr val="5B6B77"/>
                </a:solidFill>
                <a:latin typeface="Calibri" pitchFamily="34" charset="0"/>
                <a:ea typeface="Calibri" pitchFamily="34" charset="-122"/>
                <a:cs typeface="Calibri" pitchFamily="34" charset="-120"/>
              </a:rPr>
              <a:t>Real, and genuinely impressive, 90±1% accuracy, survives dehydration. But it's an analog device: one continuous resistance value, no addressable write layer. 90% accuracy also fails as binary storage (wrong 1 time in 10 isn't usable). Acheron targets an addressable, individually read/writable bit, not a continuous signal.</a:t>
            </a:r>
            <a:endParaRPr lang="en-US" sz="1150" dirty="0"/>
          </a:p>
        </p:txBody>
      </p:sp>
      <p:sp>
        <p:nvSpPr>
          <p:cNvPr id="14" name="Shape 12"/>
          <p:cNvSpPr/>
          <p:nvPr/>
        </p:nvSpPr>
        <p:spPr>
          <a:xfrm>
            <a:off x="8229600" y="1828800"/>
            <a:ext cx="3566160" cy="4114800"/>
          </a:xfrm>
          <a:prstGeom prst="roundRect">
            <a:avLst>
              <a:gd name="adj" fmla="val 2051"/>
            </a:avLst>
          </a:prstGeom>
          <a:solidFill>
            <a:srgbClr val="FFFFFF"/>
          </a:solidFill>
          <a:ln w="12700">
            <a:solidFill>
              <a:srgbClr val="DCE3E6"/>
            </a:solidFill>
            <a:prstDash val="solid"/>
          </a:ln>
          <a:effectLst>
            <a:outerShdw sx="100000" sy="100000" kx="0" ky="0" algn="bl" rotWithShape="0" blurRad="76200" dist="38100" dir="5400000">
              <a:srgbClr val="1B2B33">
                <a:alpha val="12000"/>
              </a:srgbClr>
            </a:outerShdw>
          </a:effectLst>
        </p:spPr>
      </p:sp>
      <p:sp>
        <p:nvSpPr>
          <p:cNvPr id="15" name="Shape 13"/>
          <p:cNvSpPr/>
          <p:nvPr/>
        </p:nvSpPr>
        <p:spPr>
          <a:xfrm>
            <a:off x="8229600" y="1828800"/>
            <a:ext cx="3566160" cy="82296"/>
          </a:xfrm>
          <a:prstGeom prst="rect">
            <a:avLst/>
          </a:prstGeom>
          <a:solidFill>
            <a:srgbClr val="2EC4B6"/>
          </a:solidFill>
          <a:ln/>
        </p:spPr>
      </p:sp>
      <p:sp>
        <p:nvSpPr>
          <p:cNvPr id="16" name="Text 14"/>
          <p:cNvSpPr txBox="1"/>
          <p:nvPr/>
        </p:nvSpPr>
        <p:spPr>
          <a:xfrm>
            <a:off x="8485632" y="2084832"/>
            <a:ext cx="3054096" cy="594360"/>
          </a:xfrm>
          <a:prstGeom prst="rect">
            <a:avLst/>
          </a:prstGeom>
          <a:noFill/>
          <a:ln/>
        </p:spPr>
        <p:txBody>
          <a:bodyPr wrap="square" lIns="0" tIns="0" rIns="0" bIns="0" rtlCol="0" anchor="ctr"/>
          <a:lstStyle/>
          <a:p>
            <a:pPr indent="0" marL="0">
              <a:buNone/>
            </a:pPr>
            <a:r>
              <a:rPr lang="en-US" sz="1550" b="1" dirty="0">
                <a:solidFill>
                  <a:srgbClr val="16232F"/>
                </a:solidFill>
                <a:latin typeface="Cambria" pitchFamily="34" charset="0"/>
                <a:ea typeface="Cambria" pitchFamily="34" charset="-122"/>
                <a:cs typeface="Cambria" pitchFamily="34" charset="-120"/>
              </a:rPr>
              <a:t>DNA-sequence storage</a:t>
            </a:r>
            <a:endParaRPr lang="en-US" sz="1550" dirty="0"/>
          </a:p>
        </p:txBody>
      </p:sp>
      <p:sp>
        <p:nvSpPr>
          <p:cNvPr id="17" name="Text 15"/>
          <p:cNvSpPr txBox="1"/>
          <p:nvPr/>
        </p:nvSpPr>
        <p:spPr>
          <a:xfrm>
            <a:off x="8485632" y="2651760"/>
            <a:ext cx="3054096" cy="320040"/>
          </a:xfrm>
          <a:prstGeom prst="rect">
            <a:avLst/>
          </a:prstGeom>
          <a:noFill/>
          <a:ln/>
        </p:spPr>
        <p:txBody>
          <a:bodyPr wrap="square" lIns="0" tIns="0" rIns="0" bIns="0" rtlCol="0" anchor="ctr"/>
          <a:lstStyle/>
          <a:p>
            <a:pPr indent="0" marL="0">
              <a:buNone/>
            </a:pPr>
            <a:r>
              <a:rPr lang="en-US" sz="1050" i="1" dirty="0">
                <a:solidFill>
                  <a:srgbClr val="1C8F84"/>
                </a:solidFill>
                <a:latin typeface="Calibri" pitchFamily="34" charset="0"/>
                <a:ea typeface="Calibri" pitchFamily="34" charset="-122"/>
                <a:cs typeface="Calibri" pitchFamily="34" charset="-120"/>
              </a:rPr>
              <a:t>BioCompute Inc. / Biomemory (Yachie &amp; Tomita 2007 precedent)</a:t>
            </a:r>
            <a:endParaRPr lang="en-US" sz="1050" dirty="0"/>
          </a:p>
        </p:txBody>
      </p:sp>
      <p:sp>
        <p:nvSpPr>
          <p:cNvPr id="18" name="Text 16"/>
          <p:cNvSpPr txBox="1"/>
          <p:nvPr/>
        </p:nvSpPr>
        <p:spPr>
          <a:xfrm>
            <a:off x="8485632" y="3063240"/>
            <a:ext cx="3054096" cy="2697480"/>
          </a:xfrm>
          <a:prstGeom prst="rect">
            <a:avLst/>
          </a:prstGeom>
          <a:noFill/>
          <a:ln/>
        </p:spPr>
        <p:txBody>
          <a:bodyPr wrap="square" lIns="0" tIns="0" rIns="0" bIns="0" rtlCol="0" anchor="ctr"/>
          <a:lstStyle/>
          <a:p>
            <a:pPr indent="0" marL="0">
              <a:lnSpc>
                <a:spcPct val="115000"/>
              </a:lnSpc>
              <a:buNone/>
            </a:pPr>
            <a:r>
              <a:rPr lang="en-US" sz="1150" dirty="0">
                <a:solidFill>
                  <a:srgbClr val="5B6B77"/>
                </a:solidFill>
                <a:latin typeface="Calibri" pitchFamily="34" charset="0"/>
                <a:ea typeface="Calibri" pitchFamily="34" charset="-122"/>
                <a:cs typeface="Calibri" pitchFamily="34" charset="-120"/>
              </a:rPr>
              <a:t>Real, funded, already storing arbitrary data in a genome, and gaining ground fast (Biomemory acquired Catalog Technologies in 2026, targeting commercial launch by year end). But it's archival: written once, read only by destroying the sample via sequencing. Acheron is solving a different problem on purpose, a dynamic, rewritable, non-destructively-readable state, not a write-once archive.</a:t>
            </a:r>
            <a:endParaRPr lang="en-US" sz="1150" dirty="0"/>
          </a:p>
        </p:txBody>
      </p:sp>
      <p:sp>
        <p:nvSpPr>
          <p:cNvPr id="19" name="Text 1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IF THE CORE MECHANISM VALIDATES</a:t>
            </a:r>
            <a:endParaRPr lang="en-US" sz="1200" dirty="0"/>
          </a:p>
        </p:txBody>
      </p:sp>
      <p:sp>
        <p:nvSpPr>
          <p:cNvPr id="3" name="Text 1"/>
          <p:cNvSpPr txBox="1"/>
          <p:nvPr/>
        </p:nvSpPr>
        <p:spPr>
          <a:xfrm>
            <a:off x="640080" y="822960"/>
            <a:ext cx="108813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real, externally-verifiable numbers, not an invented forecast</a:t>
            </a:r>
            <a:endParaRPr lang="en-US" sz="2600" dirty="0"/>
          </a:p>
        </p:txBody>
      </p:sp>
      <p:sp>
        <p:nvSpPr>
          <p:cNvPr id="4" name="Shape 2"/>
          <p:cNvSpPr/>
          <p:nvPr/>
        </p:nvSpPr>
        <p:spPr>
          <a:xfrm>
            <a:off x="640080" y="1828800"/>
            <a:ext cx="5257800" cy="4023360"/>
          </a:xfrm>
          <a:prstGeom prst="roundRect">
            <a:avLst>
              <a:gd name="adj" fmla="val 1818"/>
            </a:avLst>
          </a:prstGeom>
          <a:solidFill>
            <a:srgbClr val="132A4D"/>
          </a:solidFill>
          <a:ln/>
        </p:spPr>
      </p:sp>
      <p:sp>
        <p:nvSpPr>
          <p:cNvPr id="5" name="Text 3"/>
          <p:cNvSpPr txBox="1"/>
          <p:nvPr/>
        </p:nvSpPr>
        <p:spPr>
          <a:xfrm>
            <a:off x="914400" y="2103120"/>
            <a:ext cx="4754880" cy="822960"/>
          </a:xfrm>
          <a:prstGeom prst="rect">
            <a:avLst/>
          </a:prstGeom>
          <a:noFill/>
          <a:ln/>
        </p:spPr>
        <p:txBody>
          <a:bodyPr wrap="square" lIns="0" tIns="0" rIns="0" bIns="0" rtlCol="0" anchor="ctr"/>
          <a:lstStyle/>
          <a:p>
            <a:pPr indent="0" marL="0">
              <a:buNone/>
            </a:pPr>
            <a:r>
              <a:rPr lang="en-US" sz="3200" b="1" dirty="0">
                <a:solidFill>
                  <a:srgbClr val="2EC4B6"/>
                </a:solidFill>
                <a:latin typeface="Cambria" pitchFamily="34" charset="0"/>
                <a:ea typeface="Cambria" pitchFamily="34" charset="-122"/>
                <a:cs typeface="Cambria" pitchFamily="34" charset="-120"/>
              </a:rPr>
              <a:t>$350K / 5 yrs</a:t>
            </a:r>
            <a:endParaRPr lang="en-US" sz="3200" dirty="0"/>
          </a:p>
        </p:txBody>
      </p:sp>
      <p:sp>
        <p:nvSpPr>
          <p:cNvPr id="6" name="Text 4"/>
          <p:cNvSpPr txBox="1"/>
          <p:nvPr/>
        </p:nvSpPr>
        <p:spPr>
          <a:xfrm>
            <a:off x="914400" y="2880360"/>
            <a:ext cx="47548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customers already pay for the closest existing alternative</a:t>
            </a:r>
            <a:endParaRPr lang="en-US" sz="1300" dirty="0"/>
          </a:p>
        </p:txBody>
      </p:sp>
      <p:sp>
        <p:nvSpPr>
          <p:cNvPr id="7" name="Text 5"/>
          <p:cNvSpPr txBox="1"/>
          <p:nvPr/>
        </p:nvSpPr>
        <p:spPr>
          <a:xfrm>
            <a:off x="914400" y="3383280"/>
            <a:ext cx="4754880" cy="2286000"/>
          </a:xfrm>
          <a:prstGeom prst="rect">
            <a:avLst/>
          </a:prstGeom>
          <a:noFill/>
          <a:ln/>
        </p:spPr>
        <p:txBody>
          <a:bodyPr wrap="square" lIns="0" tIns="0" rIns="0" bIns="0" rtlCol="0" anchor="ctr"/>
          <a:lstStyle/>
          <a:p>
            <a:pPr indent="0" marL="0">
              <a:lnSpc>
                <a:spcPct val="120000"/>
              </a:lnSpc>
              <a:buNone/>
            </a:pPr>
            <a:r>
              <a:rPr lang="en-US" sz="1250" dirty="0">
                <a:solidFill>
                  <a:srgbClr val="CFE0DD"/>
                </a:solidFill>
                <a:latin typeface="Calibri" pitchFamily="34" charset="0"/>
                <a:ea typeface="Calibri" pitchFamily="34" charset="-122"/>
                <a:cs typeface="Calibri" pitchFamily="34" charset="-120"/>
              </a:rPr>
              <a:t>Cortical Labs' CL-1 (neuron-based): $35,000/unit, replaced every 6 months, zero self-repair. A live, public data point for what this market already tolerates paying to avoid downtime, from a substrate that can't heal itself.</a:t>
            </a:r>
            <a:endParaRPr lang="en-US" sz="1250" dirty="0"/>
          </a:p>
        </p:txBody>
      </p:sp>
      <p:sp>
        <p:nvSpPr>
          <p:cNvPr id="8" name="Shape 6"/>
          <p:cNvSpPr/>
          <p:nvPr/>
        </p:nvSpPr>
        <p:spPr>
          <a:xfrm>
            <a:off x="6172200" y="1828800"/>
            <a:ext cx="5394960" cy="4023360"/>
          </a:xfrm>
          <a:prstGeom prst="roundRect">
            <a:avLst>
              <a:gd name="adj" fmla="val 1818"/>
            </a:avLst>
          </a:prstGeom>
          <a:solidFill>
            <a:srgbClr val="132A4D"/>
          </a:solidFill>
          <a:ln/>
        </p:spPr>
      </p:sp>
      <p:sp>
        <p:nvSpPr>
          <p:cNvPr id="9" name="Text 7"/>
          <p:cNvSpPr txBox="1"/>
          <p:nvPr/>
        </p:nvSpPr>
        <p:spPr>
          <a:xfrm>
            <a:off x="6446520" y="2103120"/>
            <a:ext cx="4846320" cy="822960"/>
          </a:xfrm>
          <a:prstGeom prst="rect">
            <a:avLst/>
          </a:prstGeom>
          <a:noFill/>
          <a:ln/>
        </p:spPr>
        <p:txBody>
          <a:bodyPr wrap="square" lIns="0" tIns="0" rIns="0" bIns="0" rtlCol="0" anchor="ctr"/>
          <a:lstStyle/>
          <a:p>
            <a:pPr indent="0" marL="0">
              <a:buNone/>
            </a:pPr>
            <a:r>
              <a:rPr lang="en-US" sz="3200" b="1" dirty="0">
                <a:solidFill>
                  <a:srgbClr val="2EC4B6"/>
                </a:solidFill>
                <a:latin typeface="Cambria" pitchFamily="34" charset="0"/>
                <a:ea typeface="Cambria" pitchFamily="34" charset="-122"/>
                <a:cs typeface="Cambria" pitchFamily="34" charset="-120"/>
              </a:rPr>
              <a:t>$1.2B–$2.0B</a:t>
            </a:r>
            <a:endParaRPr lang="en-US" sz="3200" dirty="0"/>
          </a:p>
        </p:txBody>
      </p:sp>
      <p:sp>
        <p:nvSpPr>
          <p:cNvPr id="10" name="Text 8"/>
          <p:cNvSpPr txBox="1"/>
          <p:nvPr/>
        </p:nvSpPr>
        <p:spPr>
          <a:xfrm>
            <a:off x="6446520" y="2880360"/>
            <a:ext cx="484632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Radiation-hardened space electronics, 2026 (independent analyst range)</a:t>
            </a:r>
            <a:endParaRPr lang="en-US" sz="1300" dirty="0"/>
          </a:p>
        </p:txBody>
      </p:sp>
      <p:sp>
        <p:nvSpPr>
          <p:cNvPr id="11" name="Text 9"/>
          <p:cNvSpPr txBox="1"/>
          <p:nvPr/>
        </p:nvSpPr>
        <p:spPr>
          <a:xfrm>
            <a:off x="6446520" y="3474720"/>
            <a:ext cx="4846320" cy="2286000"/>
          </a:xfrm>
          <a:prstGeom prst="rect">
            <a:avLst/>
          </a:prstGeom>
          <a:noFill/>
          <a:ln/>
        </p:spPr>
        <p:txBody>
          <a:bodyPr wrap="square" lIns="0" tIns="0" rIns="0" bIns="0" rtlCol="0" anchor="ctr"/>
          <a:lstStyle/>
          <a:p>
            <a:pPr indent="0" marL="0">
              <a:lnSpc>
                <a:spcPct val="120000"/>
              </a:lnSpc>
              <a:buNone/>
            </a:pPr>
            <a:r>
              <a:rPr lang="en-US" sz="1200" dirty="0">
                <a:solidFill>
                  <a:srgbClr val="CFE0DD"/>
                </a:solidFill>
                <a:latin typeface="Calibri" pitchFamily="34" charset="0"/>
                <a:ea typeface="Calibri" pitchFamily="34" charset="-122"/>
                <a:cs typeface="Calibri" pitchFamily="34" charset="-120"/>
              </a:rPr>
              <a:t>Growing ~4-5.6% CAGR into the early 2030s (Grand View Research, Fortune Business Insights, Research and Markets), driven by LEO satellite constellations (Starlink, Kuiper, OneWeb) needing more radiation-tolerant memory. We claim no specific share of this, it's evidence the underlying need is real and growing, not a number we made up.</a:t>
            </a:r>
            <a:endParaRPr lang="en-US" sz="1200" dirty="0"/>
          </a:p>
        </p:txBody>
      </p:sp>
      <p:sp>
        <p:nvSpPr>
          <p:cNvPr id="12" name="Text 10"/>
          <p:cNvSpPr txBox="1"/>
          <p:nvPr/>
        </p:nvSpPr>
        <p:spPr>
          <a:xfrm>
            <a:off x="640080" y="5943600"/>
            <a:ext cx="10972800" cy="685800"/>
          </a:xfrm>
          <a:prstGeom prst="rect">
            <a:avLst/>
          </a:prstGeom>
          <a:noFill/>
          <a:ln/>
        </p:spPr>
        <p:txBody>
          <a:bodyPr wrap="square" lIns="0" tIns="0" rIns="0" bIns="0" rtlCol="0" anchor="ctr"/>
          <a:lstStyle/>
          <a:p>
            <a:pPr indent="0" marL="0">
              <a:lnSpc>
                <a:spcPct val="115000"/>
              </a:lnSpc>
              <a:buNone/>
            </a:pPr>
            <a:r>
              <a:rPr lang="en-US" sz="1250" i="1" dirty="0">
                <a:solidFill>
                  <a:srgbClr val="AEC2C8"/>
                </a:solidFill>
                <a:latin typeface="Calibri" pitchFamily="34" charset="0"/>
                <a:ea typeface="Calibri" pitchFamily="34" charset="-122"/>
                <a:cs typeface="Calibri" pitchFamily="34" charset="-120"/>
              </a:rPr>
              <a:t>The same underlying need, radiation-tolerant, low-maintenance memory with no technician access, recurs across extreme-environment computing broadly: spacecraft, deep-sea systems, remote infrastructure. This upside is entirely conditional on the roadmap experiment below succeeding. We're not asking anyone to price the risk in advance, we're asking for what it costs to find out.</a:t>
            </a:r>
            <a:endParaRPr lang="en-US" sz="1250" dirty="0"/>
          </a:p>
        </p:txBody>
      </p:sp>
      <p:sp>
        <p:nvSpPr>
          <p:cNvPr id="13" name="Text 11"/>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640080" y="822960"/>
            <a:ext cx="1088136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one experiment that changes everything</a:t>
            </a:r>
            <a:endParaRPr lang="en-US" sz="2800" dirty="0"/>
          </a:p>
        </p:txBody>
      </p:sp>
      <p:sp>
        <p:nvSpPr>
          <p:cNvPr id="4" name="Text 2"/>
          <p:cNvSpPr txBox="1"/>
          <p:nvPr/>
        </p:nvSpPr>
        <p:spPr>
          <a:xfrm>
            <a:off x="640080" y="1554480"/>
            <a:ext cx="10515600" cy="548640"/>
          </a:xfrm>
          <a:prstGeom prst="rect">
            <a:avLst/>
          </a:prstGeom>
          <a:noFill/>
          <a:ln/>
        </p:spPr>
        <p:txBody>
          <a:bodyPr wrap="square" lIns="0" tIns="0" rIns="0" bIns="0" rtlCol="0" anchor="ctr"/>
          <a:lstStyle/>
          <a:p>
            <a:pPr indent="0" marL="0">
              <a:buNone/>
            </a:pPr>
            <a:r>
              <a:rPr lang="en-US" sz="1400" dirty="0">
                <a:solidFill>
                  <a:srgbClr val="AEC2C8"/>
                </a:solidFill>
                <a:latin typeface="Calibri" pitchFamily="34" charset="0"/>
                <a:ea typeface="Calibri" pitchFamily="34" charset="-122"/>
                <a:cs typeface="Calibri" pitchFamily="34" charset="-120"/>
              </a:rPr>
              <a:t>Build the matched-promoter toggle circuit in B. subtilis, write a bit, damage the colony, let it regrow, read the bit back non-destructively via EIS.</a:t>
            </a:r>
            <a:endParaRPr lang="en-US" sz="1400" dirty="0"/>
          </a:p>
        </p:txBody>
      </p:sp>
      <p:sp>
        <p:nvSpPr>
          <p:cNvPr id="5" name="Shape 3"/>
          <p:cNvSpPr/>
          <p:nvPr/>
        </p:nvSpPr>
        <p:spPr>
          <a:xfrm>
            <a:off x="640080" y="2377440"/>
            <a:ext cx="3566160" cy="2286000"/>
          </a:xfrm>
          <a:prstGeom prst="roundRect">
            <a:avLst>
              <a:gd name="adj" fmla="val 3200"/>
            </a:avLst>
          </a:prstGeom>
          <a:solidFill>
            <a:srgbClr val="132A4D"/>
          </a:solidFill>
          <a:ln/>
        </p:spPr>
      </p:sp>
      <p:sp>
        <p:nvSpPr>
          <p:cNvPr id="6" name="Text 4"/>
          <p:cNvSpPr txBox="1"/>
          <p:nvPr/>
        </p:nvSpPr>
        <p:spPr>
          <a:xfrm>
            <a:off x="914400" y="2606040"/>
            <a:ext cx="3017520" cy="914400"/>
          </a:xfrm>
          <a:prstGeom prst="rect">
            <a:avLst/>
          </a:prstGeom>
          <a:noFill/>
          <a:ln/>
        </p:spPr>
        <p:txBody>
          <a:bodyPr wrap="square" lIns="0" tIns="0" rIns="0" bIns="0" rtlCol="0" anchor="ctr"/>
          <a:lstStyle/>
          <a:p>
            <a:pPr indent="0" marL="0">
              <a:buNone/>
            </a:pPr>
            <a:r>
              <a:rPr lang="en-US" sz="3400" b="1" dirty="0">
                <a:solidFill>
                  <a:srgbClr val="2EC4B6"/>
                </a:solidFill>
                <a:latin typeface="Cambria" pitchFamily="34" charset="0"/>
                <a:ea typeface="Cambria" pitchFamily="34" charset="-122"/>
                <a:cs typeface="Cambria" pitchFamily="34" charset="-120"/>
              </a:rPr>
              <a:t>$10K-$30K</a:t>
            </a:r>
            <a:endParaRPr lang="en-US" sz="3400" dirty="0"/>
          </a:p>
        </p:txBody>
      </p:sp>
      <p:sp>
        <p:nvSpPr>
          <p:cNvPr id="7" name="Text 5"/>
          <p:cNvSpPr txBox="1"/>
          <p:nvPr/>
        </p:nvSpPr>
        <p:spPr>
          <a:xfrm>
            <a:off x="914400" y="3429000"/>
            <a:ext cx="3017520" cy="1097280"/>
          </a:xfrm>
          <a:prstGeom prst="rect">
            <a:avLst/>
          </a:prstGeom>
          <a:noFill/>
          <a:ln/>
        </p:spPr>
        <p:txBody>
          <a:bodyPr wrap="square" lIns="0" tIns="0" rIns="0" bIns="0" rtlCol="0" anchor="ctr"/>
          <a:lstStyle/>
          <a:p>
            <a:pPr indent="0" marL="0">
              <a:lnSpc>
                <a:spcPct val="115000"/>
              </a:lnSpc>
              <a:buNone/>
            </a:pPr>
            <a:r>
              <a:rPr lang="en-US" sz="1250" dirty="0">
                <a:solidFill>
                  <a:srgbClr val="CFE0DD"/>
                </a:solidFill>
                <a:latin typeface="Calibri" pitchFamily="34" charset="0"/>
                <a:ea typeface="Calibri" pitchFamily="34" charset="-122"/>
                <a:cs typeface="Calibri" pitchFamily="34" charset="-120"/>
              </a:rPr>
              <a:t>Cost, reagents, cloning, lab bench access</a:t>
            </a:r>
            <a:endParaRPr lang="en-US" sz="1250" dirty="0"/>
          </a:p>
        </p:txBody>
      </p:sp>
      <p:sp>
        <p:nvSpPr>
          <p:cNvPr id="8" name="Shape 6"/>
          <p:cNvSpPr/>
          <p:nvPr/>
        </p:nvSpPr>
        <p:spPr>
          <a:xfrm>
            <a:off x="4389120" y="2377440"/>
            <a:ext cx="3566160" cy="2286000"/>
          </a:xfrm>
          <a:prstGeom prst="roundRect">
            <a:avLst>
              <a:gd name="adj" fmla="val 3200"/>
            </a:avLst>
          </a:prstGeom>
          <a:solidFill>
            <a:srgbClr val="132A4D"/>
          </a:solidFill>
          <a:ln/>
        </p:spPr>
      </p:sp>
      <p:sp>
        <p:nvSpPr>
          <p:cNvPr id="9" name="Text 7"/>
          <p:cNvSpPr txBox="1"/>
          <p:nvPr/>
        </p:nvSpPr>
        <p:spPr>
          <a:xfrm>
            <a:off x="4663440" y="2606040"/>
            <a:ext cx="3017520" cy="914400"/>
          </a:xfrm>
          <a:prstGeom prst="rect">
            <a:avLst/>
          </a:prstGeom>
          <a:noFill/>
          <a:ln/>
        </p:spPr>
        <p:txBody>
          <a:bodyPr wrap="square" lIns="0" tIns="0" rIns="0" bIns="0" rtlCol="0" anchor="ctr"/>
          <a:lstStyle/>
          <a:p>
            <a:pPr indent="0" marL="0">
              <a:buNone/>
            </a:pPr>
            <a:r>
              <a:rPr lang="en-US" sz="3400" b="1" dirty="0">
                <a:solidFill>
                  <a:srgbClr val="2EC4B6"/>
                </a:solidFill>
                <a:latin typeface="Cambria" pitchFamily="34" charset="0"/>
                <a:ea typeface="Cambria" pitchFamily="34" charset="-122"/>
                <a:cs typeface="Cambria" pitchFamily="34" charset="-120"/>
              </a:rPr>
              <a:t>6-12 mo</a:t>
            </a:r>
            <a:endParaRPr lang="en-US" sz="3400" dirty="0"/>
          </a:p>
        </p:txBody>
      </p:sp>
      <p:sp>
        <p:nvSpPr>
          <p:cNvPr id="10" name="Text 8"/>
          <p:cNvSpPr txBox="1"/>
          <p:nvPr/>
        </p:nvSpPr>
        <p:spPr>
          <a:xfrm>
            <a:off x="4663440" y="3429000"/>
            <a:ext cx="3017520" cy="1097280"/>
          </a:xfrm>
          <a:prstGeom prst="rect">
            <a:avLst/>
          </a:prstGeom>
          <a:noFill/>
          <a:ln/>
        </p:spPr>
        <p:txBody>
          <a:bodyPr wrap="square" lIns="0" tIns="0" rIns="0" bIns="0" rtlCol="0" anchor="ctr"/>
          <a:lstStyle/>
          <a:p>
            <a:pPr indent="0" marL="0">
              <a:lnSpc>
                <a:spcPct val="115000"/>
              </a:lnSpc>
              <a:buNone/>
            </a:pPr>
            <a:r>
              <a:rPr lang="en-US" sz="1250" dirty="0">
                <a:solidFill>
                  <a:srgbClr val="CFE0DD"/>
                </a:solidFill>
                <a:latin typeface="Calibri" pitchFamily="34" charset="0"/>
                <a:ea typeface="Calibri" pitchFamily="34" charset="-122"/>
                <a:cs typeface="Calibri" pitchFamily="34" charset="-120"/>
              </a:rPr>
              <a:t>Timeline to a clear yes/no answer</a:t>
            </a:r>
            <a:endParaRPr lang="en-US" sz="1250" dirty="0"/>
          </a:p>
        </p:txBody>
      </p:sp>
      <p:sp>
        <p:nvSpPr>
          <p:cNvPr id="11" name="Shape 9"/>
          <p:cNvSpPr/>
          <p:nvPr/>
        </p:nvSpPr>
        <p:spPr>
          <a:xfrm>
            <a:off x="8138160" y="2377440"/>
            <a:ext cx="3566160" cy="2286000"/>
          </a:xfrm>
          <a:prstGeom prst="roundRect">
            <a:avLst>
              <a:gd name="adj" fmla="val 3200"/>
            </a:avLst>
          </a:prstGeom>
          <a:solidFill>
            <a:srgbClr val="132A4D"/>
          </a:solidFill>
          <a:ln/>
        </p:spPr>
      </p:sp>
      <p:sp>
        <p:nvSpPr>
          <p:cNvPr id="12" name="Text 10"/>
          <p:cNvSpPr txBox="1"/>
          <p:nvPr/>
        </p:nvSpPr>
        <p:spPr>
          <a:xfrm>
            <a:off x="8412480" y="2606040"/>
            <a:ext cx="3017520" cy="914400"/>
          </a:xfrm>
          <a:prstGeom prst="rect">
            <a:avLst/>
          </a:prstGeom>
          <a:noFill/>
          <a:ln/>
        </p:spPr>
        <p:txBody>
          <a:bodyPr wrap="square" lIns="0" tIns="0" rIns="0" bIns="0" rtlCol="0" anchor="ctr"/>
          <a:lstStyle/>
          <a:p>
            <a:pPr indent="0" marL="0">
              <a:buNone/>
            </a:pPr>
            <a:r>
              <a:rPr lang="en-US" sz="3400" b="1" dirty="0">
                <a:solidFill>
                  <a:srgbClr val="2EC4B6"/>
                </a:solidFill>
                <a:latin typeface="Cambria" pitchFamily="34" charset="0"/>
                <a:ea typeface="Cambria" pitchFamily="34" charset="-122"/>
                <a:cs typeface="Cambria" pitchFamily="34" charset="-120"/>
              </a:rPr>
              <a:t>2</a:t>
            </a:r>
            <a:endParaRPr lang="en-US" sz="3400" dirty="0"/>
          </a:p>
        </p:txBody>
      </p:sp>
      <p:sp>
        <p:nvSpPr>
          <p:cNvPr id="13" name="Text 11"/>
          <p:cNvSpPr txBox="1"/>
          <p:nvPr/>
        </p:nvSpPr>
        <p:spPr>
          <a:xfrm>
            <a:off x="8412480" y="3429000"/>
            <a:ext cx="3017520" cy="1097280"/>
          </a:xfrm>
          <a:prstGeom prst="rect">
            <a:avLst/>
          </a:prstGeom>
          <a:noFill/>
          <a:ln/>
        </p:spPr>
        <p:txBody>
          <a:bodyPr wrap="square" lIns="0" tIns="0" rIns="0" bIns="0" rtlCol="0" anchor="ctr"/>
          <a:lstStyle/>
          <a:p>
            <a:pPr indent="0" marL="0">
              <a:lnSpc>
                <a:spcPct val="115000"/>
              </a:lnSpc>
              <a:buNone/>
            </a:pPr>
            <a:r>
              <a:rPr lang="en-US" sz="1250" dirty="0">
                <a:solidFill>
                  <a:srgbClr val="CFE0DD"/>
                </a:solidFill>
                <a:latin typeface="Calibri" pitchFamily="34" charset="0"/>
                <a:ea typeface="Calibri" pitchFamily="34" charset="-122"/>
                <a:cs typeface="Calibri" pitchFamily="34" charset="-120"/>
              </a:rPr>
              <a:t>Outcomes only, validate the mechanism, or cleanly redirect to methylation, next by our own ranking</a:t>
            </a:r>
            <a:endParaRPr lang="en-US" sz="1250" dirty="0"/>
          </a:p>
        </p:txBody>
      </p:sp>
      <p:sp>
        <p:nvSpPr>
          <p:cNvPr id="14" name="Text 12"/>
          <p:cNvSpPr txBox="1"/>
          <p:nvPr/>
        </p:nvSpPr>
        <p:spPr>
          <a:xfrm>
            <a:off x="640080" y="4937760"/>
            <a:ext cx="10515600" cy="457200"/>
          </a:xfrm>
          <a:prstGeom prst="rect">
            <a:avLst/>
          </a:prstGeom>
          <a:noFill/>
          <a:ln/>
        </p:spPr>
        <p:txBody>
          <a:bodyPr wrap="square" lIns="0" tIns="0" rIns="0" bIns="0" rtlCol="0" anchor="ctr"/>
          <a:lstStyle/>
          <a:p>
            <a:pPr indent="0" marL="0">
              <a:buNone/>
            </a:pPr>
            <a:r>
              <a:rPr lang="en-US" sz="1400" i="1" dirty="0">
                <a:solidFill>
                  <a:srgbClr val="8FA6AE"/>
                </a:solidFill>
                <a:latin typeface="Calibri" pitchFamily="34" charset="0"/>
                <a:ea typeface="Calibri" pitchFamily="34" charset="-122"/>
                <a:cs typeface="Calibri" pitchFamily="34" charset="-120"/>
              </a:rPr>
              <a:t>Deliberately the cheapest, fastest experiment that produces a real answer, not a moonshot ask.</a:t>
            </a:r>
            <a:endParaRPr lang="en-US" sz="1400" dirty="0"/>
          </a:p>
        </p:txBody>
      </p:sp>
      <p:sp>
        <p:nvSpPr>
          <p:cNvPr id="15" name="Text 13"/>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WHAT WE'RE ASKING FOR</a:t>
            </a:r>
            <a:endParaRPr lang="en-US" sz="12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2700" b="1" dirty="0">
                <a:solidFill>
                  <a:srgbClr val="16232F"/>
                </a:solidFill>
                <a:latin typeface="Cambria" pitchFamily="34" charset="0"/>
                <a:ea typeface="Cambria" pitchFamily="34" charset="-122"/>
                <a:cs typeface="Cambria" pitchFamily="34" charset="-120"/>
              </a:rPr>
              <a:t>Deliberately small, not a seed round</a:t>
            </a:r>
            <a:endParaRPr lang="en-US" sz="2700" dirty="0"/>
          </a:p>
        </p:txBody>
      </p:sp>
      <p:sp>
        <p:nvSpPr>
          <p:cNvPr id="4" name="Text 2"/>
          <p:cNvSpPr txBox="1"/>
          <p:nvPr/>
        </p:nvSpPr>
        <p:spPr>
          <a:xfrm>
            <a:off x="640080" y="1508760"/>
            <a:ext cx="10515600" cy="457200"/>
          </a:xfrm>
          <a:prstGeom prst="rect">
            <a:avLst/>
          </a:prstGeom>
          <a:noFill/>
          <a:ln/>
        </p:spPr>
        <p:txBody>
          <a:bodyPr wrap="square" lIns="0" tIns="0" rIns="0" bIns="0" rtlCol="0" anchor="ctr"/>
          <a:lstStyle/>
          <a:p>
            <a:pPr indent="0" marL="0">
              <a:buNone/>
            </a:pPr>
            <a:r>
              <a:rPr lang="en-US" sz="1350" dirty="0">
                <a:solidFill>
                  <a:srgbClr val="5B6B77"/>
                </a:solidFill>
                <a:latin typeface="Calibri" pitchFamily="34" charset="0"/>
                <a:ea typeface="Calibri" pitchFamily="34" charset="-122"/>
                <a:cs typeface="Calibri" pitchFamily="34" charset="-120"/>
              </a:rPr>
              <a:t>We are not raising a general-purpose seed round right now. This stage needs something narrower and cheaper:</a:t>
            </a:r>
            <a:endParaRPr lang="en-US" sz="1350" dirty="0"/>
          </a:p>
        </p:txBody>
      </p:sp>
      <p:sp>
        <p:nvSpPr>
          <p:cNvPr id="5" name="Shape 3"/>
          <p:cNvSpPr/>
          <p:nvPr/>
        </p:nvSpPr>
        <p:spPr>
          <a:xfrm>
            <a:off x="640080" y="2103120"/>
            <a:ext cx="457200" cy="457200"/>
          </a:xfrm>
          <a:prstGeom prst="ellipse">
            <a:avLst/>
          </a:prstGeom>
          <a:solidFill>
            <a:srgbClr val="2EC4B6"/>
          </a:solidFill>
          <a:ln/>
        </p:spPr>
      </p:sp>
      <p:sp>
        <p:nvSpPr>
          <p:cNvPr id="6" name="Text 4"/>
          <p:cNvSpPr txBox="1"/>
          <p:nvPr/>
        </p:nvSpPr>
        <p:spPr>
          <a:xfrm>
            <a:off x="64008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25880" y="2057400"/>
            <a:ext cx="9875520" cy="36576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Funding for the wet-lab validation experiment</a:t>
            </a:r>
            <a:endParaRPr lang="en-US" sz="1600" dirty="0"/>
          </a:p>
        </p:txBody>
      </p:sp>
      <p:sp>
        <p:nvSpPr>
          <p:cNvPr id="8" name="Text 6"/>
          <p:cNvSpPr txBox="1"/>
          <p:nvPr/>
        </p:nvSpPr>
        <p:spPr>
          <a:xfrm>
            <a:off x="1325880" y="2468880"/>
            <a:ext cx="9875520" cy="59436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The ~$10K-$30K described on the roadmap slide: reagents, plasmid synthesis/cloning, lab bench access.</a:t>
            </a:r>
            <a:endParaRPr lang="en-US" sz="1250" dirty="0"/>
          </a:p>
        </p:txBody>
      </p:sp>
      <p:sp>
        <p:nvSpPr>
          <p:cNvPr id="9" name="Shape 7"/>
          <p:cNvSpPr/>
          <p:nvPr/>
        </p:nvSpPr>
        <p:spPr>
          <a:xfrm>
            <a:off x="640080" y="3200400"/>
            <a:ext cx="457200" cy="457200"/>
          </a:xfrm>
          <a:prstGeom prst="ellipse">
            <a:avLst/>
          </a:prstGeom>
          <a:solidFill>
            <a:srgbClr val="2EC4B6"/>
          </a:solidFill>
          <a:ln/>
        </p:spPr>
      </p:sp>
      <p:sp>
        <p:nvSpPr>
          <p:cNvPr id="10" name="Text 8"/>
          <p:cNvSpPr txBox="1"/>
          <p:nvPr/>
        </p:nvSpPr>
        <p:spPr>
          <a:xfrm>
            <a:off x="640080" y="3200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325880" y="3154680"/>
            <a:ext cx="9875520" cy="36576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Budget to hire a paid synthetic-biology consultant</a:t>
            </a:r>
            <a:endParaRPr lang="en-US" sz="1600" dirty="0"/>
          </a:p>
        </p:txBody>
      </p:sp>
      <p:sp>
        <p:nvSpPr>
          <p:cNvPr id="12" name="Text 10"/>
          <p:cNvSpPr txBox="1"/>
          <p:nvPr/>
        </p:nvSpPr>
        <p:spPr>
          <a:xfrm>
            <a:off x="1325880" y="3566160"/>
            <a:ext cx="9875520" cy="59436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A real expert's time to review and help execute the toggle-circuit build, not just informal mentoring hours. We'd rather pay for a few weeks of real expertise than move forward on a design nobody with domain experience has pressure-tested.</a:t>
            </a:r>
            <a:endParaRPr lang="en-US" sz="1250" dirty="0"/>
          </a:p>
        </p:txBody>
      </p:sp>
      <p:sp>
        <p:nvSpPr>
          <p:cNvPr id="13" name="Shape 11"/>
          <p:cNvSpPr/>
          <p:nvPr/>
        </p:nvSpPr>
        <p:spPr>
          <a:xfrm>
            <a:off x="640080" y="4297680"/>
            <a:ext cx="457200" cy="457200"/>
          </a:xfrm>
          <a:prstGeom prst="ellipse">
            <a:avLst/>
          </a:prstGeom>
          <a:solidFill>
            <a:srgbClr val="2EC4B6"/>
          </a:solidFill>
          <a:ln/>
        </p:spPr>
      </p:sp>
      <p:sp>
        <p:nvSpPr>
          <p:cNvPr id="14" name="Text 12"/>
          <p:cNvSpPr txBox="1"/>
          <p:nvPr/>
        </p:nvSpPr>
        <p:spPr>
          <a:xfrm>
            <a:off x="640080" y="4297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325880" y="4251960"/>
            <a:ext cx="9875520" cy="365760"/>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Lab access &amp; partnership introductions</a:t>
            </a:r>
            <a:endParaRPr lang="en-US" sz="1600" dirty="0"/>
          </a:p>
        </p:txBody>
      </p:sp>
      <p:sp>
        <p:nvSpPr>
          <p:cNvPr id="16" name="Text 14"/>
          <p:cNvSpPr txBox="1"/>
          <p:nvPr/>
        </p:nvSpPr>
        <p:spPr>
          <a:xfrm>
            <a:off x="1325880" y="4663440"/>
            <a:ext cx="9875520" cy="594360"/>
          </a:xfrm>
          <a:prstGeom prst="rect">
            <a:avLst/>
          </a:prstGeom>
          <a:noFill/>
          <a:ln/>
        </p:spPr>
        <p:txBody>
          <a:bodyPr wrap="square" lIns="0" tIns="0" rIns="0" bIns="0" rtlCol="0" anchor="ctr"/>
          <a:lstStyle/>
          <a:p>
            <a:pPr indent="0" marL="0">
              <a:lnSpc>
                <a:spcPct val="115000"/>
              </a:lnSpc>
              <a:buNone/>
            </a:pPr>
            <a:r>
              <a:rPr lang="en-US" sz="1250" dirty="0">
                <a:solidFill>
                  <a:srgbClr val="5B6B77"/>
                </a:solidFill>
                <a:latin typeface="Calibri" pitchFamily="34" charset="0"/>
                <a:ea typeface="Calibri" pitchFamily="34" charset="-122"/>
                <a:cs typeface="Calibri" pitchFamily="34" charset="-120"/>
              </a:rPr>
              <a:t>Standard bacterial transformation and plasmid cloning, B. subtilis is a workhorse organism, a far more common skill than planarian-specific culture.</a:t>
            </a:r>
            <a:endParaRPr lang="en-US" sz="1250" dirty="0"/>
          </a:p>
        </p:txBody>
      </p:sp>
      <p:sp>
        <p:nvSpPr>
          <p:cNvPr id="17" name="Shape 15"/>
          <p:cNvSpPr/>
          <p:nvPr/>
        </p:nvSpPr>
        <p:spPr>
          <a:xfrm>
            <a:off x="640080" y="5532120"/>
            <a:ext cx="10972800" cy="868680"/>
          </a:xfrm>
          <a:prstGeom prst="roundRect">
            <a:avLst>
              <a:gd name="adj" fmla="val 8421"/>
            </a:avLst>
          </a:prstGeom>
          <a:solidFill>
            <a:srgbClr val="EAF6F4"/>
          </a:solidFill>
          <a:ln w="15875">
            <a:solidFill>
              <a:srgbClr val="1C8F84"/>
            </a:solidFill>
            <a:prstDash val="solid"/>
          </a:ln>
        </p:spPr>
      </p:sp>
      <p:sp>
        <p:nvSpPr>
          <p:cNvPr id="18" name="Text 16"/>
          <p:cNvSpPr txBox="1"/>
          <p:nvPr/>
        </p:nvSpPr>
        <p:spPr>
          <a:xfrm>
            <a:off x="868680" y="5532120"/>
            <a:ext cx="10515600" cy="868680"/>
          </a:xfrm>
          <a:prstGeom prst="rect">
            <a:avLst/>
          </a:prstGeom>
          <a:noFill/>
          <a:ln/>
        </p:spPr>
        <p:txBody>
          <a:bodyPr wrap="square" lIns="0" tIns="0" rIns="0" bIns="0" rtlCol="0" anchor="ctr"/>
          <a:lstStyle/>
          <a:p>
            <a:pPr indent="0" marL="0">
              <a:lnSpc>
                <a:spcPct val="110000"/>
              </a:lnSpc>
              <a:buNone/>
            </a:pPr>
            <a:r>
              <a:rPr lang="en-US" sz="1250" b="1" dirty="0">
                <a:solidFill>
                  <a:srgbClr val="1C8F84"/>
                </a:solidFill>
                <a:latin typeface="Calibri" pitchFamily="34" charset="0"/>
                <a:ea typeface="Calibri" pitchFamily="34" charset="-122"/>
                <a:cs typeface="Calibri" pitchFamily="34" charset="-120"/>
              </a:rPr>
              <a:t>IP status:  </a:t>
            </a:r>
            <a:pPr indent="0" marL="0">
              <a:lnSpc>
                <a:spcPct val="110000"/>
              </a:lnSpc>
              <a:buNone/>
            </a:pPr>
            <a:r>
              <a:rPr lang="en-US" sz="1250" dirty="0">
                <a:solidFill>
                  <a:srgbClr val="16232F"/>
                </a:solidFill>
                <a:latin typeface="Calibri" pitchFamily="34" charset="0"/>
                <a:ea typeface="Calibri" pitchFamily="34" charset="-122"/>
                <a:cs typeface="Calibri" pitchFamily="34" charset="-120"/>
              </a:rPr>
              <a:t>patent applications filed with the USPTO covering the Bio-RAID fault-tolerance architecture, self-healing recovery protocol, and environment-adaptive longevity system.</a:t>
            </a:r>
            <a:endParaRPr lang="en-US" sz="1250" dirty="0"/>
          </a:p>
        </p:txBody>
      </p:sp>
      <p:sp>
        <p:nvSpPr>
          <p:cNvPr id="19" name="Text 1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097280"/>
            <a:ext cx="5029200" cy="5029200"/>
          </a:xfrm>
          <a:prstGeom prst="ellipse">
            <a:avLst/>
          </a:prstGeom>
          <a:solidFill>
            <a:srgbClr val="2EC4B6">
              <a:alpha val="8000"/>
            </a:srgbClr>
          </a:solidFill>
          <a:ln/>
        </p:spPr>
      </p:sp>
      <p:sp>
        <p:nvSpPr>
          <p:cNvPr id="3" name="Text 1"/>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TEAM</a:t>
            </a:r>
            <a:endParaRPr lang="en-US" sz="1200" dirty="0"/>
          </a:p>
        </p:txBody>
      </p:sp>
      <p:sp>
        <p:nvSpPr>
          <p:cNvPr id="4" name="Text 2"/>
          <p:cNvSpPr txBox="1"/>
          <p:nvPr/>
        </p:nvSpPr>
        <p:spPr>
          <a:xfrm>
            <a:off x="640080" y="822960"/>
            <a:ext cx="5486400" cy="45720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Dayana Sanchez</a:t>
            </a:r>
            <a:endParaRPr lang="en-US" sz="2300" dirty="0"/>
          </a:p>
        </p:txBody>
      </p:sp>
      <p:sp>
        <p:nvSpPr>
          <p:cNvPr id="5" name="Text 3"/>
          <p:cNvSpPr txBox="1"/>
          <p:nvPr/>
        </p:nvSpPr>
        <p:spPr>
          <a:xfrm>
            <a:off x="640080" y="1261872"/>
            <a:ext cx="5486400" cy="320040"/>
          </a:xfrm>
          <a:prstGeom prst="rect">
            <a:avLst/>
          </a:prstGeom>
          <a:noFill/>
          <a:ln/>
        </p:spPr>
        <p:txBody>
          <a:bodyPr wrap="square" lIns="0" tIns="0" rIns="0" bIns="0" rtlCol="0" anchor="ctr"/>
          <a:lstStyle/>
          <a:p>
            <a:pPr indent="0" marL="0">
              <a:buNone/>
            </a:pPr>
            <a:r>
              <a:rPr lang="en-US" sz="1250" dirty="0">
                <a:solidFill>
                  <a:srgbClr val="2EC4B6"/>
                </a:solidFill>
                <a:latin typeface="Calibri" pitchFamily="34" charset="0"/>
                <a:ea typeface="Calibri" pitchFamily="34" charset="-122"/>
                <a:cs typeface="Calibri" pitchFamily="34" charset="-120"/>
              </a:rPr>
              <a:t>Founder &amp; Lead Researcher</a:t>
            </a:r>
            <a:endParaRPr lang="en-US" sz="1250" dirty="0"/>
          </a:p>
        </p:txBody>
      </p:sp>
      <p:sp>
        <p:nvSpPr>
          <p:cNvPr id="6" name="Text 4"/>
          <p:cNvSpPr txBox="1"/>
          <p:nvPr/>
        </p:nvSpPr>
        <p:spPr>
          <a:xfrm>
            <a:off x="640080" y="1627632"/>
            <a:ext cx="5486400" cy="1828800"/>
          </a:xfrm>
          <a:prstGeom prst="rect">
            <a:avLst/>
          </a:prstGeom>
          <a:noFill/>
          <a:ln/>
        </p:spPr>
        <p:txBody>
          <a:bodyPr wrap="square" lIns="0" tIns="0" rIns="0" bIns="0" rtlCol="0" anchor="ctr"/>
          <a:lstStyle/>
          <a:p>
            <a:pPr indent="0" marL="0">
              <a:lnSpc>
                <a:spcPct val="120000"/>
              </a:lnSpc>
              <a:buNone/>
            </a:pPr>
            <a:r>
              <a:rPr lang="en-US" sz="1150" dirty="0">
                <a:solidFill>
                  <a:srgbClr val="CFE0DD"/>
                </a:solidFill>
                <a:latin typeface="Calibri" pitchFamily="34" charset="0"/>
                <a:ea typeface="Calibri" pitchFamily="34" charset="-122"/>
                <a:cs typeface="Calibri" pitchFamily="34" charset="-120"/>
              </a:rPr>
              <a:t>Originated the core concept; led all technical work to date, the simulation architecture, the encoder software, and the audit process that found and corrected this project's own central assumption before anyone outside the project did.</a:t>
            </a:r>
            <a:endParaRPr lang="en-US" sz="1150" dirty="0"/>
          </a:p>
        </p:txBody>
      </p:sp>
      <p:sp>
        <p:nvSpPr>
          <p:cNvPr id="7" name="Text 5"/>
          <p:cNvSpPr txBox="1"/>
          <p:nvPr/>
        </p:nvSpPr>
        <p:spPr>
          <a:xfrm>
            <a:off x="6355080" y="822960"/>
            <a:ext cx="5212080" cy="45720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Jacqueline Solano</a:t>
            </a:r>
            <a:endParaRPr lang="en-US" sz="2300" dirty="0"/>
          </a:p>
        </p:txBody>
      </p:sp>
      <p:sp>
        <p:nvSpPr>
          <p:cNvPr id="8" name="Text 6"/>
          <p:cNvSpPr txBox="1"/>
          <p:nvPr/>
        </p:nvSpPr>
        <p:spPr>
          <a:xfrm>
            <a:off x="6355080" y="1261872"/>
            <a:ext cx="5212080" cy="320040"/>
          </a:xfrm>
          <a:prstGeom prst="rect">
            <a:avLst/>
          </a:prstGeom>
          <a:noFill/>
          <a:ln/>
        </p:spPr>
        <p:txBody>
          <a:bodyPr wrap="square" lIns="0" tIns="0" rIns="0" bIns="0" rtlCol="0" anchor="ctr"/>
          <a:lstStyle/>
          <a:p>
            <a:pPr indent="0" marL="0">
              <a:buNone/>
            </a:pPr>
            <a:r>
              <a:rPr lang="en-US" sz="1250" dirty="0">
                <a:solidFill>
                  <a:srgbClr val="2EC4B6"/>
                </a:solidFill>
                <a:latin typeface="Calibri" pitchFamily="34" charset="0"/>
                <a:ea typeface="Calibri" pitchFamily="34" charset="-122"/>
                <a:cs typeface="Calibri" pitchFamily="34" charset="-120"/>
              </a:rPr>
              <a:t>Co-Founder, Head of Business</a:t>
            </a:r>
            <a:endParaRPr lang="en-US" sz="1250" dirty="0"/>
          </a:p>
        </p:txBody>
      </p:sp>
      <p:sp>
        <p:nvSpPr>
          <p:cNvPr id="9" name="Text 7"/>
          <p:cNvSpPr txBox="1"/>
          <p:nvPr/>
        </p:nvSpPr>
        <p:spPr>
          <a:xfrm>
            <a:off x="6355080" y="1627632"/>
            <a:ext cx="5212080" cy="1280160"/>
          </a:xfrm>
          <a:prstGeom prst="rect">
            <a:avLst/>
          </a:prstGeom>
          <a:noFill/>
          <a:ln/>
        </p:spPr>
        <p:txBody>
          <a:bodyPr wrap="square" lIns="0" tIns="0" rIns="0" bIns="0" rtlCol="0" anchor="ctr"/>
          <a:lstStyle/>
          <a:p>
            <a:pPr indent="0" marL="0">
              <a:lnSpc>
                <a:spcPct val="120000"/>
              </a:lnSpc>
              <a:buNone/>
            </a:pPr>
            <a:r>
              <a:rPr lang="en-US" sz="1150" dirty="0">
                <a:solidFill>
                  <a:srgbClr val="CFE0DD"/>
                </a:solidFill>
                <a:latin typeface="Calibri" pitchFamily="34" charset="0"/>
                <a:ea typeface="Calibri" pitchFamily="34" charset="-122"/>
                <a:cs typeface="Calibri" pitchFamily="34" charset="-120"/>
              </a:rPr>
              <a:t>Leads business operations.</a:t>
            </a:r>
            <a:endParaRPr lang="en-US" sz="1150" dirty="0"/>
          </a:p>
        </p:txBody>
      </p:sp>
      <p:sp>
        <p:nvSpPr>
          <p:cNvPr id="10" name="Shape 8"/>
          <p:cNvSpPr/>
          <p:nvPr/>
        </p:nvSpPr>
        <p:spPr>
          <a:xfrm>
            <a:off x="640080" y="3794760"/>
            <a:ext cx="10927080" cy="0"/>
          </a:xfrm>
          <a:prstGeom prst="line">
            <a:avLst/>
          </a:prstGeom>
          <a:noFill/>
          <a:ln w="12700">
            <a:solidFill>
              <a:srgbClr val="2A4463"/>
            </a:solidFill>
            <a:prstDash val="solid"/>
          </a:ln>
        </p:spPr>
      </p:sp>
      <p:sp>
        <p:nvSpPr>
          <p:cNvPr id="11" name="Text 9"/>
          <p:cNvSpPr txBox="1"/>
          <p:nvPr/>
        </p:nvSpPr>
        <p:spPr>
          <a:xfrm>
            <a:off x="640080" y="3977640"/>
            <a:ext cx="109270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we're looking for in a program</a:t>
            </a:r>
            <a:endParaRPr lang="en-US" sz="1600" dirty="0"/>
          </a:p>
        </p:txBody>
      </p:sp>
      <p:sp>
        <p:nvSpPr>
          <p:cNvPr id="12" name="Text 10"/>
          <p:cNvSpPr txBox="1"/>
          <p:nvPr/>
        </p:nvSpPr>
        <p:spPr>
          <a:xfrm>
            <a:off x="640080" y="4389120"/>
            <a:ext cx="10927080" cy="731520"/>
          </a:xfrm>
          <a:prstGeom prst="rect">
            <a:avLst/>
          </a:prstGeom>
          <a:noFill/>
          <a:ln/>
        </p:spPr>
        <p:txBody>
          <a:bodyPr wrap="square" lIns="0" tIns="0" rIns="0" bIns="0" rtlCol="0" anchor="ctr"/>
          <a:lstStyle/>
          <a:p>
            <a:pPr indent="0" marL="0">
              <a:lnSpc>
                <a:spcPct val="120000"/>
              </a:lnSpc>
              <a:buNone/>
            </a:pPr>
            <a:r>
              <a:rPr lang="en-US" sz="1350" i="1" dirty="0">
                <a:solidFill>
                  <a:srgbClr val="AEC2C8"/>
                </a:solidFill>
                <a:latin typeface="Calibri" pitchFamily="34" charset="0"/>
                <a:ea typeface="Calibri" pitchFamily="34" charset="-122"/>
                <a:cs typeface="Calibri" pitchFamily="34" charset="-120"/>
              </a:rPr>
              <a:t>A team and a network that treats rigorous, honestly-reported science as a strength worth backing, not a liability to hide. That's the partner we're looking for.</a:t>
            </a:r>
            <a:endParaRPr lang="en-US" sz="1350" dirty="0"/>
          </a:p>
        </p:txBody>
      </p:sp>
      <p:sp>
        <p:nvSpPr>
          <p:cNvPr id="13" name="Text 11"/>
          <p:cNvSpPr txBox="1"/>
          <p:nvPr/>
        </p:nvSpPr>
        <p:spPr>
          <a:xfrm>
            <a:off x="640080" y="5486400"/>
            <a:ext cx="8686800" cy="128016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Dayana Sanchez: sanchezleal1989@gmail.com</a:t>
            </a:r>
            <a:endParaRPr lang="en-US" sz="1300" dirty="0"/>
          </a:p>
          <a:p>
            <a:pPr indent="0" marL="0">
              <a:spcAft>
                <a:spcPts val="400"/>
              </a:spcAft>
              <a:buNone/>
            </a:pPr>
            <a:r>
              <a:rPr lang="en-US" sz="1300" dirty="0">
                <a:solidFill>
                  <a:srgbClr val="AEC2C8"/>
                </a:solidFill>
                <a:latin typeface="Calibri" pitchFamily="34" charset="0"/>
                <a:ea typeface="Calibri" pitchFamily="34" charset="-122"/>
                <a:cs typeface="Calibri" pitchFamily="34" charset="-120"/>
              </a:rPr>
              <a:t>https://github.com/rewired89/Acheron.git</a:t>
            </a:r>
            <a:endParaRPr lang="en-US" sz="1300" dirty="0"/>
          </a:p>
          <a:p>
            <a:pPr indent="0" marL="0">
              <a:spcAft>
                <a:spcPts val="400"/>
              </a:spcAft>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Jacqueline Solano: jackiea.solano@gmail.com</a:t>
            </a:r>
            <a:endParaRPr lang="en-US" sz="1300" dirty="0"/>
          </a:p>
        </p:txBody>
      </p:sp>
      <p:sp>
        <p:nvSpPr>
          <p:cNvPr id="14" name="Text 1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2026-09-11T23:35:13Z</dcterms:created>
  <dcterms:modified xsi:type="dcterms:W3CDTF">2026-09-11T23:35:13Z</dcterms:modified>
</cp:coreProperties>
</file>