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77"/>
                </a:solidFill>
                <a:latin typeface="Arial"/>
              </a:defRPr>
            </a:pPr>
            <a:r>
              <a:rPr sz="1200" b="0" i="0" u="none" strike="noStrike">
                <a:solidFill>
                  <a:srgbClr val="5B6B77"/>
                </a:solidFill>
                <a:latin typeface="Arial"/>
              </a:rPr>
              <a:t>All three numerically tie at ~2% surviving, the number alone is misleading</a:t>
            </a:r>
          </a:p>
        </c:rich>
      </c:tx>
      <c:layout/>
      <c:overlay val="0"/>
    </c:title>
    <c:autoTitleDeleted val="0"/>
    <c:plotArea>
      <c:layout/>
      <c:barChart>
        <c:barDir val="col"/>
        <c:grouping val="clustered"/>
        <c:varyColors val="0"/>
        <c:ser>
          <c:idx val="0"/>
          <c:order val="0"/>
          <c:tx>
            <c:strRef>
              <c:f>Sheet1!$B$1</c:f>
              <c:strCache>
                <c:ptCount val="1"/>
                <c:pt idx="0">
                  <c:v>Recovery threshold (% surviving cells needed for ≥70% fidelity)</c:v>
                </c:pt>
              </c:strCache>
            </c:strRef>
          </c:tx>
          <c:spPr>
            <a:solidFill>
              <a:srgbClr val="2EC4B6"/>
            </a:solidFill>
            <a:effectLst/>
          </c:spPr>
          <c:invertIfNegative val="0"/>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cat>
            <c:multiLvlStrRef>
              <c:f>Sheet1!$A$2:$A$4</c:f>
              <c:multiLvlStrCache>
                <c:ptCount val="3"/>
                <c:lvl>
                  <c:pt idx="0">
                    <c:v>B. subtilis,
engineered circuit</c:v>
                  </c:pt>
                  <c:pt idx="1">
                    <c:v>B. subtilis,
methylation</c:v>
                  </c:pt>
                  <c:pt idx="2">
                    <c:v>Planarian,
bioelectric circuit</c:v>
                  </c:pt>
                </c:lvl>
              </c:multiLvlStrCache>
            </c:multiLvlStrRef>
          </c:cat>
          <c:val>
            <c:numRef>
              <c:f>Sheet1!$B$2:$B$4</c:f>
              <c:numCache>
                <c:formatCode>General</c:formatCode>
                <c:ptCount val="3"/>
                <c:pt idx="0">
                  <c:v>2</c:v>
                </c:pt>
                <c:pt idx="1">
                  <c:v>2</c:v>
                </c:pt>
                <c:pt idx="2">
                  <c:v>2</c:v>
                </c:pt>
              </c:numCache>
            </c:numRef>
          </c:val>
        </c:ser>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engineered voltage-holding circuit.</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full cycle hasn't been tested in a wet lab yet. It's the goal the roadmap experiment works toward.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100%</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in a zero-noise simulation</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with realistic biological noise added,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it fails: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We found this ourselves, by stress-testing our own model, before any outside reviewer did.</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 hours), it's what happens at severe promoter mismatch: </a:t>
            </a:r>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at 24 hours,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at severe promoter mismatch (0.1x), a design constraint found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graphicFrame>
        <p:nvGraphicFramePr>
          <p:cNvPr id="4" name="Chart 0" descr=""/>
          <p:cNvGraphicFramePr/>
          <p:nvPr/>
        </p:nvGraphicFramePr>
        <p:xfrm>
          <a:off x="640080" y="1783080"/>
          <a:ext cx="61264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6" name="Text 2"/>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7" name="Text 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5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5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fix, and its limit</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Reading via impedance (EIS) instead of raw voltage helps, but a single fast EIS sweep isn't immune either, it needs to integrate across a full oscillation cycle (~3h) to recover accuracy.</a:t>
            </a:r>
            <a:endParaRPr lang="en-US" sz="125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Fidelity at 10-20mV of ambient oscillation (well below the circuit's own 70mV signal range) collapsed to 50-59% for single-snapshot voltage reads, this is a solvable engineering problem, not a fatal one, but a real, previously-unflagged design requirement.</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Four computational results, explained for a scientist and for everyone else</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4572000"/>
        </p:xfrm>
        <a:graphic>
          <a:graphicData uri="http://schemas.openxmlformats.org/drawingml/2006/table">
            <a:tbl>
              <a:tblPr/>
              <a:tblGrid>
                <a:gridCol w="2377440"/>
                <a:gridCol w="4480560"/>
                <a:gridCol w="4114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Technical (for a scientist)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English (for everyone else)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Passive persistence fails</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cell just holding a charge on its own is like a coin balanced on its edge, it falls over almost immediately.</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Engineered circuit works, with a catch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Matched-strength promoter pair (Gardner topology + Bacillus BioBrick Box parts) holds state at 100% fidelity at 24 hours; severe mismatch (0.1x) collapses to 50%, a monostable dead switch.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The circuit is like a light switch held by two matched springs. Mismatched springs and the switch falls back to "off" no matter what you do.</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Bacteria beats planaria on evidence, for now</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Betting on the organism with a measured mechanism is like betting on a scale you've calibrated, not one you're guessing the weight of.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new, real risk found before it was asked about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REAL STORAGE COMPETITORS</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72800" cy="324612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 Biomemory</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(w/ Yachie &amp; Tomita 2007 precedent)</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(dye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640080" y="5166360"/>
            <a:ext cx="10972800" cy="1234440"/>
          </a:xfrm>
          <a:prstGeom prst="roundRect">
            <a:avLst>
              <a:gd name="adj" fmla="val 5926"/>
            </a:avLst>
          </a:prstGeom>
          <a:solidFill>
            <a:srgbClr val="F4F6F7"/>
          </a:solidFill>
          <a:ln w="13970">
            <a:solidFill>
              <a:srgbClr val="DCE3E6"/>
            </a:solidFill>
            <a:prstDash val="solid"/>
          </a:ln>
        </p:spPr>
      </p:sp>
      <p:sp>
        <p:nvSpPr>
          <p:cNvPr id="6" name="Text 3"/>
          <p:cNvSpPr txBox="1"/>
          <p:nvPr/>
        </p:nvSpPr>
        <p:spPr>
          <a:xfrm>
            <a:off x="868680" y="5166360"/>
            <a:ext cx="10515600" cy="1234440"/>
          </a:xfrm>
          <a:prstGeom prst="rect">
            <a:avLst/>
          </a:prstGeom>
          <a:noFill/>
          <a:ln/>
        </p:spPr>
        <p:txBody>
          <a:bodyPr wrap="square" lIns="0" tIns="0" rIns="0" bIns="0" rtlCol="0" anchor="ctr"/>
          <a:lstStyle/>
          <a:p>
            <a:pPr indent="0" marL="0">
              <a:lnSpc>
                <a:spcPct val="120000"/>
              </a:lnSpc>
              <a:buNone/>
            </a:pPr>
            <a:r>
              <a:rPr lang="en-US" sz="1250" b="1" dirty="0">
                <a:solidFill>
                  <a:srgbClr val="1C8F84"/>
                </a:solidFill>
                <a:latin typeface="Calibri" pitchFamily="34" charset="0"/>
                <a:ea typeface="Calibri" pitchFamily="34" charset="-122"/>
                <a:cs typeface="Calibri" pitchFamily="34" charset="-120"/>
              </a:rPr>
              <a:t>Not included above, on purpose:  </a:t>
            </a:r>
            <a:pPr indent="0" marL="0">
              <a:lnSpc>
                <a:spcPct val="120000"/>
              </a:lnSpc>
              <a:buNone/>
            </a:pPr>
            <a:r>
              <a:rPr lang="en-US" sz="1250" dirty="0">
                <a:solidFill>
                  <a:srgbClr val="16232F"/>
                </a:solidFill>
                <a:latin typeface="Calibri" pitchFamily="34" charset="0"/>
                <a:ea typeface="Calibri" pitchFamily="34" charset="-122"/>
                <a:cs typeface="Calibri" pitchFamily="34" charset="-120"/>
              </a:rPr>
              <a:t>Cortical Labs, Koniku, and FinalSpark all build neuron-based wetware for cognition and sensing (playing games, detecting explosives, training AI), a different product category, not a memory-storage competitor. Their hardware is still worth studying, see next slide.</a:t>
            </a:r>
            <a:endParaRPr lang="en-US" sz="1250" dirty="0"/>
          </a:p>
        </p:txBody>
      </p:sp>
      <p:sp>
        <p:nvSpPr>
          <p:cNvPr id="7" name="Text 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 &amp; BORROWABLE RESEARCH</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Only two of these are competitors. The third is research worth borrowing from anyway</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Adjacent research, not a competitor</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(CL-1), Koniku</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Different product entirely, neuron-based cognition/sensing, not memory storage, so not a rival. Their hardware is still worth studying: CL-1 uses electrode arrays to write/read electrical signals into living tissue; Koniku holds a patent (JP6858769) for cleaner signal-to-noise electrode recording from noisy tissue, directly relevant to Acheron's own oscillation-interference problem.</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Biomemory (Yachie &amp; Tomita 2007 precedent)</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and gaining ground fast (Biomemory acquired Catalog Technologies in 2026, targeting commercial launch by year end).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IF THE CORE MECHANISM VALIDATES</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real, externally-verifiable numbers, not an invented forecast</a:t>
            </a:r>
            <a:endParaRPr lang="en-US" sz="26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customers already pay for the closest existing alternative</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$35,000/unit, replaced every 6 months, zero self-repair. A live, public data point for what this market already tolerates paying to avoid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Radiation-hardened space electronics, 2026 (independent analyst range)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We claim no specific share of this, it's evidence the underlying need is real and growing, not a number we made up.</a:t>
            </a:r>
            <a:endParaRPr lang="en-US" sz="1200" dirty="0"/>
          </a:p>
        </p:txBody>
      </p:sp>
      <p:sp>
        <p:nvSpPr>
          <p:cNvPr id="12" name="Text 10"/>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50" i="1" dirty="0">
                <a:solidFill>
                  <a:srgbClr val="AEC2C8"/>
                </a:solidFill>
                <a:latin typeface="Calibri" pitchFamily="34" charset="0"/>
                <a:ea typeface="Calibri" pitchFamily="34" charset="-122"/>
                <a:cs typeface="Calibri" pitchFamily="34" charset="-120"/>
              </a:rPr>
              <a:t>This upside is entirely conditional on the roadmap experiment below succeeding. We're not asking anyone to price the risk in advance, we're asking for what it costs to find out.</a:t>
            </a:r>
            <a:endParaRPr lang="en-US" sz="13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experiment that changes everything</a:t>
            </a:r>
            <a:endParaRPr lang="en-US" sz="2800" dirty="0"/>
          </a:p>
        </p:txBody>
      </p:sp>
      <p:sp>
        <p:nvSpPr>
          <p:cNvPr id="4" name="Text 2"/>
          <p:cNvSpPr txBox="1"/>
          <p:nvPr/>
        </p:nvSpPr>
        <p:spPr>
          <a:xfrm>
            <a:off x="640080" y="1554480"/>
            <a:ext cx="10515600" cy="548640"/>
          </a:xfrm>
          <a:prstGeom prst="rect">
            <a:avLst/>
          </a:prstGeom>
          <a:noFill/>
          <a:ln/>
        </p:spPr>
        <p:txBody>
          <a:bodyPr wrap="square" lIns="0" tIns="0" rIns="0" bIns="0" rtlCol="0" anchor="ctr"/>
          <a:lstStyle/>
          <a:p>
            <a:pPr indent="0" marL="0">
              <a:buNone/>
            </a:pPr>
            <a:r>
              <a:rPr lang="en-US" sz="1400" dirty="0">
                <a:solidFill>
                  <a:srgbClr val="AEC2C8"/>
                </a:solidFill>
                <a:latin typeface="Calibri" pitchFamily="34" charset="0"/>
                <a:ea typeface="Calibri" pitchFamily="34" charset="-122"/>
                <a:cs typeface="Calibri" pitchFamily="34" charset="-120"/>
              </a:rPr>
              <a:t>Build the matched-promoter toggle circuit in B. subtilis, write a bit, damage the colony, let it regrow, read the bit back non-destructively via EIS.</a:t>
            </a:r>
            <a:endParaRPr lang="en-US" sz="1400" dirty="0"/>
          </a:p>
        </p:txBody>
      </p:sp>
      <p:sp>
        <p:nvSpPr>
          <p:cNvPr id="5" name="Shape 3"/>
          <p:cNvSpPr/>
          <p:nvPr/>
        </p:nvSpPr>
        <p:spPr>
          <a:xfrm>
            <a:off x="640080" y="2377440"/>
            <a:ext cx="3566160" cy="2286000"/>
          </a:xfrm>
          <a:prstGeom prst="roundRect">
            <a:avLst>
              <a:gd name="adj" fmla="val 3200"/>
            </a:avLst>
          </a:prstGeom>
          <a:solidFill>
            <a:srgbClr val="132A4D"/>
          </a:solidFill>
          <a:ln/>
        </p:spPr>
      </p:sp>
      <p:sp>
        <p:nvSpPr>
          <p:cNvPr id="6" name="Text 4"/>
          <p:cNvSpPr txBox="1"/>
          <p:nvPr/>
        </p:nvSpPr>
        <p:spPr>
          <a:xfrm>
            <a:off x="91440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$10K-$30K</a:t>
            </a:r>
            <a:endParaRPr lang="en-US" sz="3400" dirty="0"/>
          </a:p>
        </p:txBody>
      </p:sp>
      <p:sp>
        <p:nvSpPr>
          <p:cNvPr id="7" name="Text 5"/>
          <p:cNvSpPr txBox="1"/>
          <p:nvPr/>
        </p:nvSpPr>
        <p:spPr>
          <a:xfrm>
            <a:off x="91440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Cost, reagents, cloning, lab bench access</a:t>
            </a:r>
            <a:endParaRPr lang="en-US" sz="1250" dirty="0"/>
          </a:p>
        </p:txBody>
      </p:sp>
      <p:sp>
        <p:nvSpPr>
          <p:cNvPr id="8" name="Shape 6"/>
          <p:cNvSpPr/>
          <p:nvPr/>
        </p:nvSpPr>
        <p:spPr>
          <a:xfrm>
            <a:off x="4389120" y="2377440"/>
            <a:ext cx="3566160" cy="2286000"/>
          </a:xfrm>
          <a:prstGeom prst="roundRect">
            <a:avLst>
              <a:gd name="adj" fmla="val 3200"/>
            </a:avLst>
          </a:prstGeom>
          <a:solidFill>
            <a:srgbClr val="132A4D"/>
          </a:solidFill>
          <a:ln/>
        </p:spPr>
      </p:sp>
      <p:sp>
        <p:nvSpPr>
          <p:cNvPr id="9" name="Text 7"/>
          <p:cNvSpPr txBox="1"/>
          <p:nvPr/>
        </p:nvSpPr>
        <p:spPr>
          <a:xfrm>
            <a:off x="466344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6-12 mo</a:t>
            </a:r>
            <a:endParaRPr lang="en-US" sz="3400" dirty="0"/>
          </a:p>
        </p:txBody>
      </p:sp>
      <p:sp>
        <p:nvSpPr>
          <p:cNvPr id="10" name="Text 8"/>
          <p:cNvSpPr txBox="1"/>
          <p:nvPr/>
        </p:nvSpPr>
        <p:spPr>
          <a:xfrm>
            <a:off x="466344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Timeline to a clear yes/no answer</a:t>
            </a:r>
            <a:endParaRPr lang="en-US" sz="1250" dirty="0"/>
          </a:p>
        </p:txBody>
      </p:sp>
      <p:sp>
        <p:nvSpPr>
          <p:cNvPr id="11" name="Shape 9"/>
          <p:cNvSpPr/>
          <p:nvPr/>
        </p:nvSpPr>
        <p:spPr>
          <a:xfrm>
            <a:off x="8138160" y="2377440"/>
            <a:ext cx="3566160" cy="2286000"/>
          </a:xfrm>
          <a:prstGeom prst="roundRect">
            <a:avLst>
              <a:gd name="adj" fmla="val 3200"/>
            </a:avLst>
          </a:prstGeom>
          <a:solidFill>
            <a:srgbClr val="132A4D"/>
          </a:solidFill>
          <a:ln/>
        </p:spPr>
      </p:sp>
      <p:sp>
        <p:nvSpPr>
          <p:cNvPr id="12" name="Text 10"/>
          <p:cNvSpPr txBox="1"/>
          <p:nvPr/>
        </p:nvSpPr>
        <p:spPr>
          <a:xfrm>
            <a:off x="841248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2</a:t>
            </a:r>
            <a:endParaRPr lang="en-US" sz="3400" dirty="0"/>
          </a:p>
        </p:txBody>
      </p:sp>
      <p:sp>
        <p:nvSpPr>
          <p:cNvPr id="13" name="Text 11"/>
          <p:cNvSpPr txBox="1"/>
          <p:nvPr/>
        </p:nvSpPr>
        <p:spPr>
          <a:xfrm>
            <a:off x="841248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Outcomes only, validate the mechanism, or cleanly redirect to methylation, next by our own ranking</a:t>
            </a:r>
            <a:endParaRPr lang="en-US" sz="1250" dirty="0"/>
          </a:p>
        </p:txBody>
      </p:sp>
      <p:sp>
        <p:nvSpPr>
          <p:cNvPr id="14" name="Text 12"/>
          <p:cNvSpPr txBox="1"/>
          <p:nvPr/>
        </p:nvSpPr>
        <p:spPr>
          <a:xfrm>
            <a:off x="640080" y="4937760"/>
            <a:ext cx="10515600" cy="45720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Deliberately the cheapest, fastest experiment that produces a real answer, not a moonshot ask.</a:t>
            </a:r>
            <a:endParaRPr lang="en-US" sz="140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the wet-lab validation experiment</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~$10K-$30K described on the roadmap slide: reagents, plasmid synthesis/cloning, lab bench access.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 Status: filed, pending examination.</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 Background: cybersecurity, UCF. Not a biologist by training, disclosed as fact, not hidden.</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 and satisfies the program requirement that at least one founder be a U.S. citizen.</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we're looking for in a program</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 team and a network that treats rigorous, honestly-reported science as a strength worth backing, not a liability to hide. That's the partner we're looking for.</a:t>
            </a:r>
            <a:endParaRPr lang="en-US" sz="1350" dirty="0"/>
          </a:p>
        </p:txBody>
      </p:sp>
      <p:sp>
        <p:nvSpPr>
          <p:cNvPr id="13" name="Text 11"/>
          <p:cNvSpPr txBox="1"/>
          <p:nvPr/>
        </p:nvSpPr>
        <p:spPr>
          <a:xfrm>
            <a:off x="640080" y="5623560"/>
            <a:ext cx="731520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Dayana: sanchezleal1989@gmail.com</a:t>
            </a:r>
            <a:pPr indent="0" marL="0">
              <a:buNone/>
            </a:pPr>
            <a:r>
              <a:rPr lang="en-US" sz="1400" b="1" dirty="0">
                <a:solidFill>
                  <a:srgbClr val="FFFFFF"/>
                </a:solidFill>
                <a:latin typeface="Calibri" pitchFamily="34" charset="0"/>
                <a:ea typeface="Calibri" pitchFamily="34" charset="-122"/>
                <a:cs typeface="Calibri" pitchFamily="34" charset="-120"/>
              </a:rPr>
              <a:t>Jacqueline: jackiea.solano@gmail.com</a:t>
            </a:r>
            <a:pPr indent="0" marL="0">
              <a:buNone/>
            </a:pPr>
            <a:r>
              <a:rPr lang="en-US" sz="1400" dirty="0">
                <a:solidFill>
                  <a:srgbClr val="AEC2C8"/>
                </a:solidFill>
                <a:latin typeface="Calibri" pitchFamily="34" charset="0"/>
                <a:ea typeface="Calibri" pitchFamily="34" charset="-122"/>
                <a:cs typeface="Calibri" pitchFamily="34" charset="-120"/>
              </a:rPr>
              <a:t>github.com/rewired89/Acheron</a:t>
            </a:r>
            <a:endParaRPr lang="en-US" sz="14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2026-09-05T23:05:58Z</dcterms:created>
  <dcterms:modified xsi:type="dcterms:W3CDTF">2026-09-05T23:05:58Z</dcterms:modified>
</cp:coreProperties>
</file>