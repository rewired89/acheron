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B6B77"/>
                </a:solidFill>
                <a:latin typeface="Arial"/>
              </a:defRPr>
            </a:pPr>
            <a:r>
              <a:rPr sz="1200" b="0" i="0" u="none" strike="noStrike">
                <a:solidFill>
                  <a:srgbClr val="5B6B77"/>
                </a:solidFill>
                <a:latin typeface="Arial"/>
              </a:rPr>
              <a:t>All three numerically tie at ~2% surviving, the number alone is misleading</a:t>
            </a:r>
          </a:p>
        </c:rich>
      </c:tx>
      <c:layout/>
      <c:overlay val="0"/>
    </c:title>
    <c:autoTitleDeleted val="0"/>
    <c:plotArea>
      <c:layout/>
      <c:barChart>
        <c:barDir val="col"/>
        <c:grouping val="clustered"/>
        <c:varyColors val="0"/>
        <c:ser>
          <c:idx val="0"/>
          <c:order val="0"/>
          <c:tx>
            <c:strRef>
              <c:f>Sheet1!$B$1</c:f>
              <c:strCache>
                <c:ptCount val="1"/>
                <c:pt idx="0">
                  <c:v>Recovery threshold (% surviving cells needed for ≥70% fidelity)</c:v>
                </c:pt>
              </c:strCache>
            </c:strRef>
          </c:tx>
          <c:spPr>
            <a:solidFill>
              <a:srgbClr val="2EC4B6"/>
            </a:solidFill>
            <a:effectLst/>
          </c:spPr>
          <c:invertIfNegative val="0"/>
          <c:dLbls>
            <c:numFmt formatCode="#,##0" sourceLinked="0"/>
            <c:txPr>
              <a:bodyPr/>
              <a:lstStyle/>
              <a:p>
                <a:pPr>
                  <a:defRPr b="0" i="0" strike="noStrike" sz="1200" u="none">
                    <a:solidFill>
                      <a:srgbClr val="16232F"/>
                    </a:solidFill>
                    <a:latin typeface="Arial"/>
                  </a:defRPr>
                </a:pPr>
              </a:p>
            </c:txPr>
            <c:showLegendKey val="0"/>
            <c:showVal val="1"/>
            <c:showCatName val="0"/>
            <c:showSerName val="0"/>
            <c:showPercent val="0"/>
            <c:showBubbleSize val="0"/>
            <c:showLeaderLines val="0"/>
          </c:dLbls>
          <c:cat>
            <c:multiLvlStrRef>
              <c:f>Sheet1!$A$2:$A$4</c:f>
              <c:multiLvlStrCache>
                <c:ptCount val="3"/>
                <c:lvl>
                  <c:pt idx="0">
                    <c:v>B. subtilis,
engineered circuit</c:v>
                  </c:pt>
                  <c:pt idx="1">
                    <c:v>B. subtilis,
methylation</c:v>
                  </c:pt>
                  <c:pt idx="2">
                    <c:v>Planarian,
bioelectric circuit</c:v>
                  </c:pt>
                </c:lvl>
              </c:multiLvlStrCache>
            </c:multiLvlStrRef>
          </c:cat>
          <c:val>
            <c:numRef>
              <c:f>Sheet1!$B$2:$B$4</c:f>
              <c:numCache>
                <c:formatCode>General</c:formatCode>
                <c:ptCount val="3"/>
                <c:pt idx="0">
                  <c:v>2</c:v>
                </c:pt>
                <c:pt idx="1">
                  <c:v>2</c:v>
                </c:pt>
                <c:pt idx="2">
                  <c:v>2</c:v>
                </c:pt>
              </c:numCache>
            </c:numRef>
          </c:val>
        </c:ser>
        <c:dLbls>
          <c:numFmt formatCode="#,##0" sourceLinked="0"/>
          <c:txPr>
            <a:bodyPr/>
            <a:lstStyle/>
            <a:p>
              <a:pPr>
                <a:defRPr b="0" i="0" strike="noStrike" sz="1200" u="none">
                  <a:solidFill>
                    <a:srgbClr val="16232F"/>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B77"/>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1F3A"/>
          </a:solidFill>
          <a:ln/>
        </p:spPr>
      </p:sp>
      <p:sp>
        <p:nvSpPr>
          <p:cNvPr id="3" name="Shape 1"/>
          <p:cNvSpPr/>
          <p:nvPr/>
        </p:nvSpPr>
        <p:spPr>
          <a:xfrm>
            <a:off x="9692640" y="-1097280"/>
            <a:ext cx="5029200" cy="5029200"/>
          </a:xfrm>
          <a:prstGeom prst="ellipse">
            <a:avLst/>
          </a:prstGeom>
          <a:solidFill>
            <a:srgbClr val="2EC4B6">
              <a:alpha val="10000"/>
            </a:srgbClr>
          </a:solidFill>
          <a:ln/>
        </p:spPr>
      </p:sp>
      <p:sp>
        <p:nvSpPr>
          <p:cNvPr id="4" name="Shape 2"/>
          <p:cNvSpPr/>
          <p:nvPr/>
        </p:nvSpPr>
        <p:spPr>
          <a:xfrm>
            <a:off x="10789920" y="3291840"/>
            <a:ext cx="2926080" cy="2926080"/>
          </a:xfrm>
          <a:prstGeom prst="ellipse">
            <a:avLst/>
          </a:prstGeom>
          <a:solidFill>
            <a:srgbClr val="2EC4B6">
              <a:alpha val="12000"/>
            </a:srgbClr>
          </a:solidFill>
          <a:ln/>
        </p:spPr>
      </p:sp>
      <p:sp>
        <p:nvSpPr>
          <p:cNvPr id="5" name="Shape 3"/>
          <p:cNvSpPr/>
          <p:nvPr/>
        </p:nvSpPr>
        <p:spPr>
          <a:xfrm>
            <a:off x="-1371600" y="4389120"/>
            <a:ext cx="3657600" cy="3657600"/>
          </a:xfrm>
          <a:prstGeom prst="ellipse">
            <a:avLst/>
          </a:prstGeom>
          <a:solidFill>
            <a:srgbClr val="2EC4B6">
              <a:alpha val="8000"/>
            </a:srgbClr>
          </a:solidFill>
          <a:ln/>
        </p:spPr>
      </p:sp>
      <p:sp>
        <p:nvSpPr>
          <p:cNvPr id="6" name="Text 4"/>
          <p:cNvSpPr txBox="1"/>
          <p:nvPr/>
        </p:nvSpPr>
        <p:spPr>
          <a:xfrm>
            <a:off x="822960" y="9144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INCUBATOR PITCH, SEPTEMBER 2026</a:t>
            </a:r>
            <a:endParaRPr lang="en-US" sz="1200" dirty="0"/>
          </a:p>
        </p:txBody>
      </p:sp>
      <p:sp>
        <p:nvSpPr>
          <p:cNvPr id="7" name="Text 5"/>
          <p:cNvSpPr txBox="1"/>
          <p:nvPr/>
        </p:nvSpPr>
        <p:spPr>
          <a:xfrm>
            <a:off x="777240" y="1371600"/>
            <a:ext cx="10058400" cy="1188720"/>
          </a:xfrm>
          <a:prstGeom prst="rect">
            <a:avLst/>
          </a:prstGeom>
          <a:noFill/>
          <a:ln/>
        </p:spPr>
        <p:txBody>
          <a:bodyPr wrap="square" lIns="0" tIns="0" rIns="0" bIns="0" rtlCol="0" anchor="ctr"/>
          <a:lstStyle/>
          <a:p>
            <a:pPr indent="0" marL="0">
              <a:buNone/>
            </a:pPr>
            <a:r>
              <a:rPr lang="en-US" sz="6200" b="1" dirty="0">
                <a:solidFill>
                  <a:srgbClr val="FFFFFF"/>
                </a:solidFill>
                <a:latin typeface="Cambria" pitchFamily="34" charset="0"/>
                <a:ea typeface="Cambria" pitchFamily="34" charset="-122"/>
                <a:cs typeface="Cambria" pitchFamily="34" charset="-120"/>
              </a:rPr>
              <a:t>Acheron</a:t>
            </a:r>
            <a:endParaRPr lang="en-US" sz="6200" dirty="0"/>
          </a:p>
        </p:txBody>
      </p:sp>
      <p:sp>
        <p:nvSpPr>
          <p:cNvPr id="8" name="Text 6"/>
          <p:cNvSpPr txBox="1"/>
          <p:nvPr/>
        </p:nvSpPr>
        <p:spPr>
          <a:xfrm>
            <a:off x="822960" y="2514600"/>
            <a:ext cx="9601200" cy="640080"/>
          </a:xfrm>
          <a:prstGeom prst="rect">
            <a:avLst/>
          </a:prstGeom>
          <a:noFill/>
          <a:ln/>
        </p:spPr>
        <p:txBody>
          <a:bodyPr wrap="square" lIns="0" tIns="0" rIns="0" bIns="0" rtlCol="0" anchor="ctr"/>
          <a:lstStyle/>
          <a:p>
            <a:pPr indent="0" marL="0">
              <a:buNone/>
            </a:pPr>
            <a:r>
              <a:rPr lang="en-US" sz="2400" dirty="0">
                <a:solidFill>
                  <a:srgbClr val="CFE3E0"/>
                </a:solidFill>
                <a:latin typeface="Calibri" pitchFamily="34" charset="0"/>
                <a:ea typeface="Calibri" pitchFamily="34" charset="-122"/>
                <a:cs typeface="Calibri" pitchFamily="34" charset="-120"/>
              </a:rPr>
              <a:t>Self-Healing Bioelectric Memory</a:t>
            </a:r>
            <a:endParaRPr lang="en-US" sz="2400" dirty="0"/>
          </a:p>
        </p:txBody>
      </p:sp>
      <p:sp>
        <p:nvSpPr>
          <p:cNvPr id="9" name="Text 7"/>
          <p:cNvSpPr txBox="1"/>
          <p:nvPr/>
        </p:nvSpPr>
        <p:spPr>
          <a:xfrm>
            <a:off x="822960" y="3200400"/>
            <a:ext cx="8412480" cy="548640"/>
          </a:xfrm>
          <a:prstGeom prst="rect">
            <a:avLst/>
          </a:prstGeom>
          <a:noFill/>
          <a:ln/>
        </p:spPr>
        <p:txBody>
          <a:bodyPr wrap="square" lIns="0" tIns="0" rIns="0" bIns="0" rtlCol="0" anchor="ctr"/>
          <a:lstStyle/>
          <a:p>
            <a:pPr indent="0" marL="0">
              <a:buNone/>
            </a:pPr>
            <a:r>
              <a:rPr lang="en-US" sz="1400" i="1" dirty="0">
                <a:solidFill>
                  <a:srgbClr val="8FA6AE"/>
                </a:solidFill>
                <a:latin typeface="Calibri" pitchFamily="34" charset="0"/>
                <a:ea typeface="Calibri" pitchFamily="34" charset="-122"/>
                <a:cs typeface="Calibri" pitchFamily="34" charset="-120"/>
              </a:rPr>
              <a:t>Persistent, regenerative data storage in living cells, for places nobody can send a repair technician.</a:t>
            </a:r>
            <a:endParaRPr lang="en-US" sz="1400" dirty="0"/>
          </a:p>
        </p:txBody>
      </p:sp>
      <p:sp>
        <p:nvSpPr>
          <p:cNvPr id="10" name="Shape 8"/>
          <p:cNvSpPr/>
          <p:nvPr/>
        </p:nvSpPr>
        <p:spPr>
          <a:xfrm>
            <a:off x="822960" y="3977640"/>
            <a:ext cx="4937760" cy="0"/>
          </a:xfrm>
          <a:prstGeom prst="line">
            <a:avLst/>
          </a:prstGeom>
          <a:noFill/>
          <a:ln w="25400">
            <a:solidFill>
              <a:srgbClr val="2EC4B6"/>
            </a:solidFill>
            <a:prstDash val="solid"/>
          </a:ln>
        </p:spPr>
      </p:sp>
      <p:sp>
        <p:nvSpPr>
          <p:cNvPr id="11" name="Text 9"/>
          <p:cNvSpPr txBox="1"/>
          <p:nvPr/>
        </p:nvSpPr>
        <p:spPr>
          <a:xfrm>
            <a:off x="822960" y="416052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Founder &amp; Lead Researcher: </a:t>
            </a:r>
            <a:pPr indent="0" marL="0">
              <a:buNone/>
            </a:pPr>
            <a:r>
              <a:rPr lang="en-US" sz="1300" b="1" dirty="0">
                <a:solidFill>
                  <a:srgbClr val="FFFFFF"/>
                </a:solidFill>
                <a:latin typeface="Calibri" pitchFamily="34" charset="0"/>
                <a:ea typeface="Calibri" pitchFamily="34" charset="-122"/>
                <a:cs typeface="Calibri" pitchFamily="34" charset="-120"/>
              </a:rPr>
              <a:t>Dayana Sanchez</a:t>
            </a:r>
            <a:endParaRPr lang="en-US" sz="1300" dirty="0"/>
          </a:p>
        </p:txBody>
      </p:sp>
      <p:sp>
        <p:nvSpPr>
          <p:cNvPr id="12" name="Text 10"/>
          <p:cNvSpPr txBox="1"/>
          <p:nvPr/>
        </p:nvSpPr>
        <p:spPr>
          <a:xfrm>
            <a:off x="822960" y="448056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Contact: </a:t>
            </a:r>
            <a:pPr indent="0" marL="0">
              <a:buNone/>
            </a:pPr>
            <a:r>
              <a:rPr lang="en-US" sz="1300" dirty="0">
                <a:solidFill>
                  <a:srgbClr val="FFFFFF"/>
                </a:solidFill>
                <a:latin typeface="Calibri" pitchFamily="34" charset="0"/>
                <a:ea typeface="Calibri" pitchFamily="34" charset="-122"/>
                <a:cs typeface="Calibri" pitchFamily="34" charset="-120"/>
              </a:rPr>
              <a:t>sanchezleal1989@gmail.com</a:t>
            </a:r>
            <a:endParaRPr lang="en-US" sz="1300" dirty="0"/>
          </a:p>
        </p:txBody>
      </p:sp>
      <p:sp>
        <p:nvSpPr>
          <p:cNvPr id="13" name="Text 11"/>
          <p:cNvSpPr txBox="1"/>
          <p:nvPr/>
        </p:nvSpPr>
        <p:spPr>
          <a:xfrm>
            <a:off x="822960" y="480060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Co-Founder: </a:t>
            </a:r>
            <a:pPr indent="0" marL="0">
              <a:buNone/>
            </a:pPr>
            <a:r>
              <a:rPr lang="en-US" sz="1300" b="1" dirty="0">
                <a:solidFill>
                  <a:srgbClr val="FFFFFF"/>
                </a:solidFill>
                <a:latin typeface="Calibri" pitchFamily="34" charset="0"/>
                <a:ea typeface="Calibri" pitchFamily="34" charset="-122"/>
                <a:cs typeface="Calibri" pitchFamily="34" charset="-120"/>
              </a:rPr>
              <a:t>Jacqueline Solano</a:t>
            </a:r>
            <a:endParaRPr lang="en-US" sz="1300" dirty="0"/>
          </a:p>
        </p:txBody>
      </p:sp>
      <p:sp>
        <p:nvSpPr>
          <p:cNvPr id="14" name="Text 12"/>
          <p:cNvSpPr txBox="1"/>
          <p:nvPr/>
        </p:nvSpPr>
        <p:spPr>
          <a:xfrm>
            <a:off x="822960" y="512064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Contact: </a:t>
            </a:r>
            <a:pPr indent="0" marL="0">
              <a:buNone/>
            </a:pPr>
            <a:r>
              <a:rPr lang="en-US" sz="1300" dirty="0">
                <a:solidFill>
                  <a:srgbClr val="FFFFFF"/>
                </a:solidFill>
                <a:latin typeface="Calibri" pitchFamily="34" charset="0"/>
                <a:ea typeface="Calibri" pitchFamily="34" charset="-122"/>
                <a:cs typeface="Calibri" pitchFamily="34" charset="-120"/>
              </a:rPr>
              <a:t>jackiea.solano@gmail.com</a:t>
            </a:r>
            <a:endParaRPr lang="en-US" sz="1300" dirty="0"/>
          </a:p>
        </p:txBody>
      </p:sp>
      <p:sp>
        <p:nvSpPr>
          <p:cNvPr id="15" name="Text 13"/>
          <p:cNvSpPr txBox="1"/>
          <p:nvPr/>
        </p:nvSpPr>
        <p:spPr>
          <a:xfrm>
            <a:off x="822960" y="544068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Repository: </a:t>
            </a:r>
            <a:pPr indent="0" marL="0">
              <a:buNone/>
            </a:pPr>
            <a:r>
              <a:rPr lang="en-US" sz="1300" dirty="0">
                <a:solidFill>
                  <a:srgbClr val="FFFFFF"/>
                </a:solidFill>
                <a:latin typeface="Calibri" pitchFamily="34" charset="0"/>
                <a:ea typeface="Calibri" pitchFamily="34" charset="-122"/>
                <a:cs typeface="Calibri" pitchFamily="34" charset="-120"/>
              </a:rPr>
              <a:t>github.com/rewired89/Acheron</a:t>
            </a:r>
            <a:endParaRPr lang="en-US" sz="1300" dirty="0"/>
          </a:p>
        </p:txBody>
      </p:sp>
      <p:sp>
        <p:nvSpPr>
          <p:cNvPr id="16" name="Text 1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600" b="1" dirty="0">
                <a:solidFill>
                  <a:srgbClr val="16232F"/>
                </a:solidFill>
                <a:latin typeface="Cambria" pitchFamily="34" charset="0"/>
                <a:ea typeface="Cambria" pitchFamily="34" charset="-122"/>
                <a:cs typeface="Cambria" pitchFamily="34" charset="-120"/>
              </a:rPr>
              <a:t>Every biocomputing product today runs on neurons, cells built for speed, not for storage</a:t>
            </a:r>
            <a:endParaRPr lang="en-US" sz="2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1828800"/>
        </p:xfrm>
        <a:graphic>
          <a:graphicData uri="http://schemas.openxmlformats.org/drawingml/2006/table">
            <a:tbl>
              <a:tblPr/>
              <a:tblGrid>
                <a:gridCol w="1965960"/>
                <a:gridCol w="1965960"/>
                <a:gridCol w="1965960"/>
                <a:gridCol w="196596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Company</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Substrate</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Lifespan</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Price</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Cortical Labs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Human neurons on silicon (CL-1)</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6 months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$35,000 / unit</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Koniku</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Neuron-silicon sensing chips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~2 years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Not public</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FinalSpark</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Brain organoids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Not public</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Cloud access only</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Shape 2"/>
          <p:cNvSpPr/>
          <p:nvPr/>
        </p:nvSpPr>
        <p:spPr>
          <a:xfrm>
            <a:off x="8778240" y="1828800"/>
            <a:ext cx="2788920" cy="4206240"/>
          </a:xfrm>
          <a:prstGeom prst="roundRect">
            <a:avLst>
              <a:gd name="adj" fmla="val 2623"/>
            </a:avLst>
          </a:prstGeom>
          <a:solidFill>
            <a:srgbClr val="0B1F3A"/>
          </a:solidFill>
          <a:ln/>
        </p:spPr>
      </p:sp>
      <p:sp>
        <p:nvSpPr>
          <p:cNvPr id="6" name="Text 3"/>
          <p:cNvSpPr txBox="1"/>
          <p:nvPr/>
        </p:nvSpPr>
        <p:spPr>
          <a:xfrm>
            <a:off x="9006840" y="2057400"/>
            <a:ext cx="2377440" cy="822960"/>
          </a:xfrm>
          <a:prstGeom prst="rect">
            <a:avLst/>
          </a:prstGeom>
          <a:noFill/>
          <a:ln/>
        </p:spPr>
        <p:txBody>
          <a:bodyPr wrap="square" lIns="0" tIns="0" rIns="0" bIns="0" rtlCol="0" anchor="ctr"/>
          <a:lstStyle/>
          <a:p>
            <a:pPr indent="0" marL="0">
              <a:buNone/>
            </a:pPr>
            <a:r>
              <a:rPr lang="en-US" sz="1500" b="1" dirty="0">
                <a:solidFill>
                  <a:srgbClr val="2EC4B6"/>
                </a:solidFill>
                <a:latin typeface="Cambria" pitchFamily="34" charset="0"/>
                <a:ea typeface="Cambria" pitchFamily="34" charset="-122"/>
                <a:cs typeface="Cambria" pitchFamily="34" charset="-120"/>
              </a:rPr>
              <a:t>Why this fails for</a:t>
            </a:r>
            <a:endParaRPr lang="en-US" sz="1500" dirty="0"/>
          </a:p>
          <a:p>
            <a:pPr indent="0" marL="0">
              <a:buNone/>
            </a:pPr>
            <a:r>
              <a:rPr lang="en-US" sz="1500" b="1" dirty="0">
                <a:solidFill>
                  <a:srgbClr val="2EC4B6"/>
                </a:solidFill>
                <a:latin typeface="Cambria" pitchFamily="34" charset="0"/>
                <a:ea typeface="Cambria" pitchFamily="34" charset="-122"/>
                <a:cs typeface="Cambria" pitchFamily="34" charset="-120"/>
              </a:rPr>
              <a:t>long-duration storage</a:t>
            </a:r>
            <a:endParaRPr lang="en-US" sz="1500" dirty="0"/>
          </a:p>
        </p:txBody>
      </p:sp>
      <p:sp>
        <p:nvSpPr>
          <p:cNvPr id="7" name="Text 4"/>
          <p:cNvSpPr txBox="1"/>
          <p:nvPr/>
        </p:nvSpPr>
        <p:spPr>
          <a:xfrm>
            <a:off x="9006840" y="2880360"/>
            <a:ext cx="2377440" cy="2926080"/>
          </a:xfrm>
          <a:prstGeom prst="rect">
            <a:avLst/>
          </a:prstGeom>
          <a:noFill/>
          <a:ln/>
        </p:spPr>
        <p:txBody>
          <a:bodyPr wrap="square" lIns="0" tIns="0" rIns="0" bIns="0" rtlCol="0" anchor="ctr"/>
          <a:lstStyle/>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Neurons need continuous energy to hold any signal at all</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Fixed replacement clock, no self-repair, ever</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Requires life support: temperature, pH, oxygen control</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None of this survives radiation, vacuum, or physical damage</a:t>
            </a:r>
            <a:endParaRPr lang="en-US" sz="1200" dirty="0"/>
          </a:p>
        </p:txBody>
      </p:sp>
      <p:sp>
        <p:nvSpPr>
          <p:cNvPr id="8" name="Text 5"/>
          <p:cNvSpPr txBox="1"/>
          <p:nvPr/>
        </p:nvSpPr>
        <p:spPr>
          <a:xfrm>
            <a:off x="640080" y="3977640"/>
            <a:ext cx="7863840" cy="1463040"/>
          </a:xfrm>
          <a:prstGeom prst="rect">
            <a:avLst/>
          </a:prstGeom>
          <a:noFill/>
          <a:ln/>
        </p:spPr>
        <p:txBody>
          <a:bodyPr wrap="square" lIns="0" tIns="0" rIns="0" bIns="0" rtlCol="0" anchor="ctr"/>
          <a:lstStyle/>
          <a:p>
            <a:pPr indent="0" marL="0">
              <a:buNone/>
            </a:pPr>
            <a:r>
              <a:rPr lang="en-US" sz="1500" i="1" dirty="0">
                <a:solidFill>
                  <a:srgbClr val="5B6B77"/>
                </a:solidFill>
                <a:latin typeface="Calibri" pitchFamily="34" charset="0"/>
                <a:ea typeface="Calibri" pitchFamily="34" charset="-122"/>
                <a:cs typeface="Calibri" pitchFamily="34" charset="-120"/>
              </a:rPr>
              <a:t>Spacecraft, seafloor sensors, and remote infrastructure share one hard requirement both silicon and neurons fail: nobody can service the hardware in person.</a:t>
            </a:r>
            <a:endParaRPr lang="en-US" sz="1500" dirty="0"/>
          </a:p>
        </p:txBody>
      </p:sp>
      <p:sp>
        <p:nvSpPr>
          <p:cNvPr id="9" name="Text 6"/>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IDEA</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Some living tissue holds a voltage pattern for weeks, and regrows itself after damage</a:t>
            </a:r>
            <a:endParaRPr lang="en-US" sz="2500" dirty="0"/>
          </a:p>
        </p:txBody>
      </p:sp>
      <p:sp>
        <p:nvSpPr>
          <p:cNvPr id="4" name="Shape 2"/>
          <p:cNvSpPr/>
          <p:nvPr/>
        </p:nvSpPr>
        <p:spPr>
          <a:xfrm>
            <a:off x="64008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5" name="Shape 3"/>
          <p:cNvSpPr/>
          <p:nvPr/>
        </p:nvSpPr>
        <p:spPr>
          <a:xfrm>
            <a:off x="914400" y="2103120"/>
            <a:ext cx="502920" cy="502920"/>
          </a:xfrm>
          <a:prstGeom prst="ellipse">
            <a:avLst/>
          </a:prstGeom>
          <a:solidFill>
            <a:srgbClr val="2EC4B6"/>
          </a:solidFill>
          <a:ln/>
        </p:spPr>
      </p:sp>
      <p:sp>
        <p:nvSpPr>
          <p:cNvPr id="6" name="Text 4"/>
          <p:cNvSpPr txBox="1"/>
          <p:nvPr/>
        </p:nvSpPr>
        <p:spPr>
          <a:xfrm>
            <a:off x="91440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txBox="1"/>
          <p:nvPr/>
        </p:nvSpPr>
        <p:spPr>
          <a:xfrm>
            <a:off x="91440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Natural precedent</a:t>
            </a:r>
            <a:endParaRPr lang="en-US" sz="1600" dirty="0"/>
          </a:p>
        </p:txBody>
      </p:sp>
      <p:sp>
        <p:nvSpPr>
          <p:cNvPr id="8" name="Text 6"/>
          <p:cNvSpPr txBox="1"/>
          <p:nvPr/>
        </p:nvSpPr>
        <p:spPr>
          <a:xfrm>
            <a:off x="91440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Planarian flatworms store body-plan identity ("grow a head here") as a bioelectric pattern. Cut one in half, the pattern survives and rebuilds correctly in both halves.</a:t>
            </a:r>
            <a:endParaRPr lang="en-US" sz="1250" dirty="0"/>
          </a:p>
        </p:txBody>
      </p:sp>
      <p:sp>
        <p:nvSpPr>
          <p:cNvPr id="9" name="Shape 7"/>
          <p:cNvSpPr/>
          <p:nvPr/>
        </p:nvSpPr>
        <p:spPr>
          <a:xfrm>
            <a:off x="443484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0" name="Shape 8"/>
          <p:cNvSpPr/>
          <p:nvPr/>
        </p:nvSpPr>
        <p:spPr>
          <a:xfrm>
            <a:off x="4709160" y="2103120"/>
            <a:ext cx="502920" cy="502920"/>
          </a:xfrm>
          <a:prstGeom prst="ellipse">
            <a:avLst/>
          </a:prstGeom>
          <a:solidFill>
            <a:srgbClr val="2EC4B6"/>
          </a:solidFill>
          <a:ln/>
        </p:spPr>
      </p:sp>
      <p:sp>
        <p:nvSpPr>
          <p:cNvPr id="11" name="Text 9"/>
          <p:cNvSpPr txBox="1"/>
          <p:nvPr/>
        </p:nvSpPr>
        <p:spPr>
          <a:xfrm>
            <a:off x="470916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2" name="Text 10"/>
          <p:cNvSpPr txBox="1"/>
          <p:nvPr/>
        </p:nvSpPr>
        <p:spPr>
          <a:xfrm>
            <a:off x="470916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Our question</a:t>
            </a:r>
            <a:endParaRPr lang="en-US" sz="1600" dirty="0"/>
          </a:p>
        </p:txBody>
      </p:sp>
      <p:sp>
        <p:nvSpPr>
          <p:cNvPr id="13" name="Text 11"/>
          <p:cNvSpPr txBox="1"/>
          <p:nvPr/>
        </p:nvSpPr>
        <p:spPr>
          <a:xfrm>
            <a:off x="470916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Can the same kind of system, voltage state plus strong regenerative inheritance, hold arbitrary binary data, not just the organism's own natural signal?</a:t>
            </a:r>
            <a:endParaRPr lang="en-US" sz="1250" dirty="0"/>
          </a:p>
        </p:txBody>
      </p:sp>
      <p:sp>
        <p:nvSpPr>
          <p:cNvPr id="14" name="Shape 12"/>
          <p:cNvSpPr/>
          <p:nvPr/>
        </p:nvSpPr>
        <p:spPr>
          <a:xfrm>
            <a:off x="822960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5" name="Shape 13"/>
          <p:cNvSpPr/>
          <p:nvPr/>
        </p:nvSpPr>
        <p:spPr>
          <a:xfrm>
            <a:off x="8503920" y="2103120"/>
            <a:ext cx="502920" cy="502920"/>
          </a:xfrm>
          <a:prstGeom prst="ellipse">
            <a:avLst/>
          </a:prstGeom>
          <a:solidFill>
            <a:srgbClr val="2EC4B6"/>
          </a:solidFill>
          <a:ln/>
        </p:spPr>
      </p:sp>
      <p:sp>
        <p:nvSpPr>
          <p:cNvPr id="16" name="Text 14"/>
          <p:cNvSpPr txBox="1"/>
          <p:nvPr/>
        </p:nvSpPr>
        <p:spPr>
          <a:xfrm>
            <a:off x="850392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txBox="1"/>
          <p:nvPr/>
        </p:nvSpPr>
        <p:spPr>
          <a:xfrm>
            <a:off x="850392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Why it would matter</a:t>
            </a:r>
            <a:endParaRPr lang="en-US" sz="1600" dirty="0"/>
          </a:p>
        </p:txBody>
      </p:sp>
      <p:sp>
        <p:nvSpPr>
          <p:cNvPr id="18" name="Text 16"/>
          <p:cNvSpPr txBox="1"/>
          <p:nvPr/>
        </p:nvSpPr>
        <p:spPr>
          <a:xfrm>
            <a:off x="850392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A substrate that needs no power to hold state, and repairs itself after physical damage, is a fundamentally different answer to extreme-environment storage.</a:t>
            </a:r>
            <a:endParaRPr lang="en-US" sz="12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FULL GOAL</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Storing a bit is step one. The real target is a cell that writes, hands off, and heals itself for reuse</a:t>
            </a:r>
            <a:endParaRPr lang="en-US" sz="2100" dirty="0"/>
          </a:p>
        </p:txBody>
      </p:sp>
      <p:sp>
        <p:nvSpPr>
          <p:cNvPr id="4" name="Shape 2"/>
          <p:cNvSpPr/>
          <p:nvPr/>
        </p:nvSpPr>
        <p:spPr>
          <a:xfrm>
            <a:off x="640080" y="1828800"/>
            <a:ext cx="3566160" cy="2286000"/>
          </a:xfrm>
          <a:prstGeom prst="roundRect">
            <a:avLst>
              <a:gd name="adj" fmla="val 3200"/>
            </a:avLst>
          </a:prstGeom>
          <a:solidFill>
            <a:srgbClr val="0B1F3A"/>
          </a:solidFill>
          <a:ln/>
        </p:spPr>
      </p:sp>
      <p:sp>
        <p:nvSpPr>
          <p:cNvPr id="5" name="Text 3"/>
          <p:cNvSpPr txBox="1"/>
          <p:nvPr/>
        </p:nvSpPr>
        <p:spPr>
          <a:xfrm>
            <a:off x="89611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1. Write</a:t>
            </a:r>
            <a:endParaRPr lang="en-US" sz="1600" dirty="0"/>
          </a:p>
        </p:txBody>
      </p:sp>
      <p:sp>
        <p:nvSpPr>
          <p:cNvPr id="6" name="Text 4"/>
          <p:cNvSpPr txBox="1"/>
          <p:nvPr/>
        </p:nvSpPr>
        <p:spPr>
          <a:xfrm>
            <a:off x="89611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A bit is written into the cell's voltage state (the engineered circuit from the rest of this deck).</a:t>
            </a:r>
            <a:endParaRPr lang="en-US" sz="1200" dirty="0"/>
          </a:p>
        </p:txBody>
      </p:sp>
      <p:sp>
        <p:nvSpPr>
          <p:cNvPr id="7" name="Shape 5"/>
          <p:cNvSpPr/>
          <p:nvPr/>
        </p:nvSpPr>
        <p:spPr>
          <a:xfrm>
            <a:off x="4434840" y="1828800"/>
            <a:ext cx="3566160" cy="2286000"/>
          </a:xfrm>
          <a:prstGeom prst="roundRect">
            <a:avLst>
              <a:gd name="adj" fmla="val 3200"/>
            </a:avLst>
          </a:prstGeom>
          <a:solidFill>
            <a:srgbClr val="0B1F3A"/>
          </a:solidFill>
          <a:ln/>
        </p:spPr>
      </p:sp>
      <p:sp>
        <p:nvSpPr>
          <p:cNvPr id="8" name="Text 6"/>
          <p:cNvSpPr txBox="1"/>
          <p:nvPr/>
        </p:nvSpPr>
        <p:spPr>
          <a:xfrm>
            <a:off x="469087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2. Transfer on split</a:t>
            </a:r>
            <a:endParaRPr lang="en-US" sz="1600" dirty="0"/>
          </a:p>
        </p:txBody>
      </p:sp>
      <p:sp>
        <p:nvSpPr>
          <p:cNvPr id="9" name="Text 7"/>
          <p:cNvSpPr txBox="1"/>
          <p:nvPr/>
        </p:nvSpPr>
        <p:spPr>
          <a:xfrm>
            <a:off x="469087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When the organism naturally regenerates or divides, the data travels with it into the new organism, not just genetic material, the written state itself.</a:t>
            </a:r>
            <a:endParaRPr lang="en-US" sz="1200" dirty="0"/>
          </a:p>
        </p:txBody>
      </p:sp>
      <p:sp>
        <p:nvSpPr>
          <p:cNvPr id="10" name="Shape 8"/>
          <p:cNvSpPr/>
          <p:nvPr/>
        </p:nvSpPr>
        <p:spPr>
          <a:xfrm>
            <a:off x="8229600" y="1828800"/>
            <a:ext cx="3566160" cy="2286000"/>
          </a:xfrm>
          <a:prstGeom prst="roundRect">
            <a:avLst>
              <a:gd name="adj" fmla="val 3200"/>
            </a:avLst>
          </a:prstGeom>
          <a:solidFill>
            <a:srgbClr val="0B1F3A"/>
          </a:solidFill>
          <a:ln/>
        </p:spPr>
      </p:sp>
      <p:sp>
        <p:nvSpPr>
          <p:cNvPr id="11" name="Text 9"/>
          <p:cNvSpPr txBox="1"/>
          <p:nvPr/>
        </p:nvSpPr>
        <p:spPr>
          <a:xfrm>
            <a:off x="848563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3. Self-heal for reuse</a:t>
            </a:r>
            <a:endParaRPr lang="en-US" sz="1600" dirty="0"/>
          </a:p>
        </p:txBody>
      </p:sp>
      <p:sp>
        <p:nvSpPr>
          <p:cNvPr id="12" name="Text 10"/>
          <p:cNvSpPr txBox="1"/>
          <p:nvPr/>
        </p:nvSpPr>
        <p:spPr>
          <a:xfrm>
            <a:off x="848563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The original cell/colony recovers back to a clean baseline afterward, so it can be written to again rather than being a one-time-use component.</a:t>
            </a:r>
            <a:endParaRPr lang="en-US" sz="1200" dirty="0"/>
          </a:p>
        </p:txBody>
      </p:sp>
      <p:sp>
        <p:nvSpPr>
          <p:cNvPr id="13" name="Shape 11"/>
          <p:cNvSpPr/>
          <p:nvPr/>
        </p:nvSpPr>
        <p:spPr>
          <a:xfrm>
            <a:off x="640080" y="4343400"/>
            <a:ext cx="10972800" cy="1828800"/>
          </a:xfrm>
          <a:prstGeom prst="roundRect">
            <a:avLst>
              <a:gd name="adj" fmla="val 4000"/>
            </a:avLst>
          </a:prstGeom>
          <a:solidFill>
            <a:srgbClr val="F4F6F7"/>
          </a:solidFill>
          <a:ln w="12700">
            <a:solidFill>
              <a:srgbClr val="DCE3E6"/>
            </a:solidFill>
            <a:prstDash val="solid"/>
          </a:ln>
        </p:spPr>
      </p:sp>
      <p:sp>
        <p:nvSpPr>
          <p:cNvPr id="14" name="Text 12"/>
          <p:cNvSpPr txBox="1"/>
          <p:nvPr/>
        </p:nvSpPr>
        <p:spPr>
          <a:xfrm>
            <a:off x="914400" y="4526280"/>
            <a:ext cx="10424160" cy="365760"/>
          </a:xfrm>
          <a:prstGeom prst="rect">
            <a:avLst/>
          </a:prstGeom>
          <a:noFill/>
          <a:ln/>
        </p:spPr>
        <p:txBody>
          <a:bodyPr wrap="square" lIns="0" tIns="0" rIns="0" bIns="0" rtlCol="0" anchor="ctr"/>
          <a:lstStyle/>
          <a:p>
            <a:pPr indent="0" marL="0">
              <a:buNone/>
            </a:pPr>
            <a:r>
              <a:rPr lang="en-US" sz="1450" b="1" dirty="0">
                <a:solidFill>
                  <a:srgbClr val="1C8F84"/>
                </a:solidFill>
                <a:latin typeface="Cambria" pitchFamily="34" charset="0"/>
                <a:ea typeface="Cambria" pitchFamily="34" charset="-122"/>
                <a:cs typeface="Cambria" pitchFamily="34" charset="-120"/>
              </a:rPr>
              <a:t>In plain English</a:t>
            </a:r>
            <a:endParaRPr lang="en-US" sz="1450" dirty="0"/>
          </a:p>
        </p:txBody>
      </p:sp>
      <p:sp>
        <p:nvSpPr>
          <p:cNvPr id="15" name="Text 13"/>
          <p:cNvSpPr txBox="1"/>
          <p:nvPr/>
        </p:nvSpPr>
        <p:spPr>
          <a:xfrm>
            <a:off x="914400" y="4937760"/>
            <a:ext cx="10424160" cy="1143000"/>
          </a:xfrm>
          <a:prstGeom prst="rect">
            <a:avLst/>
          </a:prstGeom>
          <a:noFill/>
          <a:ln/>
        </p:spPr>
        <p:txBody>
          <a:bodyPr wrap="square" lIns="0" tIns="0" rIns="0" bIns="0" rtlCol="0" anchor="ctr"/>
          <a:lstStyle/>
          <a:p>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Living cell</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reusable notebook.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Writing a bit</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pencil note in it.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The organism splitting/regrowing</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photocopying the notebook.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The new organism</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new notebook that already has the note copied in.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Self-healing</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the original notebook erases its own note and is ready to write a new one.</a:t>
            </a:r>
            <a:endParaRPr lang="en-US" sz="1350" dirty="0"/>
          </a:p>
        </p:txBody>
      </p:sp>
      <p:sp>
        <p:nvSpPr>
          <p:cNvPr id="16" name="Text 14"/>
          <p:cNvSpPr txBox="1"/>
          <p:nvPr/>
        </p:nvSpPr>
        <p:spPr>
          <a:xfrm>
            <a:off x="640080" y="6355080"/>
            <a:ext cx="10972800" cy="365760"/>
          </a:xfrm>
          <a:prstGeom prst="rect">
            <a:avLst/>
          </a:prstGeom>
          <a:noFill/>
          <a:ln/>
        </p:spPr>
        <p:txBody>
          <a:bodyPr wrap="square" lIns="0" tIns="0" rIns="0" bIns="0" rtlCol="0" anchor="ctr"/>
          <a:lstStyle/>
          <a:p>
            <a:pPr indent="0" marL="0">
              <a:buNone/>
            </a:pPr>
            <a:r>
              <a:rPr lang="en-US" sz="1150" i="1" dirty="0">
                <a:solidFill>
                  <a:srgbClr val="5B6B77"/>
                </a:solidFill>
                <a:latin typeface="Calibri" pitchFamily="34" charset="0"/>
                <a:ea typeface="Calibri" pitchFamily="34" charset="-122"/>
                <a:cs typeface="Calibri" pitchFamily="34" charset="-120"/>
              </a:rPr>
              <a:t>This is genuinely hard to test without a wet lab, which is exactly why it's the goal after the roadmap experiment, not a claim we're making today. This deck says clearly what's already simulated and what still needs the lab.</a:t>
            </a:r>
            <a:endParaRPr lang="en-US" sz="11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SCIENTIFIC FOUNDATION</a:t>
            </a:r>
            <a:endParaRPr lang="en-US" sz="1200" dirty="0"/>
          </a:p>
        </p:txBody>
      </p:sp>
      <p:sp>
        <p:nvSpPr>
          <p:cNvPr id="3" name="Text 1"/>
          <p:cNvSpPr txBox="1"/>
          <p:nvPr/>
        </p:nvSpPr>
        <p:spPr>
          <a:xfrm>
            <a:off x="640080" y="777240"/>
            <a:ext cx="10881360" cy="64008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Three independently published results this concept is built on</a:t>
            </a:r>
            <a:endParaRPr lang="en-US" sz="2500" dirty="0"/>
          </a:p>
        </p:txBody>
      </p:sp>
      <p:sp>
        <p:nvSpPr>
          <p:cNvPr id="4" name="Shape 2"/>
          <p:cNvSpPr/>
          <p:nvPr/>
        </p:nvSpPr>
        <p:spPr>
          <a:xfrm>
            <a:off x="640080" y="1737360"/>
            <a:ext cx="54864" cy="1234440"/>
          </a:xfrm>
          <a:prstGeom prst="rect">
            <a:avLst/>
          </a:prstGeom>
          <a:solidFill>
            <a:srgbClr val="2EC4B6"/>
          </a:solidFill>
          <a:ln/>
        </p:spPr>
      </p:sp>
      <p:sp>
        <p:nvSpPr>
          <p:cNvPr id="5" name="Text 3"/>
          <p:cNvSpPr txBox="1"/>
          <p:nvPr/>
        </p:nvSpPr>
        <p:spPr>
          <a:xfrm>
            <a:off x="914400" y="169164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Bioelectric body-plan control</a:t>
            </a:r>
            <a:endParaRPr lang="en-US" sz="1550" dirty="0"/>
          </a:p>
        </p:txBody>
      </p:sp>
      <p:sp>
        <p:nvSpPr>
          <p:cNvPr id="6" name="Text 4"/>
          <p:cNvSpPr txBox="1"/>
          <p:nvPr/>
        </p:nvSpPr>
        <p:spPr>
          <a:xfrm>
            <a:off x="914400" y="207568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Levin et al., multiple papers 2006-2023 (Tufts)</a:t>
            </a:r>
            <a:endParaRPr lang="en-US" sz="1150" dirty="0"/>
          </a:p>
        </p:txBody>
      </p:sp>
      <p:sp>
        <p:nvSpPr>
          <p:cNvPr id="7" name="Text 5"/>
          <p:cNvSpPr txBox="1"/>
          <p:nvPr/>
        </p:nvSpPr>
        <p:spPr>
          <a:xfrm>
            <a:off x="4754880" y="169164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Voltage gradients control regeneration outcomes in planaria, replicated across multiple labs, the two-headed-worm result is the most cited example.</a:t>
            </a:r>
            <a:endParaRPr lang="en-US" sz="1300" dirty="0"/>
          </a:p>
        </p:txBody>
      </p:sp>
      <p:sp>
        <p:nvSpPr>
          <p:cNvPr id="8" name="Shape 6"/>
          <p:cNvSpPr/>
          <p:nvPr/>
        </p:nvSpPr>
        <p:spPr>
          <a:xfrm>
            <a:off x="640080" y="3200400"/>
            <a:ext cx="54864" cy="1234440"/>
          </a:xfrm>
          <a:prstGeom prst="rect">
            <a:avLst/>
          </a:prstGeom>
          <a:solidFill>
            <a:srgbClr val="2EC4B6"/>
          </a:solidFill>
          <a:ln/>
        </p:spPr>
      </p:sp>
      <p:sp>
        <p:nvSpPr>
          <p:cNvPr id="9" name="Text 7"/>
          <p:cNvSpPr txBox="1"/>
          <p:nvPr/>
        </p:nvSpPr>
        <p:spPr>
          <a:xfrm>
            <a:off x="914400" y="315468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Engineered genetic bistability</a:t>
            </a:r>
            <a:endParaRPr lang="en-US" sz="1550" dirty="0"/>
          </a:p>
        </p:txBody>
      </p:sp>
      <p:sp>
        <p:nvSpPr>
          <p:cNvPr id="10" name="Text 8"/>
          <p:cNvSpPr txBox="1"/>
          <p:nvPr/>
        </p:nvSpPr>
        <p:spPr>
          <a:xfrm>
            <a:off x="914400" y="353872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Gardner, Cantor &amp; Collins, 2000, Nature</a:t>
            </a:r>
            <a:endParaRPr lang="en-US" sz="1150" dirty="0"/>
          </a:p>
        </p:txBody>
      </p:sp>
      <p:sp>
        <p:nvSpPr>
          <p:cNvPr id="11" name="Text 9"/>
          <p:cNvSpPr txBox="1"/>
          <p:nvPr/>
        </p:nvSpPr>
        <p:spPr>
          <a:xfrm>
            <a:off x="4754880" y="315468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A synthetic 2-repressor circuit in E. coli holds one of two states indefinitely once flipped, a solved, 25-year-old result, described by its authors as an addressable cellular memory unit.</a:t>
            </a:r>
            <a:endParaRPr lang="en-US" sz="1300" dirty="0"/>
          </a:p>
        </p:txBody>
      </p:sp>
      <p:sp>
        <p:nvSpPr>
          <p:cNvPr id="12" name="Shape 10"/>
          <p:cNvSpPr/>
          <p:nvPr/>
        </p:nvSpPr>
        <p:spPr>
          <a:xfrm>
            <a:off x="640080" y="4663440"/>
            <a:ext cx="54864" cy="1234440"/>
          </a:xfrm>
          <a:prstGeom prst="rect">
            <a:avLst/>
          </a:prstGeom>
          <a:solidFill>
            <a:srgbClr val="2EC4B6"/>
          </a:solidFill>
          <a:ln/>
        </p:spPr>
      </p:sp>
      <p:sp>
        <p:nvSpPr>
          <p:cNvPr id="13" name="Text 11"/>
          <p:cNvSpPr txBox="1"/>
          <p:nvPr/>
        </p:nvSpPr>
        <p:spPr>
          <a:xfrm>
            <a:off x="914400" y="461772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Non-destructive electrical readout</a:t>
            </a:r>
            <a:endParaRPr lang="en-US" sz="1550" dirty="0"/>
          </a:p>
        </p:txBody>
      </p:sp>
      <p:sp>
        <p:nvSpPr>
          <p:cNvPr id="14" name="Text 12"/>
          <p:cNvSpPr txBox="1"/>
          <p:nvPr/>
        </p:nvSpPr>
        <p:spPr>
          <a:xfrm>
            <a:off x="914400" y="500176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Akabuogu et al., 2024, Nano Letters</a:t>
            </a:r>
            <a:endParaRPr lang="en-US" sz="1150" dirty="0"/>
          </a:p>
        </p:txBody>
      </p:sp>
      <p:sp>
        <p:nvSpPr>
          <p:cNvPr id="15" name="Text 13"/>
          <p:cNvSpPr txBox="1"/>
          <p:nvPr/>
        </p:nvSpPr>
        <p:spPr>
          <a:xfrm>
            <a:off x="4754880" y="461772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A simple two-electrode impedance measurement distinguishes live from dead bacterial biofilm, tied to one specific ion channel's activity, no dye, no sample destruction.</a:t>
            </a:r>
            <a:endParaRPr lang="en-US" sz="1300" dirty="0"/>
          </a:p>
        </p:txBody>
      </p:sp>
      <p:sp>
        <p:nvSpPr>
          <p:cNvPr id="16" name="Text 1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WHAT WE FOUND WHEN WE TESTED OUR OWN CLAIM</a:t>
            </a:r>
            <a:endParaRPr lang="en-US" sz="1200" dirty="0"/>
          </a:p>
        </p:txBody>
      </p:sp>
      <p:sp>
        <p:nvSpPr>
          <p:cNvPr id="3" name="Text 1"/>
          <p:cNvSpPr txBox="1"/>
          <p:nvPr/>
        </p:nvSpPr>
        <p:spPr>
          <a:xfrm>
            <a:off x="640080" y="822960"/>
            <a:ext cx="10881360" cy="82296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Our first simulation's headline result doesn't survive realistic noise</a:t>
            </a:r>
            <a:endParaRPr lang="en-US" sz="2600" dirty="0"/>
          </a:p>
        </p:txBody>
      </p:sp>
      <p:sp>
        <p:nvSpPr>
          <p:cNvPr id="4" name="Shape 2"/>
          <p:cNvSpPr/>
          <p:nvPr/>
        </p:nvSpPr>
        <p:spPr>
          <a:xfrm>
            <a:off x="640080" y="1920240"/>
            <a:ext cx="3383280" cy="4023360"/>
          </a:xfrm>
          <a:prstGeom prst="roundRect">
            <a:avLst>
              <a:gd name="adj" fmla="val 2162"/>
            </a:avLst>
          </a:prstGeom>
          <a:solidFill>
            <a:srgbClr val="132A4D"/>
          </a:solidFill>
          <a:ln/>
        </p:spPr>
      </p:sp>
      <p:sp>
        <p:nvSpPr>
          <p:cNvPr id="5" name="Text 3"/>
          <p:cNvSpPr txBox="1"/>
          <p:nvPr/>
        </p:nvSpPr>
        <p:spPr>
          <a:xfrm>
            <a:off x="822960" y="2148840"/>
            <a:ext cx="3017520" cy="914400"/>
          </a:xfrm>
          <a:prstGeom prst="rect">
            <a:avLst/>
          </a:prstGeom>
          <a:noFill/>
          <a:ln/>
        </p:spPr>
        <p:txBody>
          <a:bodyPr wrap="square" lIns="0" tIns="0" rIns="0" bIns="0" rtlCol="0" anchor="ctr"/>
          <a:lstStyle/>
          <a:p>
            <a:pPr indent="0" marL="0">
              <a:buNone/>
            </a:pPr>
            <a:r>
              <a:rPr lang="en-US" sz="4600" b="1" dirty="0">
                <a:solidFill>
                  <a:srgbClr val="2EC4B6"/>
                </a:solidFill>
                <a:latin typeface="Cambria" pitchFamily="34" charset="0"/>
                <a:ea typeface="Cambria" pitchFamily="34" charset="-122"/>
                <a:cs typeface="Cambria" pitchFamily="34" charset="-120"/>
              </a:rPr>
              <a:t>24h</a:t>
            </a:r>
            <a:endParaRPr lang="en-US" sz="4600" dirty="0"/>
          </a:p>
        </p:txBody>
      </p:sp>
      <p:sp>
        <p:nvSpPr>
          <p:cNvPr id="6" name="Text 4"/>
          <p:cNvSpPr txBox="1"/>
          <p:nvPr/>
        </p:nvSpPr>
        <p:spPr>
          <a:xfrm>
            <a:off x="822960" y="3063240"/>
            <a:ext cx="3017520" cy="822960"/>
          </a:xfrm>
          <a:prstGeom prst="rect">
            <a:avLst/>
          </a:prstGeom>
          <a:noFill/>
          <a:ln/>
        </p:spPr>
        <p:txBody>
          <a:bodyPr wrap="square" lIns="0" tIns="0" rIns="0" bIns="0" rtlCol="0" anchor="ctr"/>
          <a:lstStyle/>
          <a:p>
            <a:pPr indent="0" marL="0">
              <a:buNone/>
            </a:pPr>
            <a:r>
              <a:rPr lang="en-US" sz="1250" dirty="0">
                <a:solidFill>
                  <a:srgbClr val="AEC2C8"/>
                </a:solidFill>
                <a:latin typeface="Calibri" pitchFamily="34" charset="0"/>
                <a:ea typeface="Calibri" pitchFamily="34" charset="-122"/>
                <a:cs typeface="Calibri" pitchFamily="34" charset="-120"/>
              </a:rPr>
              <a:t>Claimed persistence, zero-noise simulation (original pitch)</a:t>
            </a:r>
            <a:endParaRPr lang="en-US" sz="1250" dirty="0"/>
          </a:p>
        </p:txBody>
      </p:sp>
      <p:sp>
        <p:nvSpPr>
          <p:cNvPr id="7" name="Shape 5"/>
          <p:cNvSpPr/>
          <p:nvPr/>
        </p:nvSpPr>
        <p:spPr>
          <a:xfrm>
            <a:off x="868680" y="3977640"/>
            <a:ext cx="2926080" cy="0"/>
          </a:xfrm>
          <a:prstGeom prst="line">
            <a:avLst/>
          </a:prstGeom>
          <a:noFill/>
          <a:ln w="12700">
            <a:solidFill>
              <a:srgbClr val="2A4463"/>
            </a:solidFill>
            <a:prstDash val="solid"/>
          </a:ln>
        </p:spPr>
      </p:sp>
      <p:sp>
        <p:nvSpPr>
          <p:cNvPr id="8" name="Text 6"/>
          <p:cNvSpPr txBox="1"/>
          <p:nvPr/>
        </p:nvSpPr>
        <p:spPr>
          <a:xfrm>
            <a:off x="822960" y="4160520"/>
            <a:ext cx="3017520" cy="914400"/>
          </a:xfrm>
          <a:prstGeom prst="rect">
            <a:avLst/>
          </a:prstGeom>
          <a:noFill/>
          <a:ln/>
        </p:spPr>
        <p:txBody>
          <a:bodyPr wrap="square" lIns="0" tIns="0" rIns="0" bIns="0" rtlCol="0" anchor="ctr"/>
          <a:lstStyle/>
          <a:p>
            <a:pPr indent="0" marL="0">
              <a:buNone/>
            </a:pPr>
            <a:r>
              <a:rPr lang="en-US" sz="4600" b="1" dirty="0">
                <a:solidFill>
                  <a:srgbClr val="E8604C"/>
                </a:solidFill>
                <a:latin typeface="Cambria" pitchFamily="34" charset="0"/>
                <a:ea typeface="Cambria" pitchFamily="34" charset="-122"/>
                <a:cs typeface="Cambria" pitchFamily="34" charset="-120"/>
              </a:rPr>
              <a:t>~50%</a:t>
            </a:r>
            <a:endParaRPr lang="en-US" sz="4600" dirty="0"/>
          </a:p>
        </p:txBody>
      </p:sp>
      <p:sp>
        <p:nvSpPr>
          <p:cNvPr id="9" name="Text 7"/>
          <p:cNvSpPr txBox="1"/>
          <p:nvPr/>
        </p:nvSpPr>
        <p:spPr>
          <a:xfrm>
            <a:off x="822960" y="5074920"/>
            <a:ext cx="3017520" cy="822960"/>
          </a:xfrm>
          <a:prstGeom prst="rect">
            <a:avLst/>
          </a:prstGeom>
          <a:noFill/>
          <a:ln/>
        </p:spPr>
        <p:txBody>
          <a:bodyPr wrap="square" lIns="0" tIns="0" rIns="0" bIns="0" rtlCol="0" anchor="ctr"/>
          <a:lstStyle/>
          <a:p>
            <a:pPr indent="0" marL="0">
              <a:buNone/>
            </a:pPr>
            <a:r>
              <a:rPr lang="en-US" sz="1250" dirty="0">
                <a:solidFill>
                  <a:srgbClr val="AEC2C8"/>
                </a:solidFill>
                <a:latin typeface="Calibri" pitchFamily="34" charset="0"/>
                <a:ea typeface="Calibri" pitchFamily="34" charset="-122"/>
                <a:cs typeface="Calibri" pitchFamily="34" charset="-120"/>
              </a:rPr>
              <a:t>Integrity under realistic biological noise, a coin flip</a:t>
            </a:r>
            <a:endParaRPr lang="en-US" sz="1250" dirty="0"/>
          </a:p>
        </p:txBody>
      </p:sp>
      <p:sp>
        <p:nvSpPr>
          <p:cNvPr id="10" name="Text 8"/>
          <p:cNvSpPr txBox="1"/>
          <p:nvPr/>
        </p:nvSpPr>
        <p:spPr>
          <a:xfrm>
            <a:off x="4434840" y="1920240"/>
            <a:ext cx="7132320" cy="2743200"/>
          </a:xfrm>
          <a:prstGeom prst="rect">
            <a:avLst/>
          </a:prstGeom>
          <a:noFill/>
          <a:ln/>
        </p:spPr>
        <p:txBody>
          <a:bodyPr wrap="square" lIns="0" tIns="0" rIns="0" bIns="0" rtlCol="0" anchor="ctr"/>
          <a:lstStyle/>
          <a:p>
            <a:pPr indent="0" marL="0">
              <a:lnSpc>
                <a:spcPct val="120000"/>
              </a:lnSpc>
              <a:buNone/>
            </a:pPr>
            <a:r>
              <a:rPr lang="en-US" sz="1500" b="1" dirty="0">
                <a:solidFill>
                  <a:srgbClr val="FFFFFF"/>
                </a:solidFill>
                <a:latin typeface="Calibri" pitchFamily="34" charset="0"/>
                <a:ea typeface="Calibri" pitchFamily="34" charset="-122"/>
                <a:cs typeface="Calibri" pitchFamily="34" charset="-120"/>
              </a:rPr>
              <a:t>Why we're leading with this, not hiding it:
</a:t>
            </a:r>
            <a:endParaRPr lang="en-US" sz="1500" dirty="0"/>
          </a:p>
          <a:p>
            <a:pPr indent="0" marL="0">
              <a:lnSpc>
                <a:spcPct val="120000"/>
              </a:lnSpc>
              <a:spcAft>
                <a:spcPts val="1000"/>
              </a:spcAft>
              <a:buNone/>
            </a:pPr>
            <a:r>
              <a:rPr lang="en-US" sz="1500" dirty="0">
                <a:solidFill>
                  <a:srgbClr val="CFE0DD"/>
                </a:solidFill>
                <a:latin typeface="Calibri" pitchFamily="34" charset="0"/>
                <a:ea typeface="Calibri" pitchFamily="34" charset="-122"/>
                <a:cs typeface="Calibri" pitchFamily="34" charset="-120"/>
              </a:rPr>
              <a:t>Passive bioelectric persistence isn't enough on its own, the base model has no real attractor, just a very slow leak, and noise beats slow. </a:t>
            </a:r>
            <a:endParaRPr lang="en-US" sz="1500" dirty="0"/>
          </a:p>
          <a:p>
            <a:pPr indent="0" marL="0">
              <a:lnSpc>
                <a:spcPct val="120000"/>
              </a:lnSpc>
              <a:buNone/>
            </a:pPr>
            <a:r>
              <a:rPr lang="en-US" sz="1500" dirty="0">
                <a:solidFill>
                  <a:srgbClr val="CFE0DD"/>
                </a:solidFill>
                <a:latin typeface="Calibri" pitchFamily="34" charset="0"/>
                <a:ea typeface="Calibri" pitchFamily="34" charset="-122"/>
                <a:cs typeface="Calibri" pitchFamily="34" charset="-120"/>
              </a:rPr>
              <a:t>This is our own finding, from our own code, published in our own repo's audit before any outside reviewer found it first.</a:t>
            </a:r>
            <a:endParaRPr lang="en-US" sz="1500" dirty="0"/>
          </a:p>
        </p:txBody>
      </p:sp>
      <p:sp>
        <p:nvSpPr>
          <p:cNvPr id="11" name="Shape 9"/>
          <p:cNvSpPr/>
          <p:nvPr/>
        </p:nvSpPr>
        <p:spPr>
          <a:xfrm>
            <a:off x="4434840" y="4709160"/>
            <a:ext cx="7132320" cy="1280160"/>
          </a:xfrm>
          <a:prstGeom prst="roundRect">
            <a:avLst>
              <a:gd name="adj" fmla="val 5714"/>
            </a:avLst>
          </a:prstGeom>
          <a:solidFill>
            <a:srgbClr val="18314F"/>
          </a:solidFill>
          <a:ln w="12700">
            <a:solidFill>
              <a:srgbClr val="E8A33D"/>
            </a:solidFill>
            <a:prstDash val="solid"/>
          </a:ln>
        </p:spPr>
      </p:sp>
      <p:sp>
        <p:nvSpPr>
          <p:cNvPr id="12" name="Text 10"/>
          <p:cNvSpPr txBox="1"/>
          <p:nvPr/>
        </p:nvSpPr>
        <p:spPr>
          <a:xfrm>
            <a:off x="4663440" y="4709160"/>
            <a:ext cx="6675120" cy="1280160"/>
          </a:xfrm>
          <a:prstGeom prst="rect">
            <a:avLst/>
          </a:prstGeom>
          <a:noFill/>
          <a:ln/>
        </p:spPr>
        <p:txBody>
          <a:bodyPr wrap="square" lIns="0" tIns="0" rIns="0" bIns="0" rtlCol="0" anchor="ctr"/>
          <a:lstStyle/>
          <a:p>
            <a:pPr indent="0" marL="0">
              <a:buNone/>
            </a:pPr>
            <a:r>
              <a:rPr lang="en-US" sz="1400" b="1" dirty="0">
                <a:solidFill>
                  <a:srgbClr val="E8A33D"/>
                </a:solidFill>
                <a:latin typeface="Calibri" pitchFamily="34" charset="0"/>
                <a:ea typeface="Calibri" pitchFamily="34" charset="-122"/>
                <a:cs typeface="Calibri" pitchFamily="34" charset="-120"/>
              </a:rPr>
              <a:t>The fix is specific, not a mystery:  </a:t>
            </a:r>
            <a:pPr indent="0" marL="0">
              <a:buNone/>
            </a:pPr>
            <a:r>
              <a:rPr lang="en-US" sz="1400" dirty="0">
                <a:solidFill>
                  <a:srgbClr val="E7ECEF"/>
                </a:solidFill>
                <a:latin typeface="Calibri" pitchFamily="34" charset="0"/>
                <a:ea typeface="Calibri" pitchFamily="34" charset="-122"/>
                <a:cs typeface="Calibri" pitchFamily="34" charset="-120"/>
              </a:rPr>
              <a:t>an actively engineered bistable circuit, not passive cell behavior. See next.</a:t>
            </a:r>
            <a:endParaRPr lang="en-US" sz="1400" dirty="0"/>
          </a:p>
        </p:txBody>
      </p:sp>
      <p:sp>
        <p:nvSpPr>
          <p:cNvPr id="13" name="Text 11"/>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FIX</a:t>
            </a:r>
            <a:endParaRPr lang="en-US" sz="12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An engineered bistable circuit, built from parts that already exist</a:t>
            </a:r>
            <a:endParaRPr lang="en-US" sz="2500" dirty="0"/>
          </a:p>
        </p:txBody>
      </p:sp>
      <p:sp>
        <p:nvSpPr>
          <p:cNvPr id="4" name="Shape 2"/>
          <p:cNvSpPr/>
          <p:nvPr/>
        </p:nvSpPr>
        <p:spPr>
          <a:xfrm>
            <a:off x="640080" y="1737360"/>
            <a:ext cx="6675120" cy="4297680"/>
          </a:xfrm>
          <a:prstGeom prst="roundRect">
            <a:avLst>
              <a:gd name="adj" fmla="val 1702"/>
            </a:avLst>
          </a:prstGeom>
          <a:solidFill>
            <a:srgbClr val="FFFFFF"/>
          </a:solidFill>
          <a:ln w="12700">
            <a:solidFill>
              <a:srgbClr val="DCE3E6"/>
            </a:solidFill>
            <a:prstDash val="solid"/>
          </a:ln>
        </p:spPr>
      </p:sp>
      <p:sp>
        <p:nvSpPr>
          <p:cNvPr id="5" name="Text 3"/>
          <p:cNvSpPr txBox="1"/>
          <p:nvPr/>
        </p:nvSpPr>
        <p:spPr>
          <a:xfrm>
            <a:off x="914400" y="1920240"/>
            <a:ext cx="6217920" cy="36576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Two parts, already characterized separately</a:t>
            </a:r>
            <a:endParaRPr lang="en-US" sz="1500" dirty="0"/>
          </a:p>
        </p:txBody>
      </p:sp>
      <p:sp>
        <p:nvSpPr>
          <p:cNvPr id="6" name="Text 4"/>
          <p:cNvSpPr txBox="1"/>
          <p:nvPr/>
        </p:nvSpPr>
        <p:spPr>
          <a:xfrm>
            <a:off x="914400" y="2423160"/>
            <a:ext cx="6217920" cy="868680"/>
          </a:xfrm>
          <a:prstGeom prst="rect">
            <a:avLst/>
          </a:prstGeom>
          <a:noFill/>
          <a:ln/>
        </p:spPr>
        <p:txBody>
          <a:bodyPr wrap="square" lIns="0" tIns="0" rIns="0" bIns="0" rtlCol="0" anchor="ctr"/>
          <a:lstStyle/>
          <a:p>
            <a:pPr indent="0" marL="0">
              <a:lnSpc>
                <a:spcPct val="115000"/>
              </a:lnSpc>
              <a:buNone/>
            </a:pPr>
            <a:r>
              <a:rPr lang="en-US" sz="1250" b="1" dirty="0">
                <a:solidFill>
                  <a:srgbClr val="1C8F84"/>
                </a:solidFill>
                <a:latin typeface="Calibri" pitchFamily="34" charset="0"/>
                <a:ea typeface="Calibri" pitchFamily="34" charset="-122"/>
                <a:cs typeface="Calibri" pitchFamily="34" charset="-120"/>
              </a:rPr>
              <a:t>Topology, </a:t>
            </a:r>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Gardner, Cantor &amp; Collins (2000), two mutually-repressing promoters, demonstrated bistable regime, equations public.</a:t>
            </a:r>
            <a:endParaRPr lang="en-US" sz="1250" dirty="0"/>
          </a:p>
        </p:txBody>
      </p:sp>
      <p:sp>
        <p:nvSpPr>
          <p:cNvPr id="7" name="Text 5"/>
          <p:cNvSpPr txBox="1"/>
          <p:nvPr/>
        </p:nvSpPr>
        <p:spPr>
          <a:xfrm>
            <a:off x="914400" y="3383280"/>
            <a:ext cx="6217920" cy="868680"/>
          </a:xfrm>
          <a:prstGeom prst="rect">
            <a:avLst/>
          </a:prstGeom>
          <a:noFill/>
          <a:ln/>
        </p:spPr>
        <p:txBody>
          <a:bodyPr wrap="square" lIns="0" tIns="0" rIns="0" bIns="0" rtlCol="0" anchor="ctr"/>
          <a:lstStyle/>
          <a:p>
            <a:pPr indent="0" marL="0">
              <a:lnSpc>
                <a:spcPct val="115000"/>
              </a:lnSpc>
              <a:buNone/>
            </a:pPr>
            <a:r>
              <a:rPr lang="en-US" sz="1250" b="1" dirty="0">
                <a:solidFill>
                  <a:srgbClr val="1C8F84"/>
                </a:solidFill>
                <a:latin typeface="Calibri" pitchFamily="34" charset="0"/>
                <a:ea typeface="Calibri" pitchFamily="34" charset="-122"/>
                <a:cs typeface="Calibri" pitchFamily="34" charset="-120"/>
              </a:rPr>
              <a:t>Chassis parts, </a:t>
            </a:r>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Bacillus BioBrick Box (Radeck et al. 2013, 2017), free, chromosomally-integrating promoters, characterized in B. subtilis specifically (this project's target organism, not E. coli).</a:t>
            </a:r>
            <a:endParaRPr lang="en-US" sz="1250" dirty="0"/>
          </a:p>
        </p:txBody>
      </p:sp>
      <p:sp>
        <p:nvSpPr>
          <p:cNvPr id="8" name="Shape 6"/>
          <p:cNvSpPr/>
          <p:nvPr/>
        </p:nvSpPr>
        <p:spPr>
          <a:xfrm>
            <a:off x="914400" y="4389120"/>
            <a:ext cx="6217920" cy="0"/>
          </a:xfrm>
          <a:prstGeom prst="line">
            <a:avLst/>
          </a:prstGeom>
          <a:noFill/>
          <a:ln w="12700">
            <a:solidFill>
              <a:srgbClr val="E4E9EA"/>
            </a:solidFill>
            <a:prstDash val="solid"/>
          </a:ln>
        </p:spPr>
      </p:sp>
      <p:sp>
        <p:nvSpPr>
          <p:cNvPr id="9" name="Text 7"/>
          <p:cNvSpPr txBox="1"/>
          <p:nvPr/>
        </p:nvSpPr>
        <p:spPr>
          <a:xfrm>
            <a:off x="914400" y="4526280"/>
            <a:ext cx="6217920" cy="36576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What running the combined model found</a:t>
            </a:r>
            <a:endParaRPr lang="en-US" sz="1500" dirty="0"/>
          </a:p>
        </p:txBody>
      </p:sp>
      <p:sp>
        <p:nvSpPr>
          <p:cNvPr id="10" name="Text 8"/>
          <p:cNvSpPr txBox="1"/>
          <p:nvPr/>
        </p:nvSpPr>
        <p:spPr>
          <a:xfrm>
            <a:off x="914400" y="4937760"/>
            <a:ext cx="6217920" cy="118872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The real finding isn't that a matched circuit works (it does, 100% fidelity at 24h), it's what happens at severe promoter mismatch: </a:t>
            </a:r>
            <a:pPr indent="0" marL="0">
              <a:lnSpc>
                <a:spcPct val="120000"/>
              </a:lnSpc>
              <a:buNone/>
            </a:pPr>
            <a:r>
              <a:rPr lang="en-US" sz="1250" b="1" dirty="0">
                <a:solidFill>
                  <a:srgbClr val="16232F"/>
                </a:solidFill>
                <a:latin typeface="Calibri" pitchFamily="34" charset="0"/>
                <a:ea typeface="Calibri" pitchFamily="34" charset="-122"/>
                <a:cs typeface="Calibri" pitchFamily="34" charset="-120"/>
              </a:rPr>
              <a:t>the circuit doesn't degrade gracefully, it loses bistability entirely and always relaxes to the same state.</a:t>
            </a:r>
            <a:endParaRPr lang="en-US" sz="1250" dirty="0"/>
          </a:p>
        </p:txBody>
      </p:sp>
      <p:sp>
        <p:nvSpPr>
          <p:cNvPr id="11" name="Shape 9"/>
          <p:cNvSpPr/>
          <p:nvPr/>
        </p:nvSpPr>
        <p:spPr>
          <a:xfrm>
            <a:off x="7543800" y="1737360"/>
            <a:ext cx="4023360" cy="2011680"/>
          </a:xfrm>
          <a:prstGeom prst="roundRect">
            <a:avLst>
              <a:gd name="adj" fmla="val 3636"/>
            </a:avLst>
          </a:prstGeom>
          <a:solidFill>
            <a:srgbClr val="0B1F3A"/>
          </a:solidFill>
          <a:ln/>
        </p:spPr>
      </p:sp>
      <p:sp>
        <p:nvSpPr>
          <p:cNvPr id="12" name="Text 10"/>
          <p:cNvSpPr txBox="1"/>
          <p:nvPr/>
        </p:nvSpPr>
        <p:spPr>
          <a:xfrm>
            <a:off x="7772400" y="1874520"/>
            <a:ext cx="3566160" cy="777240"/>
          </a:xfrm>
          <a:prstGeom prst="rect">
            <a:avLst/>
          </a:prstGeom>
          <a:noFill/>
          <a:ln/>
        </p:spPr>
        <p:txBody>
          <a:bodyPr wrap="square" lIns="0" tIns="0" rIns="0" bIns="0" rtlCol="0" anchor="ctr"/>
          <a:lstStyle/>
          <a:p>
            <a:pPr indent="0" marL="0">
              <a:buNone/>
            </a:pPr>
            <a:r>
              <a:rPr lang="en-US" sz="3600" b="1" dirty="0">
                <a:solidFill>
                  <a:srgbClr val="2EC4B6"/>
                </a:solidFill>
                <a:latin typeface="Cambria" pitchFamily="34" charset="0"/>
                <a:ea typeface="Cambria" pitchFamily="34" charset="-122"/>
                <a:cs typeface="Cambria" pitchFamily="34" charset="-120"/>
              </a:rPr>
              <a:t>100%</a:t>
            </a:r>
            <a:endParaRPr lang="en-US" sz="3600" dirty="0"/>
          </a:p>
        </p:txBody>
      </p:sp>
      <p:sp>
        <p:nvSpPr>
          <p:cNvPr id="13" name="Text 11"/>
          <p:cNvSpPr txBox="1"/>
          <p:nvPr/>
        </p:nvSpPr>
        <p:spPr>
          <a:xfrm>
            <a:off x="7772400" y="2606040"/>
            <a:ext cx="3566160" cy="1005840"/>
          </a:xfrm>
          <a:prstGeom prst="rect">
            <a:avLst/>
          </a:prstGeom>
          <a:noFill/>
          <a:ln/>
        </p:spPr>
        <p:txBody>
          <a:bodyPr wrap="square" lIns="0" tIns="0" rIns="0" bIns="0" rtlCol="0" anchor="ctr"/>
          <a:lstStyle/>
          <a:p>
            <a:pPr indent="0" marL="0">
              <a:buNone/>
            </a:pPr>
            <a:r>
              <a:rPr lang="en-US" sz="1200" dirty="0">
                <a:solidFill>
                  <a:srgbClr val="CFE0DD"/>
                </a:solidFill>
                <a:latin typeface="Calibri" pitchFamily="34" charset="0"/>
                <a:ea typeface="Calibri" pitchFamily="34" charset="-122"/>
                <a:cs typeface="Calibri" pitchFamily="34" charset="-120"/>
              </a:rPr>
              <a:t>Fidelity @ 24h, matched promoters (BBB range 1.0x-10x)</a:t>
            </a:r>
            <a:endParaRPr lang="en-US" sz="1200" dirty="0"/>
          </a:p>
        </p:txBody>
      </p:sp>
      <p:sp>
        <p:nvSpPr>
          <p:cNvPr id="14" name="Shape 12"/>
          <p:cNvSpPr/>
          <p:nvPr/>
        </p:nvSpPr>
        <p:spPr>
          <a:xfrm>
            <a:off x="7543800" y="3931920"/>
            <a:ext cx="4023360" cy="2103120"/>
          </a:xfrm>
          <a:prstGeom prst="roundRect">
            <a:avLst>
              <a:gd name="adj" fmla="val 3478"/>
            </a:avLst>
          </a:prstGeom>
          <a:solidFill>
            <a:srgbClr val="0B1F3A"/>
          </a:solidFill>
          <a:ln/>
        </p:spPr>
      </p:sp>
      <p:sp>
        <p:nvSpPr>
          <p:cNvPr id="15" name="Text 13"/>
          <p:cNvSpPr txBox="1"/>
          <p:nvPr/>
        </p:nvSpPr>
        <p:spPr>
          <a:xfrm>
            <a:off x="7772400" y="4069080"/>
            <a:ext cx="3566160" cy="777240"/>
          </a:xfrm>
          <a:prstGeom prst="rect">
            <a:avLst/>
          </a:prstGeom>
          <a:noFill/>
          <a:ln/>
        </p:spPr>
        <p:txBody>
          <a:bodyPr wrap="square" lIns="0" tIns="0" rIns="0" bIns="0" rtlCol="0" anchor="ctr"/>
          <a:lstStyle/>
          <a:p>
            <a:pPr indent="0" marL="0">
              <a:buNone/>
            </a:pPr>
            <a:r>
              <a:rPr lang="en-US" sz="3600" b="1" dirty="0">
                <a:solidFill>
                  <a:srgbClr val="E8604C"/>
                </a:solidFill>
                <a:latin typeface="Cambria" pitchFamily="34" charset="0"/>
                <a:ea typeface="Cambria" pitchFamily="34" charset="-122"/>
                <a:cs typeface="Cambria" pitchFamily="34" charset="-120"/>
              </a:rPr>
              <a:t>50%</a:t>
            </a:r>
            <a:endParaRPr lang="en-US" sz="3600" dirty="0"/>
          </a:p>
        </p:txBody>
      </p:sp>
      <p:sp>
        <p:nvSpPr>
          <p:cNvPr id="16" name="Text 14"/>
          <p:cNvSpPr txBox="1"/>
          <p:nvPr/>
        </p:nvSpPr>
        <p:spPr>
          <a:xfrm>
            <a:off x="7772400" y="4800600"/>
            <a:ext cx="3566160" cy="1097280"/>
          </a:xfrm>
          <a:prstGeom prst="rect">
            <a:avLst/>
          </a:prstGeom>
          <a:noFill/>
          <a:ln/>
        </p:spPr>
        <p:txBody>
          <a:bodyPr wrap="square" lIns="0" tIns="0" rIns="0" bIns="0" rtlCol="0" anchor="ctr"/>
          <a:lstStyle/>
          <a:p>
            <a:pPr indent="0" marL="0">
              <a:buNone/>
            </a:pPr>
            <a:r>
              <a:rPr lang="en-US" sz="1150" dirty="0">
                <a:solidFill>
                  <a:srgbClr val="CFE0DD"/>
                </a:solidFill>
                <a:latin typeface="Calibri" pitchFamily="34" charset="0"/>
                <a:ea typeface="Calibri" pitchFamily="34" charset="-122"/>
                <a:cs typeface="Calibri" pitchFamily="34" charset="-120"/>
              </a:rPr>
              <a:t>Fidelity @ severe mismatch (0.1x), a real, actionable design constraint this step surfaced before any wet-lab spend</a:t>
            </a:r>
            <a:endParaRPr lang="en-US" sz="11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HONEST RISK RANKING</a:t>
            </a:r>
            <a:endParaRPr lang="en-US" sz="1200" dirty="0"/>
          </a:p>
        </p:txBody>
      </p:sp>
      <p:sp>
        <p:nvSpPr>
          <p:cNvPr id="3" name="Text 1"/>
          <p:cNvSpPr txBox="1"/>
          <p:nvPr/>
        </p:nvSpPr>
        <p:spPr>
          <a:xfrm>
            <a:off x="640080" y="777240"/>
            <a:ext cx="10881360" cy="77724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We ranked our own three candidate mechanisms by how much wet-lab risk each still hides</a:t>
            </a:r>
            <a:endParaRPr lang="en-US" sz="2300" dirty="0"/>
          </a:p>
        </p:txBody>
      </p:sp>
      <p:graphicFrame>
        <p:nvGraphicFramePr>
          <p:cNvPr id="4" name="Chart 0" descr=""/>
          <p:cNvGraphicFramePr/>
          <p:nvPr/>
        </p:nvGraphicFramePr>
        <p:xfrm>
          <a:off x="640080" y="1783080"/>
          <a:ext cx="612648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995160" y="1783080"/>
          <a:ext cx="4572000" cy="4114800"/>
        </p:xfrm>
        <a:graphic>
          <a:graphicData uri="http://schemas.openxmlformats.org/drawingml/2006/table">
            <a:tbl>
              <a:tblPr/>
              <a:tblGrid>
                <a:gridCol w="2286000"/>
                <a:gridCol w="2286000"/>
              </a:tblGrid>
              <a:tr h="54864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Mechanism</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Grounding confidence</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B. subtilis, engineered circuit</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Highest, inheritance is mechanistically forced (division copies existing protein)</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B. subtilis, methylation</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Medium, real fidelity numbers exist, but from a different species</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Planarian, bioelectric circuit</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Lowest, cell-coupling strength is a borrowed assumption, never measured</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6" name="Text 2"/>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1300" i="1" dirty="0">
                <a:solidFill>
                  <a:srgbClr val="5B6B77"/>
                </a:solidFill>
                <a:latin typeface="Calibri" pitchFamily="34" charset="0"/>
                <a:ea typeface="Calibri" pitchFamily="34" charset="-122"/>
                <a:cs typeface="Calibri" pitchFamily="34" charset="-120"/>
              </a:rPr>
              <a:t>Our original organism choice (planarian) is currently our weakest-evidence option. We're reporting that now, before spending wet-lab money on it.</a:t>
            </a:r>
            <a:endParaRPr lang="en-US" sz="1300" dirty="0"/>
          </a:p>
        </p:txBody>
      </p:sp>
      <p:sp>
        <p:nvSpPr>
          <p:cNvPr id="7" name="Text 3"/>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STRESS-TESTING OUR OWN DESIGN</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200" b="1" dirty="0">
                <a:solidFill>
                  <a:srgbClr val="16232F"/>
                </a:solidFill>
                <a:latin typeface="Cambria" pitchFamily="34" charset="0"/>
                <a:ea typeface="Cambria" pitchFamily="34" charset="-122"/>
                <a:cs typeface="Cambria" pitchFamily="34" charset="-120"/>
              </a:rPr>
              <a:t>A risk nobody asked about: the colony's own biology can scramble the read, even when the data is fine</a:t>
            </a:r>
            <a:endParaRPr lang="en-US" sz="2200" dirty="0"/>
          </a:p>
        </p:txBody>
      </p:sp>
      <p:sp>
        <p:nvSpPr>
          <p:cNvPr id="4" name="Shape 2"/>
          <p:cNvSpPr/>
          <p:nvPr/>
        </p:nvSpPr>
        <p:spPr>
          <a:xfrm>
            <a:off x="640080" y="1874520"/>
            <a:ext cx="3566160" cy="3931920"/>
          </a:xfrm>
          <a:prstGeom prst="roundRect">
            <a:avLst>
              <a:gd name="adj" fmla="val 2051"/>
            </a:avLst>
          </a:prstGeom>
          <a:solidFill>
            <a:srgbClr val="FFFFFF"/>
          </a:solidFill>
          <a:ln w="12700">
            <a:solidFill>
              <a:srgbClr val="DCE3E6"/>
            </a:solidFill>
            <a:prstDash val="solid"/>
          </a:ln>
        </p:spPr>
      </p:sp>
      <p:sp>
        <p:nvSpPr>
          <p:cNvPr id="5" name="Shape 3"/>
          <p:cNvSpPr/>
          <p:nvPr/>
        </p:nvSpPr>
        <p:spPr>
          <a:xfrm>
            <a:off x="640080" y="1874520"/>
            <a:ext cx="3566160" cy="82296"/>
          </a:xfrm>
          <a:prstGeom prst="rect">
            <a:avLst/>
          </a:prstGeom>
          <a:solidFill>
            <a:srgbClr val="1C8F84"/>
          </a:solidFill>
          <a:ln/>
        </p:spPr>
      </p:sp>
      <p:sp>
        <p:nvSpPr>
          <p:cNvPr id="6" name="Text 4"/>
          <p:cNvSpPr txBox="1"/>
          <p:nvPr/>
        </p:nvSpPr>
        <p:spPr>
          <a:xfrm>
            <a:off x="896112"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The natural signal</a:t>
            </a:r>
            <a:endParaRPr lang="en-US" sz="1550" dirty="0"/>
          </a:p>
        </p:txBody>
      </p:sp>
      <p:sp>
        <p:nvSpPr>
          <p:cNvPr id="7" name="Text 5"/>
          <p:cNvSpPr txBox="1"/>
          <p:nvPr/>
        </p:nvSpPr>
        <p:spPr>
          <a:xfrm>
            <a:off x="896112"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B. subtilis biofilms run a continuous potassium-wave electrical signal of their own (Prindle lab, 2015), independent of anything Acheron builds.</a:t>
            </a:r>
            <a:endParaRPr lang="en-US" sz="1250" dirty="0"/>
          </a:p>
        </p:txBody>
      </p:sp>
      <p:sp>
        <p:nvSpPr>
          <p:cNvPr id="8" name="Shape 6"/>
          <p:cNvSpPr/>
          <p:nvPr/>
        </p:nvSpPr>
        <p:spPr>
          <a:xfrm>
            <a:off x="4425696" y="1874520"/>
            <a:ext cx="3566160" cy="3931920"/>
          </a:xfrm>
          <a:prstGeom prst="roundRect">
            <a:avLst>
              <a:gd name="adj" fmla="val 2051"/>
            </a:avLst>
          </a:prstGeom>
          <a:solidFill>
            <a:srgbClr val="FFFFFF"/>
          </a:solidFill>
          <a:ln w="12700">
            <a:solidFill>
              <a:srgbClr val="DCE3E6"/>
            </a:solidFill>
            <a:prstDash val="solid"/>
          </a:ln>
        </p:spPr>
      </p:sp>
      <p:sp>
        <p:nvSpPr>
          <p:cNvPr id="9" name="Shape 7"/>
          <p:cNvSpPr/>
          <p:nvPr/>
        </p:nvSpPr>
        <p:spPr>
          <a:xfrm>
            <a:off x="4425696" y="1874520"/>
            <a:ext cx="3566160" cy="82296"/>
          </a:xfrm>
          <a:prstGeom prst="rect">
            <a:avLst/>
          </a:prstGeom>
          <a:solidFill>
            <a:srgbClr val="E8604C"/>
          </a:solidFill>
          <a:ln/>
        </p:spPr>
      </p:sp>
      <p:sp>
        <p:nvSpPr>
          <p:cNvPr id="10" name="Text 8"/>
          <p:cNvSpPr txBox="1"/>
          <p:nvPr/>
        </p:nvSpPr>
        <p:spPr>
          <a:xfrm>
            <a:off x="4681728"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What we found</a:t>
            </a:r>
            <a:endParaRPr lang="en-US" sz="1550" dirty="0"/>
          </a:p>
        </p:txBody>
      </p:sp>
      <p:sp>
        <p:nvSpPr>
          <p:cNvPr id="11" name="Text 9"/>
          <p:cNvSpPr txBox="1"/>
          <p:nvPr/>
        </p:nvSpPr>
        <p:spPr>
          <a:xfrm>
            <a:off x="4681728"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In simulation, this natural oscillation can corrupt an instantaneous voltage reading even when the underlying engineered circuit's data is 100% intact.</a:t>
            </a:r>
            <a:endParaRPr lang="en-US" sz="1250" dirty="0"/>
          </a:p>
        </p:txBody>
      </p:sp>
      <p:sp>
        <p:nvSpPr>
          <p:cNvPr id="12" name="Shape 10"/>
          <p:cNvSpPr/>
          <p:nvPr/>
        </p:nvSpPr>
        <p:spPr>
          <a:xfrm>
            <a:off x="8211312" y="1874520"/>
            <a:ext cx="3566160" cy="3931920"/>
          </a:xfrm>
          <a:prstGeom prst="roundRect">
            <a:avLst>
              <a:gd name="adj" fmla="val 2051"/>
            </a:avLst>
          </a:prstGeom>
          <a:solidFill>
            <a:srgbClr val="FFFFFF"/>
          </a:solidFill>
          <a:ln w="12700">
            <a:solidFill>
              <a:srgbClr val="DCE3E6"/>
            </a:solidFill>
            <a:prstDash val="solid"/>
          </a:ln>
        </p:spPr>
      </p:sp>
      <p:sp>
        <p:nvSpPr>
          <p:cNvPr id="13" name="Shape 11"/>
          <p:cNvSpPr/>
          <p:nvPr/>
        </p:nvSpPr>
        <p:spPr>
          <a:xfrm>
            <a:off x="8211312" y="1874520"/>
            <a:ext cx="3566160" cy="82296"/>
          </a:xfrm>
          <a:prstGeom prst="rect">
            <a:avLst/>
          </a:prstGeom>
          <a:solidFill>
            <a:srgbClr val="1C8F84"/>
          </a:solidFill>
          <a:ln/>
        </p:spPr>
      </p:sp>
      <p:sp>
        <p:nvSpPr>
          <p:cNvPr id="14" name="Text 12"/>
          <p:cNvSpPr txBox="1"/>
          <p:nvPr/>
        </p:nvSpPr>
        <p:spPr>
          <a:xfrm>
            <a:off x="8467344"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The fix, and its limit</a:t>
            </a:r>
            <a:endParaRPr lang="en-US" sz="1550" dirty="0"/>
          </a:p>
        </p:txBody>
      </p:sp>
      <p:sp>
        <p:nvSpPr>
          <p:cNvPr id="15" name="Text 13"/>
          <p:cNvSpPr txBox="1"/>
          <p:nvPr/>
        </p:nvSpPr>
        <p:spPr>
          <a:xfrm>
            <a:off x="8467344"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Reading via impedance (EIS) instead of raw voltage helps, but a single fast EIS sweep isn't immune either, it needs to integrate across a full oscillation cycle (~3h) to recover accuracy.</a:t>
            </a:r>
            <a:endParaRPr lang="en-US" sz="1250" dirty="0"/>
          </a:p>
        </p:txBody>
      </p:sp>
      <p:sp>
        <p:nvSpPr>
          <p:cNvPr id="16" name="Text 14"/>
          <p:cNvSpPr txBox="1"/>
          <p:nvPr/>
        </p:nvSpPr>
        <p:spPr>
          <a:xfrm>
            <a:off x="640080" y="5989320"/>
            <a:ext cx="10972800" cy="640080"/>
          </a:xfrm>
          <a:prstGeom prst="rect">
            <a:avLst/>
          </a:prstGeom>
          <a:noFill/>
          <a:ln/>
        </p:spPr>
        <p:txBody>
          <a:bodyPr wrap="square" lIns="0" tIns="0" rIns="0" bIns="0" rtlCol="0" anchor="ctr"/>
          <a:lstStyle/>
          <a:p>
            <a:pPr indent="0" marL="0">
              <a:buNone/>
            </a:pPr>
            <a:r>
              <a:rPr lang="en-US" sz="1250" i="1" dirty="0">
                <a:solidFill>
                  <a:srgbClr val="5B6B77"/>
                </a:solidFill>
                <a:latin typeface="Calibri" pitchFamily="34" charset="0"/>
                <a:ea typeface="Calibri" pitchFamily="34" charset="-122"/>
                <a:cs typeface="Calibri" pitchFamily="34" charset="-120"/>
              </a:rPr>
              <a:t>Fidelity at 10-20mV of ambient oscillation (well below the circuit's own 70mV signal range) collapsed to 50-59% for single-snapshot voltage reads, this is a solvable engineering problem, not a fatal one, but a real, previously-unflagged design requirement.</a:t>
            </a:r>
            <a:endParaRPr lang="en-US" sz="12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1148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WHAT WE ALREADY HAVE</a:t>
            </a:r>
            <a:endParaRPr lang="en-US" sz="1200" dirty="0"/>
          </a:p>
        </p:txBody>
      </p:sp>
      <p:sp>
        <p:nvSpPr>
          <p:cNvPr id="3" name="Text 1"/>
          <p:cNvSpPr txBox="1"/>
          <p:nvPr/>
        </p:nvSpPr>
        <p:spPr>
          <a:xfrm>
            <a:off x="640080" y="731520"/>
            <a:ext cx="10881360" cy="640080"/>
          </a:xfrm>
          <a:prstGeom prst="rect">
            <a:avLst/>
          </a:prstGeom>
          <a:noFill/>
          <a:ln/>
        </p:spPr>
        <p:txBody>
          <a:bodyPr wrap="square" lIns="0" tIns="0" rIns="0" bIns="0" rtlCol="0" anchor="ctr"/>
          <a:lstStyle/>
          <a:p>
            <a:pPr indent="0" marL="0">
              <a:buNone/>
            </a:pPr>
            <a:r>
              <a:rPr lang="en-US" sz="2200" b="1" dirty="0">
                <a:solidFill>
                  <a:srgbClr val="16232F"/>
                </a:solidFill>
                <a:latin typeface="Cambria" pitchFamily="34" charset="0"/>
                <a:ea typeface="Cambria" pitchFamily="34" charset="-122"/>
                <a:cs typeface="Cambria" pitchFamily="34" charset="-120"/>
              </a:rPr>
              <a:t>Four computational results, explained for a scientist and for everyone else</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10972800" cy="4572000"/>
        </p:xfrm>
        <a:graphic>
          <a:graphicData uri="http://schemas.openxmlformats.org/drawingml/2006/table">
            <a:tbl>
              <a:tblPr/>
              <a:tblGrid>
                <a:gridCol w="2377440"/>
                <a:gridCol w="4480560"/>
                <a:gridCol w="411480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Finding</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Technical (for a scientist)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Plain English (for everyone else)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Passive persistence fails</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24h bit integrity collapses from 100% (zero-noise) to ~50-58% under realistic channel/metabolic/thermal noise.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Apple = Food = Energy. A cell just holding a charge on its own = a coin balanced on its edge = it falls over almost immediately.</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Engineered circuit works, with a catch</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Matched-strength promoter pair (Gardner topology + Bacillus BioBrick Box parts) holds state at 100% fidelity @ 24h; severe mismatch (0.1x) collapses to 50%, a monostable dead switch.</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Circuit = Light switch = Two matched springs holding it in place. Mismatched springs = the switch falls back to "off" no matter what you do.</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Bacteria beats planaria on evidence, for now</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Cross-organism sweep: B. subtilis engineered circuit ranks highest-confidence (inheritance is mechanistically forced by cell division); planarian circuit ranks lowest (coupling strength is an unmeasured assumption).</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Apple = Food = Energy. Betting on the organism with a measured mechanism = betting on a scale you've calibrated, not one you're guessing the weight of.</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A new, real risk found before it was asked about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 subtilis biofilms' native potassium-wave signaling (Prindle et al. 2015) corrupts single-snapshot voltage reads at just 10-20mV, even when the underlying circuit data is 100% intact.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Circuit = Radio station = Reading the signal at the wrong moment is like tuning in during a burst of static. The message was sent correctly; you just have to listen at the right time.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Text 2"/>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COMPETITIVE LANDSCAPE</a:t>
            </a:r>
            <a:endParaRPr lang="en-US" sz="1200" dirty="0"/>
          </a:p>
        </p:txBody>
      </p:sp>
      <p:sp>
        <p:nvSpPr>
          <p:cNvPr id="3" name="Text 1"/>
          <p:cNvSpPr txBox="1"/>
          <p:nvPr/>
        </p:nvSpPr>
        <p:spPr>
          <a:xfrm>
            <a:off x="640080" y="777240"/>
            <a:ext cx="10881360" cy="77724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Nobody else is storing arbitrary data as a dynamic, rewritable bioelectric state</a:t>
            </a:r>
            <a:endParaRPr lang="en-US" sz="2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72800" cy="4206240"/>
        </p:xfrm>
        <a:graphic>
          <a:graphicData uri="http://schemas.openxmlformats.org/drawingml/2006/table">
            <a:tbl>
              <a:tblPr/>
              <a:tblGrid>
                <a:gridCol w="2743200"/>
                <a:gridCol w="2743200"/>
                <a:gridCol w="2743200"/>
                <a:gridCol w="2743200"/>
              </a:tblGrid>
              <a:tr h="5486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Player</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they store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Read mechanism</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Gap vs. Acheron</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868680">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Cortical Labs / Koniku / FinalSpark</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Neural activity (volatile)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Electrode array</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 persistence, no self-healing</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68680">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Mycelium memristor</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(LaRocco et al. 2025)</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Analog resistance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Continuous signal</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90% accuracy; no addressable write layer</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68680">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BioCompute Inc. /</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Yachie &amp; Tomita 2007</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DNA sequence (archival)</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Destructive sequencing</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Write-once archive, not rewritable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68680">
                <a:tc>
                  <a:txBody>
                    <a:bodyPr/>
                    <a:lstStyle/>
                    <a:p>
                      <a:pPr indent="0" marL="0">
                        <a:buNone/>
                      </a:pPr>
                      <a:r>
                        <a:rPr lang="en-US" sz="1200" b="1" dirty="0">
                          <a:solidFill>
                            <a:srgbClr val="1C8F84"/>
                          </a:solidFill>
                          <a:latin typeface="Calibri" pitchFamily="34" charset="0"/>
                          <a:ea typeface="Calibri" pitchFamily="34" charset="-122"/>
                          <a:cs typeface="Calibri" pitchFamily="34" charset="-120"/>
                        </a:rPr>
                        <a:t>Acheron</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Dynamic physiological/</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bioelectric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Non-destructive (dye or EIS)</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b="1" dirty="0">
                          <a:solidFill>
                            <a:srgbClr val="16232F"/>
                          </a:solidFill>
                          <a:latin typeface="Calibri" pitchFamily="34" charset="0"/>
                          <a:ea typeface="Calibri" pitchFamily="34" charset="-122"/>
                          <a:cs typeface="Calibri" pitchFamily="34" charset="-120"/>
                        </a:rPr>
                        <a:t>Rewritable + self-healing, the combination nobody else has</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Text 2"/>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DIFFERENTIATION</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“No one else is doing this” isn't the claim, here's the specific gap against each real competitor</a:t>
            </a:r>
            <a:endParaRPr lang="en-US" sz="2100" dirty="0"/>
          </a:p>
        </p:txBody>
      </p:sp>
      <p:sp>
        <p:nvSpPr>
          <p:cNvPr id="4" name="Shape 2"/>
          <p:cNvSpPr/>
          <p:nvPr/>
        </p:nvSpPr>
        <p:spPr>
          <a:xfrm>
            <a:off x="64008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5" name="Shape 3"/>
          <p:cNvSpPr/>
          <p:nvPr/>
        </p:nvSpPr>
        <p:spPr>
          <a:xfrm>
            <a:off x="640080" y="1828800"/>
            <a:ext cx="3566160" cy="82296"/>
          </a:xfrm>
          <a:prstGeom prst="rect">
            <a:avLst/>
          </a:prstGeom>
          <a:solidFill>
            <a:srgbClr val="2EC4B6"/>
          </a:solidFill>
          <a:ln/>
        </p:spPr>
      </p:sp>
      <p:sp>
        <p:nvSpPr>
          <p:cNvPr id="6" name="Text 4"/>
          <p:cNvSpPr txBox="1"/>
          <p:nvPr/>
        </p:nvSpPr>
        <p:spPr>
          <a:xfrm>
            <a:off x="89611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Neuron-based biocomputers</a:t>
            </a:r>
            <a:endParaRPr lang="en-US" sz="1550" dirty="0"/>
          </a:p>
        </p:txBody>
      </p:sp>
      <p:sp>
        <p:nvSpPr>
          <p:cNvPr id="7" name="Text 5"/>
          <p:cNvSpPr txBox="1"/>
          <p:nvPr/>
        </p:nvSpPr>
        <p:spPr>
          <a:xfrm>
            <a:off x="89611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Cortical Labs, Koniku, FinalSpark</a:t>
            </a:r>
            <a:endParaRPr lang="en-US" sz="1050" dirty="0"/>
          </a:p>
        </p:txBody>
      </p:sp>
      <p:sp>
        <p:nvSpPr>
          <p:cNvPr id="8" name="Text 6"/>
          <p:cNvSpPr txBox="1"/>
          <p:nvPr/>
        </p:nvSpPr>
        <p:spPr>
          <a:xfrm>
            <a:off x="89611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Volatile by construction, need continuous power to hold any state, on a fixed degradation clock, zero regeneration. Acheron's bet: a substrate that (if validated) holds state with no power and physically repairs itself. A different failure mode, not an incremental gain.</a:t>
            </a:r>
            <a:endParaRPr lang="en-US" sz="1150" dirty="0"/>
          </a:p>
        </p:txBody>
      </p:sp>
      <p:sp>
        <p:nvSpPr>
          <p:cNvPr id="9" name="Shape 7"/>
          <p:cNvSpPr/>
          <p:nvPr/>
        </p:nvSpPr>
        <p:spPr>
          <a:xfrm>
            <a:off x="443484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0" name="Shape 8"/>
          <p:cNvSpPr/>
          <p:nvPr/>
        </p:nvSpPr>
        <p:spPr>
          <a:xfrm>
            <a:off x="4434840" y="1828800"/>
            <a:ext cx="3566160" cy="82296"/>
          </a:xfrm>
          <a:prstGeom prst="rect">
            <a:avLst/>
          </a:prstGeom>
          <a:solidFill>
            <a:srgbClr val="2EC4B6"/>
          </a:solidFill>
          <a:ln/>
        </p:spPr>
      </p:sp>
      <p:sp>
        <p:nvSpPr>
          <p:cNvPr id="11" name="Text 9"/>
          <p:cNvSpPr txBox="1"/>
          <p:nvPr/>
        </p:nvSpPr>
        <p:spPr>
          <a:xfrm>
            <a:off x="469087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Mycelium memristor</a:t>
            </a:r>
            <a:endParaRPr lang="en-US" sz="1550" dirty="0"/>
          </a:p>
        </p:txBody>
      </p:sp>
      <p:sp>
        <p:nvSpPr>
          <p:cNvPr id="12" name="Text 10"/>
          <p:cNvSpPr txBox="1"/>
          <p:nvPr/>
        </p:nvSpPr>
        <p:spPr>
          <a:xfrm>
            <a:off x="469087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LaRocco et al. 2025, PLOS ONE</a:t>
            </a:r>
            <a:endParaRPr lang="en-US" sz="1050" dirty="0"/>
          </a:p>
        </p:txBody>
      </p:sp>
      <p:sp>
        <p:nvSpPr>
          <p:cNvPr id="13" name="Text 11"/>
          <p:cNvSpPr txBox="1"/>
          <p:nvPr/>
        </p:nvSpPr>
        <p:spPr>
          <a:xfrm>
            <a:off x="469087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Real, and genuinely impressive, 90±1% accuracy, survives dehydration. But it's an analog device: one continuous resistance value, no addressable write layer. 90% accuracy also fails as binary storage (wrong 1 time in 10 isn't usable). Acheron targets an addressable, individually read/writable bit, not a continuous signal.</a:t>
            </a:r>
            <a:endParaRPr lang="en-US" sz="1150" dirty="0"/>
          </a:p>
        </p:txBody>
      </p:sp>
      <p:sp>
        <p:nvSpPr>
          <p:cNvPr id="14" name="Shape 12"/>
          <p:cNvSpPr/>
          <p:nvPr/>
        </p:nvSpPr>
        <p:spPr>
          <a:xfrm>
            <a:off x="822960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5" name="Shape 13"/>
          <p:cNvSpPr/>
          <p:nvPr/>
        </p:nvSpPr>
        <p:spPr>
          <a:xfrm>
            <a:off x="8229600" y="1828800"/>
            <a:ext cx="3566160" cy="82296"/>
          </a:xfrm>
          <a:prstGeom prst="rect">
            <a:avLst/>
          </a:prstGeom>
          <a:solidFill>
            <a:srgbClr val="2EC4B6"/>
          </a:solidFill>
          <a:ln/>
        </p:spPr>
      </p:sp>
      <p:sp>
        <p:nvSpPr>
          <p:cNvPr id="16" name="Text 14"/>
          <p:cNvSpPr txBox="1"/>
          <p:nvPr/>
        </p:nvSpPr>
        <p:spPr>
          <a:xfrm>
            <a:off x="848563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DNA-sequence storage</a:t>
            </a:r>
            <a:endParaRPr lang="en-US" sz="1550" dirty="0"/>
          </a:p>
        </p:txBody>
      </p:sp>
      <p:sp>
        <p:nvSpPr>
          <p:cNvPr id="17" name="Text 15"/>
          <p:cNvSpPr txBox="1"/>
          <p:nvPr/>
        </p:nvSpPr>
        <p:spPr>
          <a:xfrm>
            <a:off x="848563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BioCompute Inc. / Yachie &amp; Tomita 2007</a:t>
            </a:r>
            <a:endParaRPr lang="en-US" sz="1050" dirty="0"/>
          </a:p>
        </p:txBody>
      </p:sp>
      <p:sp>
        <p:nvSpPr>
          <p:cNvPr id="18" name="Text 16"/>
          <p:cNvSpPr txBox="1"/>
          <p:nvPr/>
        </p:nvSpPr>
        <p:spPr>
          <a:xfrm>
            <a:off x="848563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Real, funded, already storing arbitrary data in a genome. But it's archival: written once, read only by destroying the sample via sequencing. Acheron is solving a different problem on purpose, a dynamic, rewritable, non-destructively-readable state, not a write-once archive.</a:t>
            </a:r>
            <a:endParaRPr lang="en-US" sz="11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IF THE CORE MECHANISM VALIDATES</a:t>
            </a:r>
            <a:endParaRPr lang="en-US" sz="1200" dirty="0"/>
          </a:p>
        </p:txBody>
      </p:sp>
      <p:sp>
        <p:nvSpPr>
          <p:cNvPr id="3" name="Text 1"/>
          <p:cNvSpPr txBox="1"/>
          <p:nvPr/>
        </p:nvSpPr>
        <p:spPr>
          <a:xfrm>
            <a:off x="640080" y="822960"/>
            <a:ext cx="10881360" cy="7772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Two real, externally-verifiable numbers, not an invented forecast</a:t>
            </a:r>
            <a:endParaRPr lang="en-US" sz="2600" dirty="0"/>
          </a:p>
        </p:txBody>
      </p:sp>
      <p:sp>
        <p:nvSpPr>
          <p:cNvPr id="4" name="Shape 2"/>
          <p:cNvSpPr/>
          <p:nvPr/>
        </p:nvSpPr>
        <p:spPr>
          <a:xfrm>
            <a:off x="640080" y="1828800"/>
            <a:ext cx="5257800" cy="4023360"/>
          </a:xfrm>
          <a:prstGeom prst="roundRect">
            <a:avLst>
              <a:gd name="adj" fmla="val 1818"/>
            </a:avLst>
          </a:prstGeom>
          <a:solidFill>
            <a:srgbClr val="132A4D"/>
          </a:solidFill>
          <a:ln/>
        </p:spPr>
      </p:sp>
      <p:sp>
        <p:nvSpPr>
          <p:cNvPr id="5" name="Text 3"/>
          <p:cNvSpPr txBox="1"/>
          <p:nvPr/>
        </p:nvSpPr>
        <p:spPr>
          <a:xfrm>
            <a:off x="914400" y="2103120"/>
            <a:ext cx="4754880" cy="822960"/>
          </a:xfrm>
          <a:prstGeom prst="rect">
            <a:avLst/>
          </a:prstGeom>
          <a:noFill/>
          <a:ln/>
        </p:spPr>
        <p:txBody>
          <a:bodyPr wrap="square" lIns="0" tIns="0" rIns="0" bIns="0" rtlCol="0" anchor="ctr"/>
          <a:lstStyle/>
          <a:p>
            <a:pPr indent="0" marL="0">
              <a:buNone/>
            </a:pPr>
            <a:r>
              <a:rPr lang="en-US" sz="3200" b="1" dirty="0">
                <a:solidFill>
                  <a:srgbClr val="2EC4B6"/>
                </a:solidFill>
                <a:latin typeface="Cambria" pitchFamily="34" charset="0"/>
                <a:ea typeface="Cambria" pitchFamily="34" charset="-122"/>
                <a:cs typeface="Cambria" pitchFamily="34" charset="-120"/>
              </a:rPr>
              <a:t>$350K / 5 yrs</a:t>
            </a:r>
            <a:endParaRPr lang="en-US" sz="3200" dirty="0"/>
          </a:p>
        </p:txBody>
      </p:sp>
      <p:sp>
        <p:nvSpPr>
          <p:cNvPr id="6" name="Text 4"/>
          <p:cNvSpPr txBox="1"/>
          <p:nvPr/>
        </p:nvSpPr>
        <p:spPr>
          <a:xfrm>
            <a:off x="914400" y="2880360"/>
            <a:ext cx="475488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customers already pay for the closest existing alternative</a:t>
            </a:r>
            <a:endParaRPr lang="en-US" sz="1300" dirty="0"/>
          </a:p>
        </p:txBody>
      </p:sp>
      <p:sp>
        <p:nvSpPr>
          <p:cNvPr id="7" name="Text 5"/>
          <p:cNvSpPr txBox="1"/>
          <p:nvPr/>
        </p:nvSpPr>
        <p:spPr>
          <a:xfrm>
            <a:off x="914400" y="3383280"/>
            <a:ext cx="4754880" cy="2286000"/>
          </a:xfrm>
          <a:prstGeom prst="rect">
            <a:avLst/>
          </a:prstGeom>
          <a:noFill/>
          <a:ln/>
        </p:spPr>
        <p:txBody>
          <a:bodyPr wrap="square" lIns="0" tIns="0" rIns="0" bIns="0" rtlCol="0" anchor="ctr"/>
          <a:lstStyle/>
          <a:p>
            <a:pPr indent="0" marL="0">
              <a:lnSpc>
                <a:spcPct val="120000"/>
              </a:lnSpc>
              <a:buNone/>
            </a:pPr>
            <a:r>
              <a:rPr lang="en-US" sz="1250" dirty="0">
                <a:solidFill>
                  <a:srgbClr val="CFE0DD"/>
                </a:solidFill>
                <a:latin typeface="Calibri" pitchFamily="34" charset="0"/>
                <a:ea typeface="Calibri" pitchFamily="34" charset="-122"/>
                <a:cs typeface="Calibri" pitchFamily="34" charset="-120"/>
              </a:rPr>
              <a:t>Cortical Labs' CL-1 (neuron-based): $35,000/unit, replaced every 6 months, zero self-repair. A live, public data point for what this market already tolerates paying to avoid downtime, from a substrate that can't heal itself.</a:t>
            </a:r>
            <a:endParaRPr lang="en-US" sz="1250" dirty="0"/>
          </a:p>
        </p:txBody>
      </p:sp>
      <p:sp>
        <p:nvSpPr>
          <p:cNvPr id="8" name="Shape 6"/>
          <p:cNvSpPr/>
          <p:nvPr/>
        </p:nvSpPr>
        <p:spPr>
          <a:xfrm>
            <a:off x="6172200" y="1828800"/>
            <a:ext cx="5394960" cy="4023360"/>
          </a:xfrm>
          <a:prstGeom prst="roundRect">
            <a:avLst>
              <a:gd name="adj" fmla="val 1818"/>
            </a:avLst>
          </a:prstGeom>
          <a:solidFill>
            <a:srgbClr val="132A4D"/>
          </a:solidFill>
          <a:ln/>
        </p:spPr>
      </p:sp>
      <p:sp>
        <p:nvSpPr>
          <p:cNvPr id="9" name="Text 7"/>
          <p:cNvSpPr txBox="1"/>
          <p:nvPr/>
        </p:nvSpPr>
        <p:spPr>
          <a:xfrm>
            <a:off x="6446520" y="2103120"/>
            <a:ext cx="4846320" cy="822960"/>
          </a:xfrm>
          <a:prstGeom prst="rect">
            <a:avLst/>
          </a:prstGeom>
          <a:noFill/>
          <a:ln/>
        </p:spPr>
        <p:txBody>
          <a:bodyPr wrap="square" lIns="0" tIns="0" rIns="0" bIns="0" rtlCol="0" anchor="ctr"/>
          <a:lstStyle/>
          <a:p>
            <a:pPr indent="0" marL="0">
              <a:buNone/>
            </a:pPr>
            <a:r>
              <a:rPr lang="en-US" sz="3200" b="1" dirty="0">
                <a:solidFill>
                  <a:srgbClr val="2EC4B6"/>
                </a:solidFill>
                <a:latin typeface="Cambria" pitchFamily="34" charset="0"/>
                <a:ea typeface="Cambria" pitchFamily="34" charset="-122"/>
                <a:cs typeface="Cambria" pitchFamily="34" charset="-120"/>
              </a:rPr>
              <a:t>$1.2B–$2.0B</a:t>
            </a:r>
            <a:endParaRPr lang="en-US" sz="3200" dirty="0"/>
          </a:p>
        </p:txBody>
      </p:sp>
      <p:sp>
        <p:nvSpPr>
          <p:cNvPr id="10" name="Text 8"/>
          <p:cNvSpPr txBox="1"/>
          <p:nvPr/>
        </p:nvSpPr>
        <p:spPr>
          <a:xfrm>
            <a:off x="6446520" y="2880360"/>
            <a:ext cx="484632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Radiation-hardened space electronics, 2026 (independent analyst range)</a:t>
            </a:r>
            <a:endParaRPr lang="en-US" sz="1300" dirty="0"/>
          </a:p>
        </p:txBody>
      </p:sp>
      <p:sp>
        <p:nvSpPr>
          <p:cNvPr id="11" name="Text 9"/>
          <p:cNvSpPr txBox="1"/>
          <p:nvPr/>
        </p:nvSpPr>
        <p:spPr>
          <a:xfrm>
            <a:off x="6446520" y="3474720"/>
            <a:ext cx="4846320" cy="2286000"/>
          </a:xfrm>
          <a:prstGeom prst="rect">
            <a:avLst/>
          </a:prstGeom>
          <a:noFill/>
          <a:ln/>
        </p:spPr>
        <p:txBody>
          <a:bodyPr wrap="square" lIns="0" tIns="0" rIns="0" bIns="0" rtlCol="0" anchor="ctr"/>
          <a:lstStyle/>
          <a:p>
            <a:pPr indent="0" marL="0">
              <a:lnSpc>
                <a:spcPct val="120000"/>
              </a:lnSpc>
              <a:buNone/>
            </a:pPr>
            <a:r>
              <a:rPr lang="en-US" sz="1200" dirty="0">
                <a:solidFill>
                  <a:srgbClr val="CFE0DD"/>
                </a:solidFill>
                <a:latin typeface="Calibri" pitchFamily="34" charset="0"/>
                <a:ea typeface="Calibri" pitchFamily="34" charset="-122"/>
                <a:cs typeface="Calibri" pitchFamily="34" charset="-120"/>
              </a:rPr>
              <a:t>Growing ~4-5.6% CAGR into the early 2030s (Grand View Research, Fortune Business Insights, Research and Markets), driven by LEO satellite constellations (Starlink, Kuiper, OneWeb) needing more radiation-tolerant memory. We claim no specific share of this, it's evidence the underlying need is real and growing, not a number we made up.</a:t>
            </a:r>
            <a:endParaRPr lang="en-US" sz="1200" dirty="0"/>
          </a:p>
        </p:txBody>
      </p:sp>
      <p:sp>
        <p:nvSpPr>
          <p:cNvPr id="12" name="Text 10"/>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1350" i="1" dirty="0">
                <a:solidFill>
                  <a:srgbClr val="AEC2C8"/>
                </a:solidFill>
                <a:latin typeface="Calibri" pitchFamily="34" charset="0"/>
                <a:ea typeface="Calibri" pitchFamily="34" charset="-122"/>
                <a:cs typeface="Calibri" pitchFamily="34" charset="-120"/>
              </a:rPr>
              <a:t>This upside is entirely conditional on the roadmap experiment below succeeding. We're not asking anyone to price the risk in advance, we're asking for what it costs to find out.</a:t>
            </a:r>
            <a:endParaRPr lang="en-US" sz="1350" dirty="0"/>
          </a:p>
        </p:txBody>
      </p:sp>
      <p:sp>
        <p:nvSpPr>
          <p:cNvPr id="13" name="Text 11"/>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640080" y="822960"/>
            <a:ext cx="10881360" cy="7772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one experiment that changes everything</a:t>
            </a:r>
            <a:endParaRPr lang="en-US" sz="2800" dirty="0"/>
          </a:p>
        </p:txBody>
      </p:sp>
      <p:sp>
        <p:nvSpPr>
          <p:cNvPr id="4" name="Text 2"/>
          <p:cNvSpPr txBox="1"/>
          <p:nvPr/>
        </p:nvSpPr>
        <p:spPr>
          <a:xfrm>
            <a:off x="640080" y="1554480"/>
            <a:ext cx="10515600" cy="548640"/>
          </a:xfrm>
          <a:prstGeom prst="rect">
            <a:avLst/>
          </a:prstGeom>
          <a:noFill/>
          <a:ln/>
        </p:spPr>
        <p:txBody>
          <a:bodyPr wrap="square" lIns="0" tIns="0" rIns="0" bIns="0" rtlCol="0" anchor="ctr"/>
          <a:lstStyle/>
          <a:p>
            <a:pPr indent="0" marL="0">
              <a:buNone/>
            </a:pPr>
            <a:r>
              <a:rPr lang="en-US" sz="1400" dirty="0">
                <a:solidFill>
                  <a:srgbClr val="AEC2C8"/>
                </a:solidFill>
                <a:latin typeface="Calibri" pitchFamily="34" charset="0"/>
                <a:ea typeface="Calibri" pitchFamily="34" charset="-122"/>
                <a:cs typeface="Calibri" pitchFamily="34" charset="-120"/>
              </a:rPr>
              <a:t>Build the matched-promoter toggle circuit in B. subtilis, write a bit, damage the colony, let it regrow, read the bit back non-destructively via EIS.</a:t>
            </a:r>
            <a:endParaRPr lang="en-US" sz="1400" dirty="0"/>
          </a:p>
        </p:txBody>
      </p:sp>
      <p:sp>
        <p:nvSpPr>
          <p:cNvPr id="5" name="Shape 3"/>
          <p:cNvSpPr/>
          <p:nvPr/>
        </p:nvSpPr>
        <p:spPr>
          <a:xfrm>
            <a:off x="640080" y="2377440"/>
            <a:ext cx="3566160" cy="2286000"/>
          </a:xfrm>
          <a:prstGeom prst="roundRect">
            <a:avLst>
              <a:gd name="adj" fmla="val 3200"/>
            </a:avLst>
          </a:prstGeom>
          <a:solidFill>
            <a:srgbClr val="132A4D"/>
          </a:solidFill>
          <a:ln/>
        </p:spPr>
      </p:sp>
      <p:sp>
        <p:nvSpPr>
          <p:cNvPr id="6" name="Text 4"/>
          <p:cNvSpPr txBox="1"/>
          <p:nvPr/>
        </p:nvSpPr>
        <p:spPr>
          <a:xfrm>
            <a:off x="91440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$10K-$30K</a:t>
            </a:r>
            <a:endParaRPr lang="en-US" sz="3400" dirty="0"/>
          </a:p>
        </p:txBody>
      </p:sp>
      <p:sp>
        <p:nvSpPr>
          <p:cNvPr id="7" name="Text 5"/>
          <p:cNvSpPr txBox="1"/>
          <p:nvPr/>
        </p:nvSpPr>
        <p:spPr>
          <a:xfrm>
            <a:off x="91440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Cost, reagents, cloning, lab bench access</a:t>
            </a:r>
            <a:endParaRPr lang="en-US" sz="1250" dirty="0"/>
          </a:p>
        </p:txBody>
      </p:sp>
      <p:sp>
        <p:nvSpPr>
          <p:cNvPr id="8" name="Shape 6"/>
          <p:cNvSpPr/>
          <p:nvPr/>
        </p:nvSpPr>
        <p:spPr>
          <a:xfrm>
            <a:off x="4389120" y="2377440"/>
            <a:ext cx="3566160" cy="2286000"/>
          </a:xfrm>
          <a:prstGeom prst="roundRect">
            <a:avLst>
              <a:gd name="adj" fmla="val 3200"/>
            </a:avLst>
          </a:prstGeom>
          <a:solidFill>
            <a:srgbClr val="132A4D"/>
          </a:solidFill>
          <a:ln/>
        </p:spPr>
      </p:sp>
      <p:sp>
        <p:nvSpPr>
          <p:cNvPr id="9" name="Text 7"/>
          <p:cNvSpPr txBox="1"/>
          <p:nvPr/>
        </p:nvSpPr>
        <p:spPr>
          <a:xfrm>
            <a:off x="466344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6-12 mo</a:t>
            </a:r>
            <a:endParaRPr lang="en-US" sz="3400" dirty="0"/>
          </a:p>
        </p:txBody>
      </p:sp>
      <p:sp>
        <p:nvSpPr>
          <p:cNvPr id="10" name="Text 8"/>
          <p:cNvSpPr txBox="1"/>
          <p:nvPr/>
        </p:nvSpPr>
        <p:spPr>
          <a:xfrm>
            <a:off x="466344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Timeline to a clear yes/no answer</a:t>
            </a:r>
            <a:endParaRPr lang="en-US" sz="1250" dirty="0"/>
          </a:p>
        </p:txBody>
      </p:sp>
      <p:sp>
        <p:nvSpPr>
          <p:cNvPr id="11" name="Shape 9"/>
          <p:cNvSpPr/>
          <p:nvPr/>
        </p:nvSpPr>
        <p:spPr>
          <a:xfrm>
            <a:off x="8138160" y="2377440"/>
            <a:ext cx="3566160" cy="2286000"/>
          </a:xfrm>
          <a:prstGeom prst="roundRect">
            <a:avLst>
              <a:gd name="adj" fmla="val 3200"/>
            </a:avLst>
          </a:prstGeom>
          <a:solidFill>
            <a:srgbClr val="132A4D"/>
          </a:solidFill>
          <a:ln/>
        </p:spPr>
      </p:sp>
      <p:sp>
        <p:nvSpPr>
          <p:cNvPr id="12" name="Text 10"/>
          <p:cNvSpPr txBox="1"/>
          <p:nvPr/>
        </p:nvSpPr>
        <p:spPr>
          <a:xfrm>
            <a:off x="841248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2</a:t>
            </a:r>
            <a:endParaRPr lang="en-US" sz="3400" dirty="0"/>
          </a:p>
        </p:txBody>
      </p:sp>
      <p:sp>
        <p:nvSpPr>
          <p:cNvPr id="13" name="Text 11"/>
          <p:cNvSpPr txBox="1"/>
          <p:nvPr/>
        </p:nvSpPr>
        <p:spPr>
          <a:xfrm>
            <a:off x="841248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Outcomes only, validate the mechanism, or cleanly redirect to methylation, next by our own ranking</a:t>
            </a:r>
            <a:endParaRPr lang="en-US" sz="1250" dirty="0"/>
          </a:p>
        </p:txBody>
      </p:sp>
      <p:sp>
        <p:nvSpPr>
          <p:cNvPr id="14" name="Text 12"/>
          <p:cNvSpPr txBox="1"/>
          <p:nvPr/>
        </p:nvSpPr>
        <p:spPr>
          <a:xfrm>
            <a:off x="640080" y="4937760"/>
            <a:ext cx="10515600" cy="457200"/>
          </a:xfrm>
          <a:prstGeom prst="rect">
            <a:avLst/>
          </a:prstGeom>
          <a:noFill/>
          <a:ln/>
        </p:spPr>
        <p:txBody>
          <a:bodyPr wrap="square" lIns="0" tIns="0" rIns="0" bIns="0" rtlCol="0" anchor="ctr"/>
          <a:lstStyle/>
          <a:p>
            <a:pPr indent="0" marL="0">
              <a:buNone/>
            </a:pPr>
            <a:r>
              <a:rPr lang="en-US" sz="1400" i="1" dirty="0">
                <a:solidFill>
                  <a:srgbClr val="8FA6AE"/>
                </a:solidFill>
                <a:latin typeface="Calibri" pitchFamily="34" charset="0"/>
                <a:ea typeface="Calibri" pitchFamily="34" charset="-122"/>
                <a:cs typeface="Calibri" pitchFamily="34" charset="-120"/>
              </a:rPr>
              <a:t>Deliberately the cheapest, fastest experiment that produces a real answer, not a moonshot ask.</a:t>
            </a:r>
            <a:endParaRPr lang="en-US" sz="1400" dirty="0"/>
          </a:p>
        </p:txBody>
      </p:sp>
      <p:sp>
        <p:nvSpPr>
          <p:cNvPr id="15" name="Text 13"/>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WHAT WE'RE ASKING FOR</a:t>
            </a:r>
            <a:endParaRPr lang="en-US" sz="12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2700" b="1" dirty="0">
                <a:solidFill>
                  <a:srgbClr val="16232F"/>
                </a:solidFill>
                <a:latin typeface="Cambria" pitchFamily="34" charset="0"/>
                <a:ea typeface="Cambria" pitchFamily="34" charset="-122"/>
                <a:cs typeface="Cambria" pitchFamily="34" charset="-120"/>
              </a:rPr>
              <a:t>Deliberately small, not a seed round</a:t>
            </a:r>
            <a:endParaRPr lang="en-US" sz="2700" dirty="0"/>
          </a:p>
        </p:txBody>
      </p:sp>
      <p:sp>
        <p:nvSpPr>
          <p:cNvPr id="4" name="Text 2"/>
          <p:cNvSpPr txBox="1"/>
          <p:nvPr/>
        </p:nvSpPr>
        <p:spPr>
          <a:xfrm>
            <a:off x="640080" y="1508760"/>
            <a:ext cx="10515600" cy="457200"/>
          </a:xfrm>
          <a:prstGeom prst="rect">
            <a:avLst/>
          </a:prstGeom>
          <a:noFill/>
          <a:ln/>
        </p:spPr>
        <p:txBody>
          <a:bodyPr wrap="square" lIns="0" tIns="0" rIns="0" bIns="0" rtlCol="0" anchor="ctr"/>
          <a:lstStyle/>
          <a:p>
            <a:pPr indent="0" marL="0">
              <a:buNone/>
            </a:pPr>
            <a:r>
              <a:rPr lang="en-US" sz="1350" dirty="0">
                <a:solidFill>
                  <a:srgbClr val="5B6B77"/>
                </a:solidFill>
                <a:latin typeface="Calibri" pitchFamily="34" charset="0"/>
                <a:ea typeface="Calibri" pitchFamily="34" charset="-122"/>
                <a:cs typeface="Calibri" pitchFamily="34" charset="-120"/>
              </a:rPr>
              <a:t>We are not raising a general-purpose seed round right now. This stage needs something narrower and cheaper:</a:t>
            </a:r>
            <a:endParaRPr lang="en-US" sz="1350" dirty="0"/>
          </a:p>
        </p:txBody>
      </p:sp>
      <p:sp>
        <p:nvSpPr>
          <p:cNvPr id="5" name="Shape 3"/>
          <p:cNvSpPr/>
          <p:nvPr/>
        </p:nvSpPr>
        <p:spPr>
          <a:xfrm>
            <a:off x="640080" y="2103120"/>
            <a:ext cx="457200" cy="457200"/>
          </a:xfrm>
          <a:prstGeom prst="ellipse">
            <a:avLst/>
          </a:prstGeom>
          <a:solidFill>
            <a:srgbClr val="2EC4B6"/>
          </a:solidFill>
          <a:ln/>
        </p:spPr>
      </p:sp>
      <p:sp>
        <p:nvSpPr>
          <p:cNvPr id="6" name="Text 4"/>
          <p:cNvSpPr txBox="1"/>
          <p:nvPr/>
        </p:nvSpPr>
        <p:spPr>
          <a:xfrm>
            <a:off x="640080" y="2103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25880" y="205740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Funding for the wet-lab validation experiment</a:t>
            </a:r>
            <a:endParaRPr lang="en-US" sz="1600" dirty="0"/>
          </a:p>
        </p:txBody>
      </p:sp>
      <p:sp>
        <p:nvSpPr>
          <p:cNvPr id="8" name="Text 6"/>
          <p:cNvSpPr txBox="1"/>
          <p:nvPr/>
        </p:nvSpPr>
        <p:spPr>
          <a:xfrm>
            <a:off x="1325880" y="246888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The ~$10K-$30K described on the roadmap slide: reagents, plasmid synthesis/cloning, lab bench access.</a:t>
            </a:r>
            <a:endParaRPr lang="en-US" sz="1250" dirty="0"/>
          </a:p>
        </p:txBody>
      </p:sp>
      <p:sp>
        <p:nvSpPr>
          <p:cNvPr id="9" name="Shape 7"/>
          <p:cNvSpPr/>
          <p:nvPr/>
        </p:nvSpPr>
        <p:spPr>
          <a:xfrm>
            <a:off x="640080" y="3200400"/>
            <a:ext cx="457200" cy="457200"/>
          </a:xfrm>
          <a:prstGeom prst="ellipse">
            <a:avLst/>
          </a:prstGeom>
          <a:solidFill>
            <a:srgbClr val="2EC4B6"/>
          </a:solidFill>
          <a:ln/>
        </p:spPr>
      </p:sp>
      <p:sp>
        <p:nvSpPr>
          <p:cNvPr id="10" name="Text 8"/>
          <p:cNvSpPr txBox="1"/>
          <p:nvPr/>
        </p:nvSpPr>
        <p:spPr>
          <a:xfrm>
            <a:off x="640080" y="32004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325880" y="315468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Budget to hire a paid synthetic-biology consultant</a:t>
            </a:r>
            <a:endParaRPr lang="en-US" sz="1600" dirty="0"/>
          </a:p>
        </p:txBody>
      </p:sp>
      <p:sp>
        <p:nvSpPr>
          <p:cNvPr id="12" name="Text 10"/>
          <p:cNvSpPr txBox="1"/>
          <p:nvPr/>
        </p:nvSpPr>
        <p:spPr>
          <a:xfrm>
            <a:off x="1325880" y="356616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A real expert's time to review and help execute the toggle-circuit build, not just informal mentoring hours. We'd rather pay for a few weeks of real expertise than move forward on a design nobody with domain experience has pressure-tested.</a:t>
            </a:r>
            <a:endParaRPr lang="en-US" sz="1250" dirty="0"/>
          </a:p>
        </p:txBody>
      </p:sp>
      <p:sp>
        <p:nvSpPr>
          <p:cNvPr id="13" name="Shape 11"/>
          <p:cNvSpPr/>
          <p:nvPr/>
        </p:nvSpPr>
        <p:spPr>
          <a:xfrm>
            <a:off x="640080" y="4297680"/>
            <a:ext cx="457200" cy="457200"/>
          </a:xfrm>
          <a:prstGeom prst="ellipse">
            <a:avLst/>
          </a:prstGeom>
          <a:solidFill>
            <a:srgbClr val="2EC4B6"/>
          </a:solidFill>
          <a:ln/>
        </p:spPr>
      </p:sp>
      <p:sp>
        <p:nvSpPr>
          <p:cNvPr id="14" name="Text 12"/>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5" name="Text 13"/>
          <p:cNvSpPr txBox="1"/>
          <p:nvPr/>
        </p:nvSpPr>
        <p:spPr>
          <a:xfrm>
            <a:off x="1325880" y="425196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Lab access &amp; partnership introductions</a:t>
            </a:r>
            <a:endParaRPr lang="en-US" sz="1600" dirty="0"/>
          </a:p>
        </p:txBody>
      </p:sp>
      <p:sp>
        <p:nvSpPr>
          <p:cNvPr id="16" name="Text 14"/>
          <p:cNvSpPr txBox="1"/>
          <p:nvPr/>
        </p:nvSpPr>
        <p:spPr>
          <a:xfrm>
            <a:off x="1325880" y="466344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Standard bacterial transformation and plasmid cloning, B. subtilis is a workhorse organism, a far more common skill than planarian-specific culture.</a:t>
            </a:r>
            <a:endParaRPr lang="en-US" sz="1250" dirty="0"/>
          </a:p>
        </p:txBody>
      </p:sp>
      <p:sp>
        <p:nvSpPr>
          <p:cNvPr id="17" name="Shape 15"/>
          <p:cNvSpPr/>
          <p:nvPr/>
        </p:nvSpPr>
        <p:spPr>
          <a:xfrm>
            <a:off x="640080" y="5532120"/>
            <a:ext cx="10972800" cy="868680"/>
          </a:xfrm>
          <a:prstGeom prst="roundRect">
            <a:avLst>
              <a:gd name="adj" fmla="val 8421"/>
            </a:avLst>
          </a:prstGeom>
          <a:solidFill>
            <a:srgbClr val="EAF6F4"/>
          </a:solidFill>
          <a:ln w="15875">
            <a:solidFill>
              <a:srgbClr val="1C8F84"/>
            </a:solidFill>
            <a:prstDash val="solid"/>
          </a:ln>
        </p:spPr>
      </p:sp>
      <p:sp>
        <p:nvSpPr>
          <p:cNvPr id="18" name="Text 16"/>
          <p:cNvSpPr txBox="1"/>
          <p:nvPr/>
        </p:nvSpPr>
        <p:spPr>
          <a:xfrm>
            <a:off x="868680" y="5532120"/>
            <a:ext cx="10515600" cy="868680"/>
          </a:xfrm>
          <a:prstGeom prst="rect">
            <a:avLst/>
          </a:prstGeom>
          <a:noFill/>
          <a:ln/>
        </p:spPr>
        <p:txBody>
          <a:bodyPr wrap="square" lIns="0" tIns="0" rIns="0" bIns="0" rtlCol="0" anchor="ctr"/>
          <a:lstStyle/>
          <a:p>
            <a:pPr indent="0" marL="0">
              <a:lnSpc>
                <a:spcPct val="110000"/>
              </a:lnSpc>
              <a:buNone/>
            </a:pPr>
            <a:r>
              <a:rPr lang="en-US" sz="1250" b="1" dirty="0">
                <a:solidFill>
                  <a:srgbClr val="1C8F84"/>
                </a:solidFill>
                <a:latin typeface="Calibri" pitchFamily="34" charset="0"/>
                <a:ea typeface="Calibri" pitchFamily="34" charset="-122"/>
                <a:cs typeface="Calibri" pitchFamily="34" charset="-120"/>
              </a:rPr>
              <a:t>IP status:  </a:t>
            </a:r>
            <a:pPr indent="0" marL="0">
              <a:lnSpc>
                <a:spcPct val="110000"/>
              </a:lnSpc>
              <a:buNone/>
            </a:pPr>
            <a:r>
              <a:rPr lang="en-US" sz="1250" dirty="0">
                <a:solidFill>
                  <a:srgbClr val="16232F"/>
                </a:solidFill>
                <a:latin typeface="Calibri" pitchFamily="34" charset="0"/>
                <a:ea typeface="Calibri" pitchFamily="34" charset="-122"/>
                <a:cs typeface="Calibri" pitchFamily="34" charset="-120"/>
              </a:rPr>
              <a:t>patent applications filed with the USPTO covering the Bio-RAID fault-tolerance architecture, self-healing recovery protocol, and environment-adaptive longevity system. Status: filed, pending examination.</a:t>
            </a:r>
            <a:endParaRPr lang="en-US" sz="12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9692640" y="-1097280"/>
            <a:ext cx="5029200" cy="5029200"/>
          </a:xfrm>
          <a:prstGeom prst="ellipse">
            <a:avLst/>
          </a:prstGeom>
          <a:solidFill>
            <a:srgbClr val="2EC4B6">
              <a:alpha val="8000"/>
            </a:srgbClr>
          </a:solidFill>
          <a:ln/>
        </p:spPr>
      </p:sp>
      <p:sp>
        <p:nvSpPr>
          <p:cNvPr id="3" name="Text 1"/>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TEAM</a:t>
            </a:r>
            <a:endParaRPr lang="en-US" sz="1200" dirty="0"/>
          </a:p>
        </p:txBody>
      </p:sp>
      <p:sp>
        <p:nvSpPr>
          <p:cNvPr id="4" name="Text 2"/>
          <p:cNvSpPr txBox="1"/>
          <p:nvPr/>
        </p:nvSpPr>
        <p:spPr>
          <a:xfrm>
            <a:off x="640080" y="822960"/>
            <a:ext cx="548640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Dayana Sanchez</a:t>
            </a:r>
            <a:endParaRPr lang="en-US" sz="2300" dirty="0"/>
          </a:p>
        </p:txBody>
      </p:sp>
      <p:sp>
        <p:nvSpPr>
          <p:cNvPr id="5" name="Text 3"/>
          <p:cNvSpPr txBox="1"/>
          <p:nvPr/>
        </p:nvSpPr>
        <p:spPr>
          <a:xfrm>
            <a:off x="640080" y="1261872"/>
            <a:ext cx="5486400" cy="320040"/>
          </a:xfrm>
          <a:prstGeom prst="rect">
            <a:avLst/>
          </a:prstGeom>
          <a:noFill/>
          <a:ln/>
        </p:spPr>
        <p:txBody>
          <a:bodyPr wrap="square" lIns="0" tIns="0" rIns="0" bIns="0" rtlCol="0" anchor="ctr"/>
          <a:lstStyle/>
          <a:p>
            <a:pPr indent="0" marL="0">
              <a:buNone/>
            </a:pPr>
            <a:r>
              <a:rPr lang="en-US" sz="1250" dirty="0">
                <a:solidFill>
                  <a:srgbClr val="2EC4B6"/>
                </a:solidFill>
                <a:latin typeface="Calibri" pitchFamily="34" charset="0"/>
                <a:ea typeface="Calibri" pitchFamily="34" charset="-122"/>
                <a:cs typeface="Calibri" pitchFamily="34" charset="-120"/>
              </a:rPr>
              <a:t>Founder &amp; Lead Researcher</a:t>
            </a:r>
            <a:endParaRPr lang="en-US" sz="1250" dirty="0"/>
          </a:p>
        </p:txBody>
      </p:sp>
      <p:sp>
        <p:nvSpPr>
          <p:cNvPr id="6" name="Text 4"/>
          <p:cNvSpPr txBox="1"/>
          <p:nvPr/>
        </p:nvSpPr>
        <p:spPr>
          <a:xfrm>
            <a:off x="640080" y="1627632"/>
            <a:ext cx="5486400" cy="1828800"/>
          </a:xfrm>
          <a:prstGeom prst="rect">
            <a:avLst/>
          </a:prstGeom>
          <a:noFill/>
          <a:ln/>
        </p:spPr>
        <p:txBody>
          <a:bodyPr wrap="square" lIns="0" tIns="0" rIns="0" bIns="0" rtlCol="0" anchor="ctr"/>
          <a:lstStyle/>
          <a:p>
            <a:pPr indent="0" marL="0">
              <a:lnSpc>
                <a:spcPct val="120000"/>
              </a:lnSpc>
              <a:buNone/>
            </a:pPr>
            <a:r>
              <a:rPr lang="en-US" sz="1150" dirty="0">
                <a:solidFill>
                  <a:srgbClr val="CFE0DD"/>
                </a:solidFill>
                <a:latin typeface="Calibri" pitchFamily="34" charset="0"/>
                <a:ea typeface="Calibri" pitchFamily="34" charset="-122"/>
                <a:cs typeface="Calibri" pitchFamily="34" charset="-120"/>
              </a:rPr>
              <a:t>Originated the core concept; led all technical work to date, the simulation architecture, the encoder software, and the audit process that found and corrected this project's own central assumption before anyone outside the project did. Background: cybersecurity, UCF. Not a biologist by training, disclosed as fact, not hidden.</a:t>
            </a:r>
            <a:endParaRPr lang="en-US" sz="1150" dirty="0"/>
          </a:p>
        </p:txBody>
      </p:sp>
      <p:sp>
        <p:nvSpPr>
          <p:cNvPr id="7" name="Text 5"/>
          <p:cNvSpPr txBox="1"/>
          <p:nvPr/>
        </p:nvSpPr>
        <p:spPr>
          <a:xfrm>
            <a:off x="6355080" y="822960"/>
            <a:ext cx="521208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Jacqueline Solano</a:t>
            </a:r>
            <a:endParaRPr lang="en-US" sz="2300" dirty="0"/>
          </a:p>
        </p:txBody>
      </p:sp>
      <p:sp>
        <p:nvSpPr>
          <p:cNvPr id="8" name="Text 6"/>
          <p:cNvSpPr txBox="1"/>
          <p:nvPr/>
        </p:nvSpPr>
        <p:spPr>
          <a:xfrm>
            <a:off x="6355080" y="1261872"/>
            <a:ext cx="5212080" cy="320040"/>
          </a:xfrm>
          <a:prstGeom prst="rect">
            <a:avLst/>
          </a:prstGeom>
          <a:noFill/>
          <a:ln/>
        </p:spPr>
        <p:txBody>
          <a:bodyPr wrap="square" lIns="0" tIns="0" rIns="0" bIns="0" rtlCol="0" anchor="ctr"/>
          <a:lstStyle/>
          <a:p>
            <a:pPr indent="0" marL="0">
              <a:buNone/>
            </a:pPr>
            <a:r>
              <a:rPr lang="en-US" sz="1250" dirty="0">
                <a:solidFill>
                  <a:srgbClr val="2EC4B6"/>
                </a:solidFill>
                <a:latin typeface="Calibri" pitchFamily="34" charset="0"/>
                <a:ea typeface="Calibri" pitchFamily="34" charset="-122"/>
                <a:cs typeface="Calibri" pitchFamily="34" charset="-120"/>
              </a:rPr>
              <a:t>Co-Founder</a:t>
            </a:r>
            <a:endParaRPr lang="en-US" sz="1250" dirty="0"/>
          </a:p>
        </p:txBody>
      </p:sp>
      <p:sp>
        <p:nvSpPr>
          <p:cNvPr id="9" name="Text 7"/>
          <p:cNvSpPr txBox="1"/>
          <p:nvPr/>
        </p:nvSpPr>
        <p:spPr>
          <a:xfrm>
            <a:off x="6355080" y="1627632"/>
            <a:ext cx="5212080" cy="1280160"/>
          </a:xfrm>
          <a:prstGeom prst="rect">
            <a:avLst/>
          </a:prstGeom>
          <a:noFill/>
          <a:ln/>
        </p:spPr>
        <p:txBody>
          <a:bodyPr wrap="square" lIns="0" tIns="0" rIns="0" bIns="0" rtlCol="0" anchor="ctr"/>
          <a:lstStyle/>
          <a:p>
            <a:pPr indent="0" marL="0">
              <a:lnSpc>
                <a:spcPct val="120000"/>
              </a:lnSpc>
              <a:buNone/>
            </a:pPr>
            <a:r>
              <a:rPr lang="en-US" sz="1150" dirty="0">
                <a:solidFill>
                  <a:srgbClr val="CFE0DD"/>
                </a:solidFill>
                <a:latin typeface="Calibri" pitchFamily="34" charset="0"/>
                <a:ea typeface="Calibri" pitchFamily="34" charset="-122"/>
                <a:cs typeface="Calibri" pitchFamily="34" charset="-120"/>
              </a:rPr>
              <a:t>Leads business operations, and satisfies the program requirement that at least one founder be a U.S. citizen.</a:t>
            </a:r>
            <a:endParaRPr lang="en-US" sz="1150" dirty="0"/>
          </a:p>
        </p:txBody>
      </p:sp>
      <p:sp>
        <p:nvSpPr>
          <p:cNvPr id="10" name="Shape 8"/>
          <p:cNvSpPr/>
          <p:nvPr/>
        </p:nvSpPr>
        <p:spPr>
          <a:xfrm>
            <a:off x="640080" y="3794760"/>
            <a:ext cx="10927080" cy="0"/>
          </a:xfrm>
          <a:prstGeom prst="line">
            <a:avLst/>
          </a:prstGeom>
          <a:noFill/>
          <a:ln w="12700">
            <a:solidFill>
              <a:srgbClr val="2A4463"/>
            </a:solidFill>
            <a:prstDash val="solid"/>
          </a:ln>
        </p:spPr>
      </p:sp>
      <p:sp>
        <p:nvSpPr>
          <p:cNvPr id="11" name="Text 9"/>
          <p:cNvSpPr txBox="1"/>
          <p:nvPr/>
        </p:nvSpPr>
        <p:spPr>
          <a:xfrm>
            <a:off x="640080" y="3977640"/>
            <a:ext cx="109270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Why this document leads with what we got wrong</a:t>
            </a:r>
            <a:endParaRPr lang="en-US" sz="1600" dirty="0"/>
          </a:p>
        </p:txBody>
      </p:sp>
      <p:sp>
        <p:nvSpPr>
          <p:cNvPr id="12" name="Text 10"/>
          <p:cNvSpPr txBox="1"/>
          <p:nvPr/>
        </p:nvSpPr>
        <p:spPr>
          <a:xfrm>
            <a:off x="640080" y="4389120"/>
            <a:ext cx="10927080" cy="731520"/>
          </a:xfrm>
          <a:prstGeom prst="rect">
            <a:avLst/>
          </a:prstGeom>
          <a:noFill/>
          <a:ln/>
        </p:spPr>
        <p:txBody>
          <a:bodyPr wrap="square" lIns="0" tIns="0" rIns="0" bIns="0" rtlCol="0" anchor="ctr"/>
          <a:lstStyle/>
          <a:p>
            <a:pPr indent="0" marL="0">
              <a:lnSpc>
                <a:spcPct val="120000"/>
              </a:lnSpc>
              <a:buNone/>
            </a:pPr>
            <a:r>
              <a:rPr lang="en-US" sz="1350" i="1" dirty="0">
                <a:solidFill>
                  <a:srgbClr val="AEC2C8"/>
                </a:solidFill>
                <a:latin typeface="Calibri" pitchFamily="34" charset="0"/>
                <a:ea typeface="Calibri" pitchFamily="34" charset="-122"/>
                <a:cs typeface="Calibri" pitchFamily="34" charset="-120"/>
              </a:rPr>
              <a:t>An earlier version of this pitch cited a persistence result later found to be a simulation artifact. That audit process, not a projection nobody could verify, is the actual asset here.</a:t>
            </a:r>
            <a:endParaRPr lang="en-US" sz="1350" dirty="0"/>
          </a:p>
        </p:txBody>
      </p:sp>
      <p:sp>
        <p:nvSpPr>
          <p:cNvPr id="13" name="Text 11"/>
          <p:cNvSpPr txBox="1"/>
          <p:nvPr/>
        </p:nvSpPr>
        <p:spPr>
          <a:xfrm>
            <a:off x="640080" y="5623560"/>
            <a:ext cx="7315200" cy="9144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Dayana: sanchezleal1989@gmail.com</a:t>
            </a:r>
            <a:pPr indent="0" marL="0">
              <a:buNone/>
            </a:pPr>
            <a:r>
              <a:rPr lang="en-US" sz="1400" b="1" dirty="0">
                <a:solidFill>
                  <a:srgbClr val="FFFFFF"/>
                </a:solidFill>
                <a:latin typeface="Calibri" pitchFamily="34" charset="0"/>
                <a:ea typeface="Calibri" pitchFamily="34" charset="-122"/>
                <a:cs typeface="Calibri" pitchFamily="34" charset="-120"/>
              </a:rPr>
              <a:t>Jacqueline: jackiea.solano@gmail.com</a:t>
            </a:r>
            <a:pPr indent="0" marL="0">
              <a:buNone/>
            </a:pPr>
            <a:r>
              <a:rPr lang="en-US" sz="1400" dirty="0">
                <a:solidFill>
                  <a:srgbClr val="AEC2C8"/>
                </a:solidFill>
                <a:latin typeface="Calibri" pitchFamily="34" charset="0"/>
                <a:ea typeface="Calibri" pitchFamily="34" charset="-122"/>
                <a:cs typeface="Calibri" pitchFamily="34" charset="-120"/>
              </a:rPr>
              <a:t>github.com/rewired89/Acheron</a:t>
            </a:r>
            <a:endParaRPr lang="en-US" sz="1400" dirty="0"/>
          </a:p>
        </p:txBody>
      </p:sp>
      <p:sp>
        <p:nvSpPr>
          <p:cNvPr id="14" name="Text 12"/>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2026-09-05T18:55:32Z</dcterms:created>
  <dcterms:modified xsi:type="dcterms:W3CDTF">2026-09-05T18:55:32Z</dcterms:modified>
</cp:coreProperties>
</file>