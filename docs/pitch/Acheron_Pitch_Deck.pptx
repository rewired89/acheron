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7"/>
                </a:solidFill>
                <a:latin typeface="Arial"/>
              </a:defRPr>
            </a:pPr>
            <a:r>
              <a:rPr sz="1200" b="0" i="0" u="none" strike="noStrike">
                <a:solidFill>
                  <a:srgbClr val="5B6B77"/>
                </a:solidFill>
                <a:latin typeface="Arial"/>
              </a:rPr>
              <a:t>All three numerically tie at ~2% surviving, the number alone is misleading</a:t>
            </a:r>
          </a:p>
        </c:rich>
      </c:tx>
      <c:layout/>
      <c:overlay val="0"/>
    </c:title>
    <c:autoTitleDeleted val="0"/>
    <c:plotArea>
      <c:layout/>
      <c:barChart>
        <c:barDir val="col"/>
        <c:grouping val="clustered"/>
        <c:varyColors val="0"/>
        <c:ser>
          <c:idx val="0"/>
          <c:order val="0"/>
          <c:tx>
            <c:strRef>
              <c:f>Sheet1!$B$1</c:f>
              <c:strCache>
                <c:ptCount val="1"/>
                <c:pt idx="0">
                  <c:v>Recovery threshold (% surviving cells needed for ≥70% fidelity)</c:v>
                </c:pt>
              </c:strCache>
            </c:strRef>
          </c:tx>
          <c:spPr>
            <a:solidFill>
              <a:srgbClr val="2EC4B6"/>
            </a:solidFill>
            <a:effectLst/>
          </c:spPr>
          <c:invertIfNegative val="0"/>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cat>
            <c:multiLvlStrRef>
              <c:f>Sheet1!$A$2:$A$4</c:f>
              <c:multiLvlStrCache>
                <c:ptCount val="3"/>
                <c:lvl>
                  <c:pt idx="0">
                    <c:v>B. subtilis,
engineered circuit</c:v>
                  </c:pt>
                  <c:pt idx="1">
                    <c:v>B. subtilis,
methylation</c:v>
                  </c:pt>
                  <c:pt idx="2">
                    <c:v>Planarian,
bioelectric circuit</c:v>
                  </c:pt>
                </c:lvl>
              </c:multiLvlStrCache>
            </c:multiLvlStrRef>
          </c:cat>
          <c:val>
            <c:numRef>
              <c:f>Sheet1!$B$2:$B$4</c:f>
              <c:numCache>
                <c:formatCode>General</c:formatCode>
                <c:ptCount val="3"/>
                <c:pt idx="0">
                  <c:v>2</c:v>
                </c:pt>
                <c:pt idx="1">
                  <c:v>2</c:v>
                </c:pt>
                <c:pt idx="2">
                  <c:v>2</c:v>
                </c:pt>
              </c:numCache>
            </c:numRef>
          </c:val>
        </c:ser>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voltage state (the engineered circuit from the rest of this deck).</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is genuinely hard to test without a wet lab, which is exactly why it's the goal after the roadmap experiment, not a claim we're making today. This deck says clearly what's already simulated and what still needs the lab.</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24h</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Claimed persistence, zero-noise simulation (original pitch)</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Integrity under realistic biological noise,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we're leading with this, not hiding it: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This is our own finding, from our own code, published in our own repo's audit before any outside reviewer found it first.</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24h), it's what happens at severe promoter mismatch: </a:t>
            </a:r>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 24h,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 severe mismatch (0.1x), a real, actionable design constraint this step surfaced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graphicFrame>
        <p:nvGraphicFramePr>
          <p:cNvPr id="4" name="Chart 0" descr=""/>
          <p:cNvGraphicFramePr/>
          <p:nvPr/>
        </p:nvGraphicFramePr>
        <p:xfrm>
          <a:off x="640080" y="1783080"/>
          <a:ext cx="61264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6" name="Text 2"/>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7" name="Text 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Apple = Food = Energy. A cell just holding a charge on its own = a coin balanced on its edge =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with a catch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Matched-strength promoter pair (Gardner topology + Bacillus BioBrick Box parts) holds state at 100% fidelity @ 24h; severe mismatch (0.1x) collapses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Light switch = Two matched springs holding it in place. Mismatched springs = the switch falls back to "off" no matter what you do.</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Apple = Food = Energy. Betting on the organism with a measured mechanism =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stealing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IF THE CORE MECHANISM VALIDATES</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real, externally-verifiable numbers, not an invented forecast</a:t>
            </a:r>
            <a:endParaRPr lang="en-US" sz="26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customers already pay for the closest existing alternative</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$35,000/unit, replaced every 6 months, zero self-repair. A live, public data point for what this market already tolerates paying to avoid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Radiation-hardened space electronics, 2026 (independent analyst range)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We claim no specific share of this, it's evidence the underlying need is real and growing, not a number we made up.</a:t>
            </a:r>
            <a:endParaRPr lang="en-US" sz="1200" dirty="0"/>
          </a:p>
        </p:txBody>
      </p:sp>
      <p:sp>
        <p:nvSpPr>
          <p:cNvPr id="12" name="Text 10"/>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50" i="1" dirty="0">
                <a:solidFill>
                  <a:srgbClr val="AEC2C8"/>
                </a:solidFill>
                <a:latin typeface="Calibri" pitchFamily="34" charset="0"/>
                <a:ea typeface="Calibri" pitchFamily="34" charset="-122"/>
                <a:cs typeface="Calibri" pitchFamily="34" charset="-120"/>
              </a:rPr>
              <a:t>This upside is entirely conditional on the roadmap experiment below succeeding. We're not asking anyone to price the risk in advance, we're asking for what it costs to find out.</a:t>
            </a:r>
            <a:endParaRPr lang="en-US" sz="13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 Status: filed, pending examination.</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 Background: cybersecurity, UCF. Not a biologist by training, disclosed as fact, not hidden.</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 and satisfies the program requirement that at least one founder be a U.S. citizen.</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Why this document leads with what we got wrong</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An earlier version of this pitch cited a persistence result later found to be a simulation artifact. That audit process, not a projection nobody could verify, is the actual asset here.</a:t>
            </a:r>
            <a:endParaRPr lang="en-US" sz="1350" dirty="0"/>
          </a:p>
        </p:txBody>
      </p:sp>
      <p:sp>
        <p:nvSpPr>
          <p:cNvPr id="13" name="Text 11"/>
          <p:cNvSpPr txBox="1"/>
          <p:nvPr/>
        </p:nvSpPr>
        <p:spPr>
          <a:xfrm>
            <a:off x="640080" y="5623560"/>
            <a:ext cx="731520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Dayana: sanchezleal1989@gmail.com</a:t>
            </a:r>
            <a:pPr indent="0" marL="0">
              <a:buNone/>
            </a:pPr>
            <a:r>
              <a:rPr lang="en-US" sz="1400" b="1" dirty="0">
                <a:solidFill>
                  <a:srgbClr val="FFFFFF"/>
                </a:solidFill>
                <a:latin typeface="Calibri" pitchFamily="34" charset="0"/>
                <a:ea typeface="Calibri" pitchFamily="34" charset="-122"/>
                <a:cs typeface="Calibri" pitchFamily="34" charset="-120"/>
              </a:rPr>
              <a:t>Jacqueline: jackiea.solano@gmail.com</a:t>
            </a:r>
            <a:pPr indent="0" marL="0">
              <a:buNone/>
            </a:pPr>
            <a:r>
              <a:rPr lang="en-US" sz="1400" dirty="0">
                <a:solidFill>
                  <a:srgbClr val="AEC2C8"/>
                </a:solidFill>
                <a:latin typeface="Calibri" pitchFamily="34" charset="0"/>
                <a:ea typeface="Calibri" pitchFamily="34" charset="-122"/>
                <a:cs typeface="Calibri" pitchFamily="34" charset="-120"/>
              </a:rPr>
              <a:t>github.com/rewired89/Acheron</a:t>
            </a:r>
            <a:endParaRPr lang="en-US" sz="14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2026-09-05T20:26:39Z</dcterms:created>
  <dcterms:modified xsi:type="dcterms:W3CDTF">2026-09-05T20:26:39Z</dcterms:modified>
</cp:coreProperties>
</file>