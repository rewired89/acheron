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Head of Business: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engineered voltage-holding circuit.</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endParaRPr lang="en-US" sz="1350" dirty="0"/>
          </a:p>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full cycle hasn't been tested in a wet lab yet. It's the goal the roadmap experiment works toward.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READ THIS BEFORE ANY NUMBER AHEAD</a:t>
            </a:r>
            <a:endParaRPr lang="en-US" sz="1200" dirty="0"/>
          </a:p>
        </p:txBody>
      </p:sp>
      <p:sp>
        <p:nvSpPr>
          <p:cNvPr id="3" name="Text 1"/>
          <p:cNvSpPr txBox="1"/>
          <p:nvPr/>
        </p:nvSpPr>
        <p:spPr>
          <a:xfrm>
            <a:off x="640080" y="822960"/>
            <a:ext cx="10881360" cy="8686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Every number in this deck, so far, comes from a computational model. None of it has been measured in a wet lab yet</a:t>
            </a:r>
            <a:endParaRPr lang="en-US" sz="2200" dirty="0"/>
          </a:p>
        </p:txBody>
      </p:sp>
      <p:sp>
        <p:nvSpPr>
          <p:cNvPr id="4" name="Shape 2"/>
          <p:cNvSpPr/>
          <p:nvPr/>
        </p:nvSpPr>
        <p:spPr>
          <a:xfrm>
            <a:off x="640080" y="1965960"/>
            <a:ext cx="5349240" cy="3703320"/>
          </a:xfrm>
          <a:prstGeom prst="roundRect">
            <a:avLst>
              <a:gd name="adj" fmla="val 1975"/>
            </a:avLst>
          </a:prstGeom>
          <a:solidFill>
            <a:srgbClr val="132A4D"/>
          </a:solidFill>
          <a:ln/>
        </p:spPr>
      </p:sp>
      <p:sp>
        <p:nvSpPr>
          <p:cNvPr id="5" name="Text 3"/>
          <p:cNvSpPr txBox="1"/>
          <p:nvPr/>
        </p:nvSpPr>
        <p:spPr>
          <a:xfrm>
            <a:off x="914400" y="2194560"/>
            <a:ext cx="4846320" cy="457200"/>
          </a:xfrm>
          <a:prstGeom prst="rect">
            <a:avLst/>
          </a:prstGeom>
          <a:noFill/>
          <a:ln/>
        </p:spPr>
        <p:txBody>
          <a:bodyPr wrap="square" lIns="0" tIns="0" rIns="0" bIns="0" rtlCol="0" anchor="ctr"/>
          <a:lstStyle/>
          <a:p>
            <a:pPr indent="0" marL="0">
              <a:buNone/>
            </a:pPr>
            <a:r>
              <a:rPr lang="en-US" sz="1550" b="1" dirty="0">
                <a:solidFill>
                  <a:srgbClr val="2EC4B6"/>
                </a:solidFill>
                <a:latin typeface="Cambria" pitchFamily="34" charset="0"/>
                <a:ea typeface="Cambria" pitchFamily="34" charset="-122"/>
                <a:cs typeface="Cambria" pitchFamily="34" charset="-120"/>
              </a:rPr>
              <a:t>Simulated (100% of results below)</a:t>
            </a:r>
            <a:endParaRPr lang="en-US" sz="1550" dirty="0"/>
          </a:p>
        </p:txBody>
      </p:sp>
      <p:sp>
        <p:nvSpPr>
          <p:cNvPr id="6" name="Text 4"/>
          <p:cNvSpPr txBox="1"/>
          <p:nvPr/>
        </p:nvSpPr>
        <p:spPr>
          <a:xfrm>
            <a:off x="914400" y="2560320"/>
            <a:ext cx="4846320" cy="3017520"/>
          </a:xfrm>
          <a:prstGeom prst="rect">
            <a:avLst/>
          </a:prstGeom>
          <a:noFill/>
          <a:ln/>
        </p:spPr>
        <p:txBody>
          <a:bodyPr wrap="square" lIns="0" tIns="0" rIns="0" bIns="0" rtlCol="0" anchor="ctr"/>
          <a:lstStyle/>
          <a:p>
            <a:pPr marL="342900" indent="-342900">
              <a:lnSpc>
                <a:spcPct val="112000"/>
              </a:lnSpc>
              <a:spcAft>
                <a:spcPts val="700"/>
              </a:spcAft>
              <a:buSzPct val="100000"/>
              <a:buChar char="•"/>
            </a:pPr>
            <a:r>
              <a:rPr lang="en-US" sz="1100" dirty="0">
                <a:solidFill>
                  <a:srgbClr val="CFE0DD"/>
                </a:solidFill>
                <a:latin typeface="Calibri" pitchFamily="34" charset="0"/>
                <a:ea typeface="Calibri" pitchFamily="34" charset="-122"/>
                <a:cs typeface="Calibri" pitchFamily="34" charset="-120"/>
              </a:rPr>
              <a:t>Bit integrity under noise: 100% (zero-noise) vs. ~50% (realistic noise)</a:t>
            </a:r>
            <a:endParaRPr lang="en-US" sz="1100" dirty="0"/>
          </a:p>
          <a:p>
            <a:pPr marL="342900" indent="-342900">
              <a:lnSpc>
                <a:spcPct val="112000"/>
              </a:lnSpc>
              <a:spcAft>
                <a:spcPts val="700"/>
              </a:spcAft>
              <a:buSzPct val="100000"/>
              <a:buChar char="•"/>
            </a:pPr>
            <a:r>
              <a:rPr lang="en-US" sz="1100" dirty="0">
                <a:solidFill>
                  <a:srgbClr val="CFE0DD"/>
                </a:solidFill>
                <a:latin typeface="Calibri" pitchFamily="34" charset="0"/>
                <a:ea typeface="Calibri" pitchFamily="34" charset="-122"/>
                <a:cs typeface="Calibri" pitchFamily="34" charset="-120"/>
              </a:rPr>
              <a:t>Toggle-circuit fidelity: 100% (matched/mismatched-within-range) vs. 50% (severe mismatch)</a:t>
            </a:r>
            <a:endParaRPr lang="en-US" sz="1100" dirty="0"/>
          </a:p>
          <a:p>
            <a:pPr marL="342900" indent="-342900">
              <a:lnSpc>
                <a:spcPct val="112000"/>
              </a:lnSpc>
              <a:spcAft>
                <a:spcPts val="700"/>
              </a:spcAft>
              <a:buSzPct val="100000"/>
              <a:buChar char="•"/>
            </a:pPr>
            <a:r>
              <a:rPr lang="en-US" sz="1100" dirty="0">
                <a:solidFill>
                  <a:srgbClr val="CFE0DD"/>
                </a:solidFill>
                <a:latin typeface="Calibri" pitchFamily="34" charset="0"/>
                <a:ea typeface="Calibri" pitchFamily="34" charset="-122"/>
                <a:cs typeface="Calibri" pitchFamily="34" charset="-120"/>
              </a:rPr>
              <a:t>Cross-organism recovery threshold: ~2% surviving cells, for all three mechanisms</a:t>
            </a:r>
            <a:endParaRPr lang="en-US" sz="1100" dirty="0"/>
          </a:p>
          <a:p>
            <a:pPr marL="342900" indent="-342900">
              <a:lnSpc>
                <a:spcPct val="112000"/>
              </a:lnSpc>
              <a:spcAft>
                <a:spcPts val="700"/>
              </a:spcAft>
              <a:buSzPct val="100000"/>
              <a:buChar char="•"/>
            </a:pPr>
            <a:r>
              <a:rPr lang="en-US" sz="1100" dirty="0">
                <a:solidFill>
                  <a:srgbClr val="CFE0DD"/>
                </a:solidFill>
                <a:latin typeface="Calibri" pitchFamily="34" charset="0"/>
                <a:ea typeface="Calibri" pitchFamily="34" charset="-122"/>
                <a:cs typeface="Calibri" pitchFamily="34" charset="-120"/>
              </a:rPr>
              <a:t>EIS voltage-read collapse: 50-59% under native biofilm oscillation</a:t>
            </a:r>
            <a:endParaRPr lang="en-US" sz="1100" dirty="0"/>
          </a:p>
          <a:p>
            <a:pPr marL="342900" indent="-342900">
              <a:lnSpc>
                <a:spcPct val="112000"/>
              </a:lnSpc>
              <a:spcAft>
                <a:spcPts val="700"/>
              </a:spcAft>
              <a:buSzPct val="100000"/>
              <a:buChar char="•"/>
            </a:pPr>
            <a:r>
              <a:rPr lang="en-US" sz="1100" dirty="0">
                <a:solidFill>
                  <a:srgbClr val="CFE0DD"/>
                </a:solidFill>
                <a:latin typeface="Calibri" pitchFamily="34" charset="0"/>
                <a:ea typeface="Calibri" pitchFamily="34" charset="-122"/>
                <a:cs typeface="Calibri" pitchFamily="34" charset="-120"/>
              </a:rPr>
              <a:t>Fluorescent reporter through damage/regrowth: 100%, 0% gap vs. genetic state</a:t>
            </a:r>
            <a:endParaRPr lang="en-US" sz="1100" dirty="0"/>
          </a:p>
          <a:p>
            <a:pPr marL="342900" indent="-342900">
              <a:lnSpc>
                <a:spcPct val="112000"/>
              </a:lnSpc>
              <a:spcAft>
                <a:spcPts val="700"/>
              </a:spcAft>
              <a:buSzPct val="100000"/>
              <a:buChar char="•"/>
            </a:pPr>
            <a:r>
              <a:rPr lang="en-US" sz="1100" dirty="0">
                <a:solidFill>
                  <a:srgbClr val="CFE0DD"/>
                </a:solidFill>
                <a:latin typeface="Calibri" pitchFamily="34" charset="0"/>
                <a:ea typeface="Calibri" pitchFamily="34" charset="-122"/>
                <a:cs typeface="Calibri" pitchFamily="34" charset="-120"/>
              </a:rPr>
              <a:t>A proposed damage-sensing reinforcement circuit: rescues our one found weak point back to 100%</a:t>
            </a:r>
            <a:endParaRPr lang="en-US" sz="1100" dirty="0"/>
          </a:p>
        </p:txBody>
      </p:sp>
      <p:sp>
        <p:nvSpPr>
          <p:cNvPr id="7" name="Shape 5"/>
          <p:cNvSpPr/>
          <p:nvPr/>
        </p:nvSpPr>
        <p:spPr>
          <a:xfrm>
            <a:off x="6172200" y="1965960"/>
            <a:ext cx="5394960" cy="3703320"/>
          </a:xfrm>
          <a:prstGeom prst="roundRect">
            <a:avLst>
              <a:gd name="adj" fmla="val 1975"/>
            </a:avLst>
          </a:prstGeom>
          <a:solidFill>
            <a:srgbClr val="132A4D"/>
          </a:solidFill>
          <a:ln w="12700">
            <a:solidFill>
              <a:srgbClr val="E8A33D"/>
            </a:solidFill>
            <a:prstDash val="solid"/>
          </a:ln>
        </p:spPr>
      </p:sp>
      <p:sp>
        <p:nvSpPr>
          <p:cNvPr id="8" name="Text 6"/>
          <p:cNvSpPr txBox="1"/>
          <p:nvPr/>
        </p:nvSpPr>
        <p:spPr>
          <a:xfrm>
            <a:off x="6446520" y="2194560"/>
            <a:ext cx="4846320" cy="457200"/>
          </a:xfrm>
          <a:prstGeom prst="rect">
            <a:avLst/>
          </a:prstGeom>
          <a:noFill/>
          <a:ln/>
        </p:spPr>
        <p:txBody>
          <a:bodyPr wrap="square" lIns="0" tIns="0" rIns="0" bIns="0" rtlCol="0" anchor="ctr"/>
          <a:lstStyle/>
          <a:p>
            <a:pPr indent="0" marL="0">
              <a:buNone/>
            </a:pPr>
            <a:r>
              <a:rPr lang="en-US" sz="1550" b="1" dirty="0">
                <a:solidFill>
                  <a:srgbClr val="E8A33D"/>
                </a:solidFill>
                <a:latin typeface="Cambria" pitchFamily="34" charset="0"/>
                <a:ea typeface="Cambria" pitchFamily="34" charset="-122"/>
                <a:cs typeface="Cambria" pitchFamily="34" charset="-120"/>
              </a:rPr>
              <a:t>Measured (0% of results below)</a:t>
            </a:r>
            <a:endParaRPr lang="en-US" sz="1550" dirty="0"/>
          </a:p>
        </p:txBody>
      </p:sp>
      <p:sp>
        <p:nvSpPr>
          <p:cNvPr id="9" name="Text 7"/>
          <p:cNvSpPr txBox="1"/>
          <p:nvPr/>
        </p:nvSpPr>
        <p:spPr>
          <a:xfrm>
            <a:off x="6446520" y="2697480"/>
            <a:ext cx="4846320" cy="283464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Nothing yet.
</a:t>
            </a:r>
            <a:endParaRPr lang="en-US" sz="1300" dirty="0"/>
          </a:p>
          <a:p>
            <a:pPr indent="0" marL="0">
              <a:lnSpc>
                <a:spcPct val="120000"/>
              </a:lnSpc>
              <a:buNone/>
            </a:pPr>
            <a:r>
              <a:rPr lang="en-US" sz="1300" dirty="0">
                <a:solidFill>
                  <a:srgbClr val="CFE0DD"/>
                </a:solidFill>
                <a:latin typeface="Calibri" pitchFamily="34" charset="0"/>
                <a:ea typeface="Calibri" pitchFamily="34" charset="-122"/>
                <a:cs typeface="Calibri" pitchFamily="34" charset="-120"/>
              </a:rPr>
              <a:t>Stage 0 on the roadmap slide, ~$2K-$5K, is the first physical test of any of this, in any organism. Until it runs, every figure on the surrounding slides is a model's prediction, not a result.</a:t>
            </a:r>
            <a:endParaRPr lang="en-US" sz="1300" dirty="0"/>
          </a:p>
        </p:txBody>
      </p:sp>
      <p:sp>
        <p:nvSpPr>
          <p:cNvPr id="10" name="Shape 8"/>
          <p:cNvSpPr/>
          <p:nvPr/>
        </p:nvSpPr>
        <p:spPr>
          <a:xfrm>
            <a:off x="640080" y="5852160"/>
            <a:ext cx="10927080" cy="685800"/>
          </a:xfrm>
          <a:prstGeom prst="roundRect">
            <a:avLst>
              <a:gd name="adj" fmla="val 10667"/>
            </a:avLst>
          </a:prstGeom>
          <a:solidFill>
            <a:srgbClr val="18314F"/>
          </a:solidFill>
          <a:ln w="12700">
            <a:solidFill>
              <a:srgbClr val="E8A33D"/>
            </a:solidFill>
            <a:prstDash val="solid"/>
          </a:ln>
        </p:spPr>
      </p:sp>
      <p:sp>
        <p:nvSpPr>
          <p:cNvPr id="11" name="Text 9"/>
          <p:cNvSpPr txBox="1"/>
          <p:nvPr/>
        </p:nvSpPr>
        <p:spPr>
          <a:xfrm>
            <a:off x="868680" y="5852160"/>
            <a:ext cx="10515600" cy="685800"/>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Why we're leading with this:  </a:t>
            </a:r>
            <a:pPr indent="0" marL="0">
              <a:buNone/>
            </a:pPr>
            <a:r>
              <a:rPr lang="en-US" sz="1300" dirty="0">
                <a:solidFill>
                  <a:srgbClr val="E7ECEF"/>
                </a:solidFill>
                <a:latin typeface="Calibri" pitchFamily="34" charset="0"/>
                <a:ea typeface="Calibri" pitchFamily="34" charset="-122"/>
                <a:cs typeface="Calibri" pitchFamily="34" charset="-120"/>
              </a:rPr>
              <a:t>simulation tells us where to spend wet-lab money wisely, it is not evidence the mechanism works in a real cell.</a:t>
            </a:r>
            <a:endParaRPr lang="en-US" sz="1300" dirty="0"/>
          </a:p>
        </p:txBody>
      </p:sp>
      <p:sp>
        <p:nvSpPr>
          <p:cNvPr id="12" name="Text 10"/>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640080" y="5989320"/>
            <a:ext cx="10972800" cy="548640"/>
          </a:xfrm>
          <a:prstGeom prst="rect">
            <a:avLst/>
          </a:prstGeom>
          <a:noFill/>
          <a:ln/>
        </p:spPr>
        <p:txBody>
          <a:bodyPr wrap="square" lIns="0" tIns="0" rIns="0" bIns="0" rtlCol="0" anchor="ctr"/>
          <a:lstStyle/>
          <a:p>
            <a:pPr indent="0" marL="0">
              <a:lnSpc>
                <a:spcPct val="115000"/>
              </a:lnSpc>
              <a:buNone/>
            </a:pPr>
            <a:r>
              <a:rPr lang="en-US" sz="1100" b="1" i="1" dirty="0">
                <a:solidFill>
                  <a:srgbClr val="1C8F84"/>
                </a:solidFill>
                <a:latin typeface="Calibri" pitchFamily="34" charset="0"/>
                <a:ea typeface="Calibri" pitchFamily="34" charset="-122"/>
                <a:cs typeface="Calibri" pitchFamily="34" charset="-120"/>
              </a:rPr>
              <a:t>Modeling approach: </a:t>
            </a:r>
            <a:pPr indent="0" marL="0">
              <a:lnSpc>
                <a:spcPct val="115000"/>
              </a:lnSpc>
              <a:buNone/>
            </a:pPr>
            <a:r>
              <a:rPr lang="en-US" sz="1100" i="1" dirty="0">
                <a:solidFill>
                  <a:srgbClr val="5B6B77"/>
                </a:solidFill>
                <a:latin typeface="Calibri" pitchFamily="34" charset="0"/>
                <a:ea typeface="Calibri" pitchFamily="34" charset="-122"/>
                <a:cs typeface="Calibri" pitchFamily="34" charset="-120"/>
              </a:rPr>
              <a:t>physics-based, BETSE-inspired simulation (gap-junction diffusion, ion-channel membrane dynamics), the same framework underlying the Levin Lab's own BETSE tool, cross-validated against tasmorpho (Blattner, 2026, bioRxiv), an independently published BETSE-based method whose reference values we reproduce to 6 decimal places.</a:t>
            </a:r>
            <a:endParaRPr lang="en-US" sz="11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100%</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in a zero-noise simulation</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with realistic biological noise added,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it fails: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We found this ourselves, by stress-testing our own model, before any outside reviewer did.</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 hours), it's what happens at severe promoter mismatch: </a:t>
            </a:r>
            <a:endParaRPr lang="en-US" sz="1250" dirty="0"/>
          </a:p>
          <a:p>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at 24 hours,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at severe promoter mismatch (0.1x), a design constraint found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CHASSIS CHOICE</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Why B. subtilis, not E. coli, the organism the original toggle switch was built in</a:t>
            </a:r>
            <a:endParaRPr lang="en-US" sz="23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Chassis-matched parts</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Gardner's original 2000 toggle switch was built and characterized in E. coli. But the free, chromosomally-integrating promoter library this project actually uses, the Bacillus BioBrick Box (Radeck et al. 2013, 2017), was characterized in B. subtilis specifically. Porting to E. coli would mean re-characterizing every promoter from scratch, work nobody has funded.</a:t>
            </a:r>
            <a:endParaRPr lang="en-US" sz="120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1C8F84"/>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Built to survive extremes</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B. subtilis sporulates under starvation, desiccation, heat, and radiation stress, a real, well-documented survival mechanism E. coli lacks. That's a direct match to this project's extreme-environment storage thesis (spacecraft, seafloor, remote infrastructure), not a cosmetic preference.</a:t>
            </a:r>
            <a:endParaRPr lang="en-US" sz="120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E8604C"/>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trade-off we're not hiding</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B. subtilis's biofilm-forming behavior helps physical resilience and self-healing, but it's also the source of the native potassium-wave oscillation this deck already flags as a readout risk two slides from now. We chose the organism with the better extreme-survival and parts story, and disclosed the cost that comes with it.</a:t>
            </a:r>
            <a:endParaRPr lang="en-US" sz="120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Net effect: B. subtilis costs us a known, already-quantified readout complication in exchange for chassis-matched genetic parts and a real extreme-survival mechanism. We think that's the better trade, and we're showing our work either way.</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sp>
        <p:nvSpPr>
          <p:cNvPr id="4" name="Text 2"/>
          <p:cNvSpPr txBox="1"/>
          <p:nvPr/>
        </p:nvSpPr>
        <p:spPr>
          <a:xfrm>
            <a:off x="640080" y="1737360"/>
            <a:ext cx="6126480" cy="32004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Grounding confidence (qualitative, not a measured score)</a:t>
            </a:r>
            <a:endParaRPr lang="en-US" sz="1150" dirty="0"/>
          </a:p>
        </p:txBody>
      </p:sp>
      <p:sp>
        <p:nvSpPr>
          <p:cNvPr id="5" name="Text 3"/>
          <p:cNvSpPr txBox="1"/>
          <p:nvPr/>
        </p:nvSpPr>
        <p:spPr>
          <a:xfrm>
            <a:off x="640080" y="2148840"/>
            <a:ext cx="6126480" cy="274320"/>
          </a:xfrm>
          <a:prstGeom prst="rect">
            <a:avLst/>
          </a:prstGeom>
          <a:noFill/>
          <a:ln/>
        </p:spPr>
        <p:txBody>
          <a:bodyPr wrap="square" lIns="0" tIns="0" rIns="0" bIns="0" rtlCol="0" anchor="ctr"/>
          <a:lstStyle/>
          <a:p>
            <a:pPr indent="0" marL="0">
              <a:buNone/>
            </a:pPr>
            <a:r>
              <a:rPr lang="en-US" sz="1250" b="1" dirty="0">
                <a:solidFill>
                  <a:srgbClr val="16232F"/>
                </a:solidFill>
                <a:latin typeface="Calibri" pitchFamily="34" charset="0"/>
                <a:ea typeface="Calibri" pitchFamily="34" charset="-122"/>
                <a:cs typeface="Calibri" pitchFamily="34" charset="-120"/>
              </a:rPr>
              <a:t>B. subtilis, engineered circuit</a:t>
            </a:r>
            <a:endParaRPr lang="en-US" sz="1250" dirty="0"/>
          </a:p>
        </p:txBody>
      </p:sp>
      <p:sp>
        <p:nvSpPr>
          <p:cNvPr id="6" name="Shape 4"/>
          <p:cNvSpPr/>
          <p:nvPr/>
        </p:nvSpPr>
        <p:spPr>
          <a:xfrm>
            <a:off x="640080" y="2468880"/>
            <a:ext cx="5120640" cy="457200"/>
          </a:xfrm>
          <a:prstGeom prst="roundRect">
            <a:avLst>
              <a:gd name="adj" fmla="val 8000"/>
            </a:avLst>
          </a:prstGeom>
          <a:solidFill>
            <a:srgbClr val="E4E9EA"/>
          </a:solidFill>
          <a:ln/>
        </p:spPr>
      </p:sp>
      <p:sp>
        <p:nvSpPr>
          <p:cNvPr id="7" name="Shape 5"/>
          <p:cNvSpPr/>
          <p:nvPr/>
        </p:nvSpPr>
        <p:spPr>
          <a:xfrm>
            <a:off x="640080" y="2468880"/>
            <a:ext cx="5120640" cy="457200"/>
          </a:xfrm>
          <a:prstGeom prst="roundRect">
            <a:avLst>
              <a:gd name="adj" fmla="val 8000"/>
            </a:avLst>
          </a:prstGeom>
          <a:solidFill>
            <a:srgbClr val="2EC4B6"/>
          </a:solidFill>
          <a:ln/>
        </p:spPr>
      </p:sp>
      <p:sp>
        <p:nvSpPr>
          <p:cNvPr id="8" name="Text 6"/>
          <p:cNvSpPr txBox="1"/>
          <p:nvPr/>
        </p:nvSpPr>
        <p:spPr>
          <a:xfrm>
            <a:off x="5852160" y="2441448"/>
            <a:ext cx="914400" cy="502920"/>
          </a:xfrm>
          <a:prstGeom prst="rect">
            <a:avLst/>
          </a:prstGeom>
          <a:noFill/>
          <a:ln/>
        </p:spPr>
        <p:txBody>
          <a:bodyPr wrap="square" lIns="0" tIns="0" rIns="0" bIns="0" rtlCol="0" anchor="ctr"/>
          <a:lstStyle/>
          <a:p>
            <a:pPr indent="0" marL="0">
              <a:buNone/>
            </a:pPr>
            <a:r>
              <a:rPr lang="en-US" sz="1200" b="1" dirty="0">
                <a:solidFill>
                  <a:srgbClr val="16232F"/>
                </a:solidFill>
                <a:latin typeface="Calibri" pitchFamily="34" charset="0"/>
                <a:ea typeface="Calibri" pitchFamily="34" charset="-122"/>
                <a:cs typeface="Calibri" pitchFamily="34" charset="-120"/>
              </a:rPr>
              <a:t>Highest</a:t>
            </a:r>
            <a:endParaRPr lang="en-US" sz="1200" dirty="0"/>
          </a:p>
        </p:txBody>
      </p:sp>
      <p:sp>
        <p:nvSpPr>
          <p:cNvPr id="9" name="Text 7"/>
          <p:cNvSpPr txBox="1"/>
          <p:nvPr/>
        </p:nvSpPr>
        <p:spPr>
          <a:xfrm>
            <a:off x="640080" y="3154680"/>
            <a:ext cx="6126480" cy="274320"/>
          </a:xfrm>
          <a:prstGeom prst="rect">
            <a:avLst/>
          </a:prstGeom>
          <a:noFill/>
          <a:ln/>
        </p:spPr>
        <p:txBody>
          <a:bodyPr wrap="square" lIns="0" tIns="0" rIns="0" bIns="0" rtlCol="0" anchor="ctr"/>
          <a:lstStyle/>
          <a:p>
            <a:pPr indent="0" marL="0">
              <a:buNone/>
            </a:pPr>
            <a:r>
              <a:rPr lang="en-US" sz="1250" b="1" dirty="0">
                <a:solidFill>
                  <a:srgbClr val="16232F"/>
                </a:solidFill>
                <a:latin typeface="Calibri" pitchFamily="34" charset="0"/>
                <a:ea typeface="Calibri" pitchFamily="34" charset="-122"/>
                <a:cs typeface="Calibri" pitchFamily="34" charset="-120"/>
              </a:rPr>
              <a:t>B. subtilis, methylation</a:t>
            </a:r>
            <a:endParaRPr lang="en-US" sz="1250" dirty="0"/>
          </a:p>
        </p:txBody>
      </p:sp>
      <p:sp>
        <p:nvSpPr>
          <p:cNvPr id="10" name="Shape 8"/>
          <p:cNvSpPr/>
          <p:nvPr/>
        </p:nvSpPr>
        <p:spPr>
          <a:xfrm>
            <a:off x="640080" y="3474720"/>
            <a:ext cx="5120640" cy="457200"/>
          </a:xfrm>
          <a:prstGeom prst="roundRect">
            <a:avLst>
              <a:gd name="adj" fmla="val 8000"/>
            </a:avLst>
          </a:prstGeom>
          <a:solidFill>
            <a:srgbClr val="E4E9EA"/>
          </a:solidFill>
          <a:ln/>
        </p:spPr>
      </p:sp>
      <p:sp>
        <p:nvSpPr>
          <p:cNvPr id="11" name="Shape 9"/>
          <p:cNvSpPr/>
          <p:nvPr/>
        </p:nvSpPr>
        <p:spPr>
          <a:xfrm>
            <a:off x="640080" y="3474720"/>
            <a:ext cx="3072384" cy="457200"/>
          </a:xfrm>
          <a:prstGeom prst="roundRect">
            <a:avLst>
              <a:gd name="adj" fmla="val 8000"/>
            </a:avLst>
          </a:prstGeom>
          <a:solidFill>
            <a:srgbClr val="E8A33D"/>
          </a:solidFill>
          <a:ln/>
        </p:spPr>
      </p:sp>
      <p:sp>
        <p:nvSpPr>
          <p:cNvPr id="12" name="Text 10"/>
          <p:cNvSpPr txBox="1"/>
          <p:nvPr/>
        </p:nvSpPr>
        <p:spPr>
          <a:xfrm>
            <a:off x="3803904" y="3447288"/>
            <a:ext cx="914400" cy="502920"/>
          </a:xfrm>
          <a:prstGeom prst="rect">
            <a:avLst/>
          </a:prstGeom>
          <a:noFill/>
          <a:ln/>
        </p:spPr>
        <p:txBody>
          <a:bodyPr wrap="square" lIns="0" tIns="0" rIns="0" bIns="0" rtlCol="0" anchor="ctr"/>
          <a:lstStyle/>
          <a:p>
            <a:pPr indent="0" marL="0">
              <a:buNone/>
            </a:pPr>
            <a:r>
              <a:rPr lang="en-US" sz="1200" b="1" dirty="0">
                <a:solidFill>
                  <a:srgbClr val="16232F"/>
                </a:solidFill>
                <a:latin typeface="Calibri" pitchFamily="34" charset="0"/>
                <a:ea typeface="Calibri" pitchFamily="34" charset="-122"/>
                <a:cs typeface="Calibri" pitchFamily="34" charset="-120"/>
              </a:rPr>
              <a:t>Medium</a:t>
            </a:r>
            <a:endParaRPr lang="en-US" sz="1200" dirty="0"/>
          </a:p>
        </p:txBody>
      </p:sp>
      <p:sp>
        <p:nvSpPr>
          <p:cNvPr id="13" name="Text 11"/>
          <p:cNvSpPr txBox="1"/>
          <p:nvPr/>
        </p:nvSpPr>
        <p:spPr>
          <a:xfrm>
            <a:off x="640080" y="4160520"/>
            <a:ext cx="6126480" cy="274320"/>
          </a:xfrm>
          <a:prstGeom prst="rect">
            <a:avLst/>
          </a:prstGeom>
          <a:noFill/>
          <a:ln/>
        </p:spPr>
        <p:txBody>
          <a:bodyPr wrap="square" lIns="0" tIns="0" rIns="0" bIns="0" rtlCol="0" anchor="ctr"/>
          <a:lstStyle/>
          <a:p>
            <a:pPr indent="0" marL="0">
              <a:buNone/>
            </a:pPr>
            <a:r>
              <a:rPr lang="en-US" sz="1250" b="1" dirty="0">
                <a:solidFill>
                  <a:srgbClr val="16232F"/>
                </a:solidFill>
                <a:latin typeface="Calibri" pitchFamily="34" charset="0"/>
                <a:ea typeface="Calibri" pitchFamily="34" charset="-122"/>
                <a:cs typeface="Calibri" pitchFamily="34" charset="-120"/>
              </a:rPr>
              <a:t>Planarian, bioelectric circuit</a:t>
            </a:r>
            <a:endParaRPr lang="en-US" sz="1250" dirty="0"/>
          </a:p>
        </p:txBody>
      </p:sp>
      <p:sp>
        <p:nvSpPr>
          <p:cNvPr id="14" name="Shape 12"/>
          <p:cNvSpPr/>
          <p:nvPr/>
        </p:nvSpPr>
        <p:spPr>
          <a:xfrm>
            <a:off x="640080" y="4480560"/>
            <a:ext cx="5120640" cy="457200"/>
          </a:xfrm>
          <a:prstGeom prst="roundRect">
            <a:avLst>
              <a:gd name="adj" fmla="val 8000"/>
            </a:avLst>
          </a:prstGeom>
          <a:solidFill>
            <a:srgbClr val="E4E9EA"/>
          </a:solidFill>
          <a:ln/>
        </p:spPr>
      </p:sp>
      <p:sp>
        <p:nvSpPr>
          <p:cNvPr id="15" name="Shape 13"/>
          <p:cNvSpPr/>
          <p:nvPr/>
        </p:nvSpPr>
        <p:spPr>
          <a:xfrm>
            <a:off x="640080" y="4480560"/>
            <a:ext cx="1536192" cy="457200"/>
          </a:xfrm>
          <a:prstGeom prst="roundRect">
            <a:avLst>
              <a:gd name="adj" fmla="val 8000"/>
            </a:avLst>
          </a:prstGeom>
          <a:solidFill>
            <a:srgbClr val="E8604C"/>
          </a:solidFill>
          <a:ln/>
        </p:spPr>
      </p:sp>
      <p:sp>
        <p:nvSpPr>
          <p:cNvPr id="16" name="Text 14"/>
          <p:cNvSpPr txBox="1"/>
          <p:nvPr/>
        </p:nvSpPr>
        <p:spPr>
          <a:xfrm>
            <a:off x="2267712" y="4453128"/>
            <a:ext cx="914400" cy="502920"/>
          </a:xfrm>
          <a:prstGeom prst="rect">
            <a:avLst/>
          </a:prstGeom>
          <a:noFill/>
          <a:ln/>
        </p:spPr>
        <p:txBody>
          <a:bodyPr wrap="square" lIns="0" tIns="0" rIns="0" bIns="0" rtlCol="0" anchor="ctr"/>
          <a:lstStyle/>
          <a:p>
            <a:pPr indent="0" marL="0">
              <a:buNone/>
            </a:pPr>
            <a:r>
              <a:rPr lang="en-US" sz="1200" b="1" dirty="0">
                <a:solidFill>
                  <a:srgbClr val="16232F"/>
                </a:solidFill>
                <a:latin typeface="Calibri" pitchFamily="34" charset="0"/>
                <a:ea typeface="Calibri" pitchFamily="34" charset="-122"/>
                <a:cs typeface="Calibri" pitchFamily="34" charset="-120"/>
              </a:rPr>
              <a:t>Lowest</a:t>
            </a:r>
            <a:endParaRPr lang="en-US" sz="1200" dirty="0"/>
          </a:p>
        </p:txBody>
      </p:sp>
      <p:sp>
        <p:nvSpPr>
          <p:cNvPr id="17" name="Text 15"/>
          <p:cNvSpPr txBox="1"/>
          <p:nvPr/>
        </p:nvSpPr>
        <p:spPr>
          <a:xfrm>
            <a:off x="640080" y="5212080"/>
            <a:ext cx="6126480" cy="594360"/>
          </a:xfrm>
          <a:prstGeom prst="rect">
            <a:avLst/>
          </a:prstGeom>
          <a:noFill/>
          <a:ln/>
        </p:spPr>
        <p:txBody>
          <a:bodyPr wrap="square" lIns="0" tIns="0" rIns="0" bIns="0" rtlCol="0" anchor="ctr"/>
          <a:lstStyle/>
          <a:p>
            <a:pPr indent="0" marL="0">
              <a:lnSpc>
                <a:spcPct val="115000"/>
              </a:lnSpc>
              <a:buNone/>
            </a:pPr>
            <a:r>
              <a:rPr lang="en-US" sz="1100" i="1" dirty="0">
                <a:solidFill>
                  <a:srgbClr val="5B6B77"/>
                </a:solidFill>
                <a:latin typeface="Calibri" pitchFamily="34" charset="0"/>
                <a:ea typeface="Calibri" pitchFamily="34" charset="-122"/>
                <a:cs typeface="Calibri" pitchFamily="34" charset="-120"/>
              </a:rPr>
              <a:t>All three numerically tie at ~2% surviving-cell recovery threshold, that number alone doesn't rank them; grounding confidence, shown above, does.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19" name="Text 16"/>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20"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15000"/>
              </a:lnSpc>
              <a:buNone/>
            </a:pPr>
            <a:r>
              <a:rPr lang="en-US" sz="120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0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15000"/>
              </a:lnSpc>
              <a:buNone/>
            </a:pPr>
            <a:r>
              <a:rPr lang="en-US" sz="120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0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We tested three fixes, honestly</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15000"/>
              </a:lnSpc>
              <a:buNone/>
            </a:pPr>
            <a:r>
              <a:rPr lang="en-US" sz="1200" dirty="0">
                <a:solidFill>
                  <a:srgbClr val="5B6B77"/>
                </a:solidFill>
                <a:latin typeface="Calibri" pitchFamily="34" charset="0"/>
                <a:ea typeface="Calibri" pitchFamily="34" charset="-122"/>
                <a:cs typeface="Calibri" pitchFamily="34" charset="-120"/>
              </a:rPr>
              <a:t>Reading longer works (integrate ~3h, back to ~100%). Timing a quick read to the oscillation's quiet moments mostly doesn't, even with perfect timing. Reducing the interference at its source helps a lot, but only at moderate real-world strength, not the worst case.</a:t>
            </a:r>
            <a:endParaRPr lang="en-US" sz="120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lnSpc>
                <a:spcPct val="115000"/>
              </a:lnSpc>
              <a:buNone/>
            </a:pPr>
            <a:r>
              <a:rPr lang="en-US" sz="1200" b="1" dirty="0">
                <a:solidFill>
                  <a:srgbClr val="16232F"/>
                </a:solidFill>
                <a:latin typeface="Calibri" pitchFamily="34" charset="0"/>
                <a:ea typeface="Calibri" pitchFamily="34" charset="-122"/>
                <a:cs typeface="Calibri" pitchFamily="34" charset="-120"/>
              </a:rPr>
              <a:t>The cleaner fix: don't read voltage at all.  </a:t>
            </a:r>
            <a:pPr indent="0" marL="0">
              <a:lnSpc>
                <a:spcPct val="115000"/>
              </a:lnSpc>
              <a:buNone/>
            </a:pPr>
            <a:r>
              <a:rPr lang="en-US" sz="1200" dirty="0">
                <a:solidFill>
                  <a:srgbClr val="5B6B77"/>
                </a:solidFill>
                <a:latin typeface="Calibri" pitchFamily="34" charset="0"/>
                <a:ea typeface="Calibri" pitchFamily="34" charset="-122"/>
                <a:cs typeface="Calibri" pitchFamily="34" charset="-120"/>
              </a:rPr>
              <a:t>A fluorescent reporter (glow instead of voltage) tracks the underlying circuit's state exactly, with no interference from this oscillation, by mechanism, not luck, it doesn't share the electrical pathway the native signal rides on. See the next slide for what that changes.</a:t>
            </a:r>
            <a:endParaRPr lang="en-US" sz="12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CLEANER READOUT</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A glow instead of a voltage, and it holds up through actual damage and regrowth</a:t>
            </a:r>
            <a:endParaRPr lang="en-US" sz="2300" dirty="0"/>
          </a:p>
        </p:txBody>
      </p:sp>
      <p:sp>
        <p:nvSpPr>
          <p:cNvPr id="4" name="Shape 2"/>
          <p:cNvSpPr/>
          <p:nvPr/>
        </p:nvSpPr>
        <p:spPr>
          <a:xfrm>
            <a:off x="640080" y="1828800"/>
            <a:ext cx="6675120" cy="4160520"/>
          </a:xfrm>
          <a:prstGeom prst="roundRect">
            <a:avLst>
              <a:gd name="adj" fmla="val 1758"/>
            </a:avLst>
          </a:prstGeom>
          <a:solidFill>
            <a:srgbClr val="FFFFFF"/>
          </a:solidFill>
          <a:ln w="12700">
            <a:solidFill>
              <a:srgbClr val="DCE3E6"/>
            </a:solidFill>
            <a:prstDash val="solid"/>
          </a:ln>
        </p:spPr>
      </p:sp>
      <p:sp>
        <p:nvSpPr>
          <p:cNvPr id="5" name="Text 3"/>
          <p:cNvSpPr txBox="1"/>
          <p:nvPr/>
        </p:nvSpPr>
        <p:spPr>
          <a:xfrm>
            <a:off x="914400" y="205740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Why it sidesteps the problem, not just avoids it</a:t>
            </a:r>
            <a:endParaRPr lang="en-US" sz="1500" dirty="0"/>
          </a:p>
        </p:txBody>
      </p:sp>
      <p:sp>
        <p:nvSpPr>
          <p:cNvPr id="6" name="Text 4"/>
          <p:cNvSpPr txBox="1"/>
          <p:nvPr/>
        </p:nvSpPr>
        <p:spPr>
          <a:xfrm>
            <a:off x="914400" y="2514600"/>
            <a:ext cx="6217920" cy="2011680"/>
          </a:xfrm>
          <a:prstGeom prst="rect">
            <a:avLst/>
          </a:prstGeom>
          <a:noFill/>
          <a:ln/>
        </p:spPr>
        <p:txBody>
          <a:bodyPr wrap="square" lIns="0" tIns="0" rIns="0" bIns="0" rtlCol="0" anchor="ctr"/>
          <a:lstStyle/>
          <a:p>
            <a:pPr indent="0" marL="0">
              <a:lnSpc>
                <a:spcPct val="120000"/>
              </a:lnSpc>
              <a:spcAft>
                <a:spcPts val="1000"/>
              </a:spcAft>
              <a:buNone/>
            </a:pPr>
            <a:r>
              <a:rPr lang="en-US" sz="1250" dirty="0">
                <a:solidFill>
                  <a:srgbClr val="5B6B77"/>
                </a:solidFill>
                <a:latin typeface="Calibri" pitchFamily="34" charset="0"/>
                <a:ea typeface="Calibri" pitchFamily="34" charset="-122"/>
                <a:cs typeface="Calibri" pitchFamily="34" charset="-120"/>
              </a:rPr>
              <a:t>Every voltage-based readout depends on a repressor-to-ion-channel link nobody has built (no prior art, in any organism). A fluorescent reporter (GFP for one state, RFP for the other) reads the circuit's state directly at the transcriptional level instead, the same standard method the field already uses for exactly this kind of circuit.</a:t>
            </a:r>
            <a:endParaRPr lang="en-US" sz="1250" dirty="0"/>
          </a:p>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native oscillation is voltage-gated potassium-channel activity. Nothing in the cited literature proposes a mechanism by which it would also affect transcription or protein maturation, so this isn't a workaround, it's a different physical pathway entirely.</a:t>
            </a:r>
            <a:endParaRPr lang="en-US" sz="1250" dirty="0"/>
          </a:p>
        </p:txBody>
      </p:sp>
      <p:sp>
        <p:nvSpPr>
          <p:cNvPr id="7" name="Shape 5"/>
          <p:cNvSpPr/>
          <p:nvPr/>
        </p:nvSpPr>
        <p:spPr>
          <a:xfrm>
            <a:off x="914400" y="4663440"/>
            <a:ext cx="6217920" cy="0"/>
          </a:xfrm>
          <a:prstGeom prst="line">
            <a:avLst/>
          </a:prstGeom>
          <a:noFill/>
          <a:ln w="12700">
            <a:solidFill>
              <a:srgbClr val="E4E9EA"/>
            </a:solidFill>
            <a:prstDash val="solid"/>
          </a:ln>
        </p:spPr>
      </p:sp>
      <p:sp>
        <p:nvSpPr>
          <p:cNvPr id="8" name="Text 6"/>
          <p:cNvSpPr txBox="1"/>
          <p:nvPr/>
        </p:nvSpPr>
        <p:spPr>
          <a:xfrm>
            <a:off x="914400" y="4800600"/>
            <a:ext cx="6217920" cy="1097280"/>
          </a:xfrm>
          <a:prstGeom prst="rect">
            <a:avLst/>
          </a:prstGeom>
          <a:noFill/>
          <a:ln/>
        </p:spPr>
        <p:txBody>
          <a:bodyPr wrap="square" lIns="0" tIns="0" rIns="0" bIns="0" rtlCol="0" anchor="ctr"/>
          <a:lstStyle/>
          <a:p>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Tested through damage and regrowth, not just in isolation:  </a:t>
            </a:r>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smash a colony down to 2% of its cells, let it regrow by ordinary division, the glow still shows the correct bit, 100% of the time, zero gap versus the underlying genetic state.</a:t>
            </a:r>
            <a:endParaRPr lang="en-US" sz="1250" dirty="0"/>
          </a:p>
        </p:txBody>
      </p:sp>
      <p:sp>
        <p:nvSpPr>
          <p:cNvPr id="9" name="Shape 7"/>
          <p:cNvSpPr/>
          <p:nvPr/>
        </p:nvSpPr>
        <p:spPr>
          <a:xfrm>
            <a:off x="7543800" y="1828800"/>
            <a:ext cx="4023360" cy="1965960"/>
          </a:xfrm>
          <a:prstGeom prst="roundRect">
            <a:avLst>
              <a:gd name="adj" fmla="val 3721"/>
            </a:avLst>
          </a:prstGeom>
          <a:solidFill>
            <a:srgbClr val="0B1F3A"/>
          </a:solidFill>
          <a:ln/>
        </p:spPr>
      </p:sp>
      <p:sp>
        <p:nvSpPr>
          <p:cNvPr id="10" name="Text 8"/>
          <p:cNvSpPr txBox="1"/>
          <p:nvPr/>
        </p:nvSpPr>
        <p:spPr>
          <a:xfrm>
            <a:off x="7772400" y="1965960"/>
            <a:ext cx="3566160" cy="77724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100%</a:t>
            </a:r>
            <a:endParaRPr lang="en-US" sz="3400" dirty="0"/>
          </a:p>
        </p:txBody>
      </p:sp>
      <p:sp>
        <p:nvSpPr>
          <p:cNvPr id="11" name="Text 9"/>
          <p:cNvSpPr txBox="1"/>
          <p:nvPr/>
        </p:nvSpPr>
        <p:spPr>
          <a:xfrm>
            <a:off x="7772400" y="265176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Reporter fidelity through damage + regrowth, matching the genetic result exactly, at every surviving fraction from 2% up</a:t>
            </a:r>
            <a:endParaRPr lang="en-US" sz="1150" dirty="0"/>
          </a:p>
        </p:txBody>
      </p:sp>
      <p:sp>
        <p:nvSpPr>
          <p:cNvPr id="12" name="Shape 10"/>
          <p:cNvSpPr/>
          <p:nvPr/>
        </p:nvSpPr>
        <p:spPr>
          <a:xfrm>
            <a:off x="7543800" y="3977640"/>
            <a:ext cx="4023360" cy="2011680"/>
          </a:xfrm>
          <a:prstGeom prst="roundRect">
            <a:avLst>
              <a:gd name="adj" fmla="val 3636"/>
            </a:avLst>
          </a:prstGeom>
          <a:solidFill>
            <a:srgbClr val="0B1F3A"/>
          </a:solidFill>
          <a:ln/>
        </p:spPr>
      </p:sp>
      <p:sp>
        <p:nvSpPr>
          <p:cNvPr id="13" name="Text 11"/>
          <p:cNvSpPr txBox="1"/>
          <p:nvPr/>
        </p:nvSpPr>
        <p:spPr>
          <a:xfrm>
            <a:off x="7772400" y="4114800"/>
            <a:ext cx="3566160" cy="548640"/>
          </a:xfrm>
          <a:prstGeom prst="rect">
            <a:avLst/>
          </a:prstGeom>
          <a:noFill/>
          <a:ln/>
        </p:spPr>
        <p:txBody>
          <a:bodyPr wrap="square" lIns="0" tIns="0" rIns="0" bIns="0" rtlCol="0" anchor="ctr"/>
          <a:lstStyle/>
          <a:p>
            <a:pPr indent="0" marL="0">
              <a:buNone/>
            </a:pPr>
            <a:r>
              <a:rPr lang="en-US" sz="2200" b="1" dirty="0">
                <a:solidFill>
                  <a:srgbClr val="E8A33D"/>
                </a:solidFill>
                <a:latin typeface="Cambria" pitchFamily="34" charset="0"/>
                <a:ea typeface="Cambria" pitchFamily="34" charset="-122"/>
                <a:cs typeface="Cambria" pitchFamily="34" charset="-120"/>
              </a:rPr>
              <a:t>Not new</a:t>
            </a:r>
            <a:endParaRPr lang="en-US" sz="2200" dirty="0"/>
          </a:p>
        </p:txBody>
      </p:sp>
      <p:sp>
        <p:nvSpPr>
          <p:cNvPr id="14" name="Text 12"/>
          <p:cNvSpPr txBox="1"/>
          <p:nvPr/>
        </p:nvSpPr>
        <p:spPr>
          <a:xfrm>
            <a:off x="7772400" y="4709160"/>
            <a:ext cx="3566160" cy="118872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Our own staged validation plan already opens with this exact reporter assay, before any electrical readout is attempted</a:t>
            </a:r>
            <a:endParaRPr lang="en-US" sz="115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Five computational results, explained for a scientist and for everyone else</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972800" cy="4846320"/>
        </p:xfrm>
        <a:graphic>
          <a:graphicData uri="http://schemas.openxmlformats.org/drawingml/2006/table">
            <a:tbl>
              <a:tblPr/>
              <a:tblGrid>
                <a:gridCol w="2377440"/>
                <a:gridCol w="4480560"/>
                <a:gridCol w="4114800"/>
              </a:tblGrid>
              <a:tr h="4114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Finding</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Technical (for a scientist)</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Plain English (for everyone else)</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86968">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Passive persistence fails</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A cell just holding a charge on its own is like a coin balanced on its edge, it falls over almost immediately.</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86968">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Engineered circuit works across its whole practical design range</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Gardner topology + Bacillus BioBrick Box parts holds state at 100% fidelity at 24 hours for any promoter pair within the BBB's entire characterized 1.0x-10.0x strength range; only pushing far outside the catalog, to a severe 0.1x mismatch, collapses fidelity to 50%, a monostable dead switch.</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The circuit is a light switch held by two springs. Any pair of springs from the parts catalog, even fairly different strengths, holds the switch fine. Only deliberately grabbing two wildly mismatched springs, far outside what the catalog offers, gets the switch stuck at "off".</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86968">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Bacteria beats planaria on evidence, for now</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Betting on the organism with a measured mechanism is like betting on a scale you've calibrated, not one you're guessing the weight of.</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86968">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A new, real risk found before it was asked about</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86968">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The reporter fix holds through damage, not just in a clean run</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GFP/RFP reporter fidelity matches genetic fidelity exactly through division-based damage/regrowth, 100% from 2% surviving cells up, 0% gap versus the underlying circuit at every level tested.</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00" dirty="0">
                          <a:solidFill>
                            <a:srgbClr val="16232F"/>
                          </a:solidFill>
                          <a:latin typeface="Calibri" pitchFamily="34" charset="0"/>
                          <a:ea typeface="Calibri" pitchFamily="34" charset="-122"/>
                          <a:cs typeface="Calibri" pitchFamily="34" charset="-120"/>
                        </a:rPr>
                        <a:t>It's not just that the note stays legible, the photocopy of the note stays legible too, even after the notebook gets torn up and heals itself.</a:t>
                      </a:r>
                      <a:endParaRPr lang="en-US" sz="10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(fluorescent reporter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borrowing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EVIDENCE THE NEED IS REAL, NOT A MARKET-SIZE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We are not sizing a market yet. Here are two real, externally-verifiable numbers showing the underlying need</a:t>
            </a:r>
            <a:endParaRPr lang="en-US" sz="22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one customer already pays to avoid downtime, on a different product</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cognition, not memory storage): $35,000/unit, replaced every 6 months, zero self-repair. Not a price for storage, a data point that this market already tolerates paying real money to avoid unplanned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whole radiation-hardened electronics market, not a memory-specific figure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Memory is only a slice of this figure, and we are not estimating that slice. We're citing it as evidence the demand driver is real and growing, nothing more.</a:t>
            </a:r>
            <a:endParaRPr lang="en-US" sz="1200" dirty="0"/>
          </a:p>
        </p:txBody>
      </p:sp>
      <p:sp>
        <p:nvSpPr>
          <p:cNvPr id="12" name="Text 10"/>
          <p:cNvSpPr txBox="1"/>
          <p:nvPr/>
        </p:nvSpPr>
        <p:spPr>
          <a:xfrm>
            <a:off x="640080" y="5943600"/>
            <a:ext cx="10972800" cy="685800"/>
          </a:xfrm>
          <a:prstGeom prst="rect">
            <a:avLst/>
          </a:prstGeom>
          <a:noFill/>
          <a:ln/>
        </p:spPr>
        <p:txBody>
          <a:bodyPr wrap="square" lIns="0" tIns="0" rIns="0" bIns="0" rtlCol="0" anchor="ctr"/>
          <a:lstStyle/>
          <a:p>
            <a:pPr indent="0" marL="0">
              <a:lnSpc>
                <a:spcPct val="115000"/>
              </a:lnSpc>
              <a:buNone/>
            </a:pPr>
            <a:r>
              <a:rPr lang="en-US" sz="1250" i="1" dirty="0">
                <a:solidFill>
                  <a:srgbClr val="AEC2C8"/>
                </a:solidFill>
                <a:latin typeface="Calibri" pitchFamily="34" charset="0"/>
                <a:ea typeface="Calibri" pitchFamily="34" charset="-122"/>
                <a:cs typeface="Calibri" pitchFamily="34" charset="-120"/>
              </a:rPr>
              <a:t>Neither number is a forecast for Acheron. This upside is entirely conditional on the roadmap experiment below succeeding, and we haven't tried to price it in advance. We're asking for what it costs to find out.</a:t>
            </a:r>
            <a:endParaRPr lang="en-US" sz="12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THIS BECOMES, IF STAGE 0 SUCCEEDS</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400" b="1" dirty="0">
                <a:solidFill>
                  <a:srgbClr val="16232F"/>
                </a:solidFill>
                <a:latin typeface="Cambria" pitchFamily="34" charset="0"/>
                <a:ea typeface="Cambria" pitchFamily="34" charset="-122"/>
                <a:cs typeface="Cambria" pitchFamily="34" charset="-120"/>
              </a:rPr>
              <a:t>Two objects: a sealed, disposable cartridge, and a reusable reader</a:t>
            </a:r>
            <a:endParaRPr lang="en-US" sz="2400" dirty="0"/>
          </a:p>
        </p:txBody>
      </p:sp>
      <p:sp>
        <p:nvSpPr>
          <p:cNvPr id="4" name="Text 2"/>
          <p:cNvSpPr txBox="1"/>
          <p:nvPr/>
        </p:nvSpPr>
        <p:spPr>
          <a:xfrm>
            <a:off x="640080" y="1417320"/>
            <a:ext cx="1088136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Illustrative, not an engineering drawing. Every labeled part traces to a result already in this deck or our audit.</a:t>
            </a:r>
            <a:endParaRPr lang="en-US" sz="1150" dirty="0"/>
          </a:p>
        </p:txBody>
      </p:sp>
      <p:sp>
        <p:nvSpPr>
          <p:cNvPr id="5" name="Shape 3"/>
          <p:cNvSpPr/>
          <p:nvPr/>
        </p:nvSpPr>
        <p:spPr>
          <a:xfrm>
            <a:off x="640080" y="1965960"/>
            <a:ext cx="5394960" cy="4160520"/>
          </a:xfrm>
          <a:prstGeom prst="roundRect">
            <a:avLst>
              <a:gd name="adj" fmla="val 2198"/>
            </a:avLst>
          </a:prstGeom>
          <a:solidFill>
            <a:srgbClr val="0B1F3A"/>
          </a:solidFill>
          <a:ln/>
        </p:spPr>
      </p:sp>
      <p:sp>
        <p:nvSpPr>
          <p:cNvPr id="6" name="Text 4"/>
          <p:cNvSpPr txBox="1"/>
          <p:nvPr/>
        </p:nvSpPr>
        <p:spPr>
          <a:xfrm>
            <a:off x="914400" y="2148840"/>
            <a:ext cx="4846320" cy="320040"/>
          </a:xfrm>
          <a:prstGeom prst="rect">
            <a:avLst/>
          </a:prstGeom>
          <a:noFill/>
          <a:ln/>
        </p:spPr>
        <p:txBody>
          <a:bodyPr wrap="square" lIns="0" tIns="0" rIns="0" bIns="0" rtlCol="0" anchor="ctr"/>
          <a:lstStyle/>
          <a:p>
            <a:pPr indent="0" marL="0">
              <a:buNone/>
            </a:pPr>
            <a:r>
              <a:rPr lang="en-US" sz="1200" b="1" spc="100" kern="0" dirty="0">
                <a:solidFill>
                  <a:srgbClr val="2EC4B6"/>
                </a:solidFill>
                <a:latin typeface="Calibri" pitchFamily="34" charset="0"/>
                <a:ea typeface="Calibri" pitchFamily="34" charset="-122"/>
                <a:cs typeface="Calibri" pitchFamily="34" charset="-120"/>
              </a:rPr>
              <a:t>CARTRIDGE, sealed &amp; bio-safe</a:t>
            </a:r>
            <a:endParaRPr lang="en-US" sz="1200" dirty="0"/>
          </a:p>
        </p:txBody>
      </p:sp>
      <p:sp>
        <p:nvSpPr>
          <p:cNvPr id="7" name="Shape 5"/>
          <p:cNvSpPr/>
          <p:nvPr/>
        </p:nvSpPr>
        <p:spPr>
          <a:xfrm>
            <a:off x="914400" y="2606040"/>
            <a:ext cx="1600200" cy="1554480"/>
          </a:xfrm>
          <a:prstGeom prst="roundRect">
            <a:avLst>
              <a:gd name="adj" fmla="val 3529"/>
            </a:avLst>
          </a:prstGeom>
          <a:solidFill>
            <a:srgbClr val="132A4D"/>
          </a:solidFill>
          <a:ln w="12700">
            <a:solidFill>
              <a:srgbClr val="2A4463"/>
            </a:solidFill>
            <a:prstDash val="solid"/>
          </a:ln>
        </p:spPr>
      </p:sp>
      <p:sp>
        <p:nvSpPr>
          <p:cNvPr id="8" name="Shape 6"/>
          <p:cNvSpPr/>
          <p:nvPr/>
        </p:nvSpPr>
        <p:spPr>
          <a:xfrm>
            <a:off x="1421892" y="2788920"/>
            <a:ext cx="585216" cy="585216"/>
          </a:xfrm>
          <a:prstGeom prst="ellipse">
            <a:avLst/>
          </a:prstGeom>
          <a:solidFill>
            <a:srgbClr val="6E7F91">
              <a:alpha val="40000"/>
            </a:srgbClr>
          </a:solidFill>
          <a:ln w="19050">
            <a:solidFill>
              <a:srgbClr val="6E7F91"/>
            </a:solidFill>
            <a:prstDash val="solid"/>
          </a:ln>
        </p:spPr>
      </p:sp>
      <p:sp>
        <p:nvSpPr>
          <p:cNvPr id="9" name="Text 7"/>
          <p:cNvSpPr txBox="1"/>
          <p:nvPr/>
        </p:nvSpPr>
        <p:spPr>
          <a:xfrm>
            <a:off x="987552" y="3493008"/>
            <a:ext cx="145389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Resting</a:t>
            </a:r>
            <a:endParaRPr lang="en-US" sz="1050" dirty="0"/>
          </a:p>
        </p:txBody>
      </p:sp>
      <p:sp>
        <p:nvSpPr>
          <p:cNvPr id="10" name="Text 8"/>
          <p:cNvSpPr txBox="1"/>
          <p:nvPr/>
        </p:nvSpPr>
        <p:spPr>
          <a:xfrm>
            <a:off x="987552" y="3749040"/>
            <a:ext cx="1453896" cy="411480"/>
          </a:xfrm>
          <a:prstGeom prst="rect">
            <a:avLst/>
          </a:prstGeom>
          <a:noFill/>
          <a:ln/>
        </p:spPr>
        <p:txBody>
          <a:bodyPr wrap="square" lIns="0" tIns="0" rIns="0" bIns="0" rtlCol="0" anchor="ctr"/>
          <a:lstStyle/>
          <a:p>
            <a:pPr algn="ctr" indent="0" marL="0">
              <a:lnSpc>
                <a:spcPct val="110000"/>
              </a:lnSpc>
              <a:buNone/>
            </a:pPr>
            <a:r>
              <a:rPr lang="en-US" sz="850" dirty="0">
                <a:solidFill>
                  <a:srgbClr val="AEC2C8"/>
                </a:solidFill>
                <a:latin typeface="Calibri" pitchFamily="34" charset="0"/>
                <a:ea typeface="Calibri" pitchFamily="34" charset="-122"/>
                <a:cs typeface="Calibri" pitchFamily="34" charset="-120"/>
              </a:rPr>
              <a:t>dried spores, no power needed</a:t>
            </a:r>
            <a:endParaRPr lang="en-US" sz="850" dirty="0"/>
          </a:p>
        </p:txBody>
      </p:sp>
      <p:sp>
        <p:nvSpPr>
          <p:cNvPr id="11" name="Shape 9"/>
          <p:cNvSpPr/>
          <p:nvPr/>
        </p:nvSpPr>
        <p:spPr>
          <a:xfrm>
            <a:off x="2651760" y="2606040"/>
            <a:ext cx="1600200" cy="1554480"/>
          </a:xfrm>
          <a:prstGeom prst="roundRect">
            <a:avLst>
              <a:gd name="adj" fmla="val 3529"/>
            </a:avLst>
          </a:prstGeom>
          <a:solidFill>
            <a:srgbClr val="132A4D"/>
          </a:solidFill>
          <a:ln w="12700">
            <a:solidFill>
              <a:srgbClr val="2A4463"/>
            </a:solidFill>
            <a:prstDash val="solid"/>
          </a:ln>
        </p:spPr>
      </p:sp>
      <p:sp>
        <p:nvSpPr>
          <p:cNvPr id="12" name="Shape 10"/>
          <p:cNvSpPr/>
          <p:nvPr/>
        </p:nvSpPr>
        <p:spPr>
          <a:xfrm>
            <a:off x="3159252" y="2788920"/>
            <a:ext cx="585216" cy="585216"/>
          </a:xfrm>
          <a:prstGeom prst="ellipse">
            <a:avLst/>
          </a:prstGeom>
          <a:solidFill>
            <a:srgbClr val="2EC4B6">
              <a:alpha val="75000"/>
            </a:srgbClr>
          </a:solidFill>
          <a:ln w="19050">
            <a:solidFill>
              <a:srgbClr val="2EC4B6"/>
            </a:solidFill>
            <a:prstDash val="solid"/>
          </a:ln>
        </p:spPr>
      </p:sp>
      <p:sp>
        <p:nvSpPr>
          <p:cNvPr id="13" name="Text 11"/>
          <p:cNvSpPr txBox="1"/>
          <p:nvPr/>
        </p:nvSpPr>
        <p:spPr>
          <a:xfrm>
            <a:off x="2724912" y="3493008"/>
            <a:ext cx="145389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Reads 1</a:t>
            </a:r>
            <a:endParaRPr lang="en-US" sz="1050" dirty="0"/>
          </a:p>
        </p:txBody>
      </p:sp>
      <p:sp>
        <p:nvSpPr>
          <p:cNvPr id="14" name="Text 12"/>
          <p:cNvSpPr txBox="1"/>
          <p:nvPr/>
        </p:nvSpPr>
        <p:spPr>
          <a:xfrm>
            <a:off x="2724912" y="3749040"/>
            <a:ext cx="1453896" cy="411480"/>
          </a:xfrm>
          <a:prstGeom prst="rect">
            <a:avLst/>
          </a:prstGeom>
          <a:noFill/>
          <a:ln/>
        </p:spPr>
        <p:txBody>
          <a:bodyPr wrap="square" lIns="0" tIns="0" rIns="0" bIns="0" rtlCol="0" anchor="ctr"/>
          <a:lstStyle/>
          <a:p>
            <a:pPr algn="ctr" indent="0" marL="0">
              <a:lnSpc>
                <a:spcPct val="110000"/>
              </a:lnSpc>
              <a:buNone/>
            </a:pPr>
            <a:r>
              <a:rPr lang="en-US" sz="850" dirty="0">
                <a:solidFill>
                  <a:srgbClr val="AEC2C8"/>
                </a:solidFill>
                <a:latin typeface="Calibri" pitchFamily="34" charset="0"/>
                <a:ea typeface="Calibri" pitchFamily="34" charset="-122"/>
                <a:cs typeface="Calibri" pitchFamily="34" charset="-120"/>
              </a:rPr>
              <a:t>colony glows green (GFP)</a:t>
            </a:r>
            <a:endParaRPr lang="en-US" sz="850" dirty="0"/>
          </a:p>
        </p:txBody>
      </p:sp>
      <p:sp>
        <p:nvSpPr>
          <p:cNvPr id="15" name="Shape 13"/>
          <p:cNvSpPr/>
          <p:nvPr/>
        </p:nvSpPr>
        <p:spPr>
          <a:xfrm>
            <a:off x="4389120" y="2606040"/>
            <a:ext cx="1600200" cy="1554480"/>
          </a:xfrm>
          <a:prstGeom prst="roundRect">
            <a:avLst>
              <a:gd name="adj" fmla="val 3529"/>
            </a:avLst>
          </a:prstGeom>
          <a:solidFill>
            <a:srgbClr val="132A4D"/>
          </a:solidFill>
          <a:ln w="12700">
            <a:solidFill>
              <a:srgbClr val="2A4463"/>
            </a:solidFill>
            <a:prstDash val="solid"/>
          </a:ln>
        </p:spPr>
      </p:sp>
      <p:sp>
        <p:nvSpPr>
          <p:cNvPr id="16" name="Shape 14"/>
          <p:cNvSpPr/>
          <p:nvPr/>
        </p:nvSpPr>
        <p:spPr>
          <a:xfrm>
            <a:off x="4896612" y="2788920"/>
            <a:ext cx="585216" cy="585216"/>
          </a:xfrm>
          <a:prstGeom prst="ellipse">
            <a:avLst/>
          </a:prstGeom>
          <a:solidFill>
            <a:srgbClr val="E8604C">
              <a:alpha val="75000"/>
            </a:srgbClr>
          </a:solidFill>
          <a:ln w="19050">
            <a:solidFill>
              <a:srgbClr val="E8604C"/>
            </a:solidFill>
            <a:prstDash val="solid"/>
          </a:ln>
        </p:spPr>
      </p:sp>
      <p:sp>
        <p:nvSpPr>
          <p:cNvPr id="17" name="Text 15"/>
          <p:cNvSpPr txBox="1"/>
          <p:nvPr/>
        </p:nvSpPr>
        <p:spPr>
          <a:xfrm>
            <a:off x="4462272" y="3493008"/>
            <a:ext cx="145389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Reads 0</a:t>
            </a:r>
            <a:endParaRPr lang="en-US" sz="1050" dirty="0"/>
          </a:p>
        </p:txBody>
      </p:sp>
      <p:sp>
        <p:nvSpPr>
          <p:cNvPr id="18" name="Text 16"/>
          <p:cNvSpPr txBox="1"/>
          <p:nvPr/>
        </p:nvSpPr>
        <p:spPr>
          <a:xfrm>
            <a:off x="4462272" y="3749040"/>
            <a:ext cx="1453896" cy="411480"/>
          </a:xfrm>
          <a:prstGeom prst="rect">
            <a:avLst/>
          </a:prstGeom>
          <a:noFill/>
          <a:ln/>
        </p:spPr>
        <p:txBody>
          <a:bodyPr wrap="square" lIns="0" tIns="0" rIns="0" bIns="0" rtlCol="0" anchor="ctr"/>
          <a:lstStyle/>
          <a:p>
            <a:pPr algn="ctr" indent="0" marL="0">
              <a:lnSpc>
                <a:spcPct val="110000"/>
              </a:lnSpc>
              <a:buNone/>
            </a:pPr>
            <a:r>
              <a:rPr lang="en-US" sz="850" dirty="0">
                <a:solidFill>
                  <a:srgbClr val="AEC2C8"/>
                </a:solidFill>
                <a:latin typeface="Calibri" pitchFamily="34" charset="0"/>
                <a:ea typeface="Calibri" pitchFamily="34" charset="-122"/>
                <a:cs typeface="Calibri" pitchFamily="34" charset="-120"/>
              </a:rPr>
              <a:t>colony glows red (RFP)</a:t>
            </a:r>
            <a:endParaRPr lang="en-US" sz="850" dirty="0"/>
          </a:p>
        </p:txBody>
      </p:sp>
      <p:sp>
        <p:nvSpPr>
          <p:cNvPr id="19" name="Text 17"/>
          <p:cNvSpPr txBox="1"/>
          <p:nvPr/>
        </p:nvSpPr>
        <p:spPr>
          <a:xfrm>
            <a:off x="914400" y="4279392"/>
            <a:ext cx="4846320" cy="274320"/>
          </a:xfrm>
          <a:prstGeom prst="rect">
            <a:avLst/>
          </a:prstGeom>
          <a:noFill/>
          <a:ln/>
        </p:spPr>
        <p:txBody>
          <a:bodyPr wrap="square" lIns="0" tIns="0" rIns="0" bIns="0" rtlCol="0" anchor="ctr"/>
          <a:lstStyle/>
          <a:p>
            <a:pPr indent="0" marL="0">
              <a:buNone/>
            </a:pPr>
            <a:r>
              <a:rPr lang="en-US" sz="950" i="1" dirty="0">
                <a:solidFill>
                  <a:srgbClr val="6E7F91"/>
                </a:solidFill>
                <a:latin typeface="Calibri" pitchFamily="34" charset="0"/>
                <a:ea typeface="Calibri" pitchFamily="34" charset="-122"/>
                <a:cs typeface="Calibri" pitchFamily="34" charset="-120"/>
              </a:rPr>
              <a:t>... repeats to fill the array, e.g. 64 wells = 64 bits</a:t>
            </a:r>
            <a:endParaRPr lang="en-US" sz="950" dirty="0"/>
          </a:p>
        </p:txBody>
      </p:sp>
      <p:sp>
        <p:nvSpPr>
          <p:cNvPr id="20" name="Shape 18"/>
          <p:cNvSpPr/>
          <p:nvPr/>
        </p:nvSpPr>
        <p:spPr>
          <a:xfrm>
            <a:off x="914400" y="4709160"/>
            <a:ext cx="4846320" cy="0"/>
          </a:xfrm>
          <a:prstGeom prst="line">
            <a:avLst/>
          </a:prstGeom>
          <a:noFill/>
          <a:ln w="25400">
            <a:solidFill>
              <a:srgbClr val="E8A33D"/>
            </a:solidFill>
            <a:prstDash val="solid"/>
          </a:ln>
        </p:spPr>
      </p:sp>
      <p:sp>
        <p:nvSpPr>
          <p:cNvPr id="21" name="Text 19"/>
          <p:cNvSpPr txBox="1"/>
          <p:nvPr/>
        </p:nvSpPr>
        <p:spPr>
          <a:xfrm>
            <a:off x="914400" y="4800600"/>
            <a:ext cx="4846320" cy="274320"/>
          </a:xfrm>
          <a:prstGeom prst="rect">
            <a:avLst/>
          </a:prstGeom>
          <a:noFill/>
          <a:ln/>
        </p:spPr>
        <p:txBody>
          <a:bodyPr wrap="square" lIns="0" tIns="0" rIns="0" bIns="0" rtlCol="0" anchor="ctr"/>
          <a:lstStyle/>
          <a:p>
            <a:pPr indent="0" marL="0">
              <a:buNone/>
            </a:pPr>
            <a:r>
              <a:rPr lang="en-US" sz="950" dirty="0">
                <a:solidFill>
                  <a:srgbClr val="E8A33D"/>
                </a:solidFill>
                <a:latin typeface="Calibri" pitchFamily="34" charset="0"/>
                <a:ea typeface="Calibri" pitchFamily="34" charset="-122"/>
                <a:cs typeface="Calibri" pitchFamily="34" charset="-120"/>
              </a:rPr>
              <a:t>shared channel, carries nutrients + write chemical to each well</a:t>
            </a:r>
            <a:endParaRPr lang="en-US" sz="950" dirty="0"/>
          </a:p>
        </p:txBody>
      </p:sp>
      <p:sp>
        <p:nvSpPr>
          <p:cNvPr id="22" name="Text 20"/>
          <p:cNvSpPr txBox="1"/>
          <p:nvPr/>
        </p:nvSpPr>
        <p:spPr>
          <a:xfrm>
            <a:off x="914400" y="5257800"/>
            <a:ext cx="4846320" cy="685800"/>
          </a:xfrm>
          <a:prstGeom prst="rect">
            <a:avLst/>
          </a:prstGeom>
          <a:noFill/>
          <a:ln/>
        </p:spPr>
        <p:txBody>
          <a:bodyPr wrap="square" lIns="0" tIns="0" rIns="0" bIns="0" rtlCol="0" anchor="ctr"/>
          <a:lstStyle/>
          <a:p>
            <a:pPr indent="0" marL="0">
              <a:lnSpc>
                <a:spcPct val="120000"/>
              </a:lnSpc>
              <a:buNone/>
            </a:pPr>
            <a:r>
              <a:rPr lang="en-US" sz="1050" dirty="0">
                <a:solidFill>
                  <a:srgbClr val="CFE0DD"/>
                </a:solidFill>
                <a:latin typeface="Calibri" pitchFamily="34" charset="0"/>
                <a:ea typeface="Calibri" pitchFamily="34" charset="-122"/>
                <a:cs typeface="Calibri" pitchFamily="34" charset="-120"/>
              </a:rPr>
              <a:t>No cable on the cartridge itself. It's a consumable, closer to a lab test strip than a memory chip.</a:t>
            </a:r>
            <a:endParaRPr lang="en-US" sz="1050" dirty="0"/>
          </a:p>
        </p:txBody>
      </p:sp>
      <p:sp>
        <p:nvSpPr>
          <p:cNvPr id="23" name="Shape 21"/>
          <p:cNvSpPr/>
          <p:nvPr/>
        </p:nvSpPr>
        <p:spPr>
          <a:xfrm>
            <a:off x="6263640" y="1965960"/>
            <a:ext cx="5303520" cy="4160520"/>
          </a:xfrm>
          <a:prstGeom prst="roundRect">
            <a:avLst>
              <a:gd name="adj" fmla="val 2198"/>
            </a:avLst>
          </a:prstGeom>
          <a:solidFill>
            <a:srgbClr val="FFFFFF"/>
          </a:solidFill>
          <a:ln w="12700">
            <a:solidFill>
              <a:srgbClr val="DCE3E6"/>
            </a:solidFill>
            <a:prstDash val="solid"/>
          </a:ln>
        </p:spPr>
      </p:sp>
      <p:sp>
        <p:nvSpPr>
          <p:cNvPr id="24" name="Text 22"/>
          <p:cNvSpPr txBox="1"/>
          <p:nvPr/>
        </p:nvSpPr>
        <p:spPr>
          <a:xfrm>
            <a:off x="6537960" y="2148840"/>
            <a:ext cx="4754880" cy="320040"/>
          </a:xfrm>
          <a:prstGeom prst="rect">
            <a:avLst/>
          </a:prstGeom>
          <a:noFill/>
          <a:ln/>
        </p:spPr>
        <p:txBody>
          <a:bodyPr wrap="square" lIns="0" tIns="0" rIns="0" bIns="0" rtlCol="0" anchor="ctr"/>
          <a:lstStyle/>
          <a:p>
            <a:pPr indent="0" marL="0">
              <a:buNone/>
            </a:pPr>
            <a:r>
              <a:rPr lang="en-US" sz="1200" b="1" spc="100" kern="0" dirty="0">
                <a:solidFill>
                  <a:srgbClr val="1C8F84"/>
                </a:solidFill>
                <a:latin typeface="Calibri" pitchFamily="34" charset="0"/>
                <a:ea typeface="Calibri" pitchFamily="34" charset="-122"/>
                <a:cs typeface="Calibri" pitchFamily="34" charset="-120"/>
              </a:rPr>
              <a:t>READER, reusable instrument</a:t>
            </a:r>
            <a:endParaRPr lang="en-US" sz="1200" dirty="0"/>
          </a:p>
        </p:txBody>
      </p:sp>
      <p:sp>
        <p:nvSpPr>
          <p:cNvPr id="25" name="Shape 23"/>
          <p:cNvSpPr/>
          <p:nvPr/>
        </p:nvSpPr>
        <p:spPr>
          <a:xfrm>
            <a:off x="7635240" y="2651760"/>
            <a:ext cx="1828800" cy="457200"/>
          </a:xfrm>
          <a:prstGeom prst="roundRect">
            <a:avLst>
              <a:gd name="adj" fmla="val 12000"/>
            </a:avLst>
          </a:prstGeom>
          <a:solidFill>
            <a:srgbClr val="F4F6F7"/>
          </a:solidFill>
          <a:ln w="12700">
            <a:solidFill>
              <a:srgbClr val="B9C3C7"/>
            </a:solidFill>
            <a:prstDash val="solid"/>
          </a:ln>
        </p:spPr>
      </p:sp>
      <p:sp>
        <p:nvSpPr>
          <p:cNvPr id="26" name="Text 24"/>
          <p:cNvSpPr txBox="1"/>
          <p:nvPr/>
        </p:nvSpPr>
        <p:spPr>
          <a:xfrm>
            <a:off x="7635240" y="2651760"/>
            <a:ext cx="1828800" cy="457200"/>
          </a:xfrm>
          <a:prstGeom prst="rect">
            <a:avLst/>
          </a:prstGeom>
          <a:noFill/>
          <a:ln/>
        </p:spPr>
        <p:txBody>
          <a:bodyPr wrap="square" lIns="0" tIns="0" rIns="0" bIns="0" rtlCol="0" anchor="ctr"/>
          <a:lstStyle/>
          <a:p>
            <a:pPr algn="ctr" indent="0" marL="0">
              <a:buNone/>
            </a:pPr>
            <a:r>
              <a:rPr lang="en-US" sz="900" dirty="0">
                <a:solidFill>
                  <a:srgbClr val="5B6B77"/>
                </a:solidFill>
                <a:latin typeface="Calibri" pitchFamily="34" charset="0"/>
                <a:ea typeface="Calibri" pitchFamily="34" charset="-122"/>
                <a:cs typeface="Calibri" pitchFamily="34" charset="-120"/>
              </a:rPr>
              <a:t>cartridge slot</a:t>
            </a:r>
            <a:endParaRPr lang="en-US" sz="900" dirty="0"/>
          </a:p>
        </p:txBody>
      </p:sp>
      <p:sp>
        <p:nvSpPr>
          <p:cNvPr id="27" name="Shape 25"/>
          <p:cNvSpPr/>
          <p:nvPr/>
        </p:nvSpPr>
        <p:spPr>
          <a:xfrm>
            <a:off x="7818120" y="3291840"/>
            <a:ext cx="1463040" cy="868680"/>
          </a:xfrm>
          <a:prstGeom prst="roundRect">
            <a:avLst>
              <a:gd name="adj" fmla="val 8421"/>
            </a:avLst>
          </a:prstGeom>
          <a:solidFill>
            <a:srgbClr val="F4F6F7"/>
          </a:solidFill>
          <a:ln w="12700">
            <a:solidFill>
              <a:srgbClr val="B9C3C7"/>
            </a:solidFill>
            <a:prstDash val="solid"/>
          </a:ln>
        </p:spPr>
      </p:sp>
      <p:sp>
        <p:nvSpPr>
          <p:cNvPr id="28" name="Shape 26"/>
          <p:cNvSpPr/>
          <p:nvPr/>
        </p:nvSpPr>
        <p:spPr>
          <a:xfrm>
            <a:off x="8366760" y="3456432"/>
            <a:ext cx="365760" cy="365760"/>
          </a:xfrm>
          <a:prstGeom prst="ellipse">
            <a:avLst/>
          </a:prstGeom>
          <a:solidFill>
            <a:srgbClr val="2EC4B6">
              <a:alpha val="70000"/>
            </a:srgbClr>
          </a:solidFill>
          <a:ln w="19050">
            <a:solidFill>
              <a:srgbClr val="1C8F84"/>
            </a:solidFill>
            <a:prstDash val="solid"/>
          </a:ln>
        </p:spPr>
      </p:sp>
      <p:sp>
        <p:nvSpPr>
          <p:cNvPr id="29" name="Text 27"/>
          <p:cNvSpPr txBox="1"/>
          <p:nvPr/>
        </p:nvSpPr>
        <p:spPr>
          <a:xfrm>
            <a:off x="7680960" y="4206240"/>
            <a:ext cx="1737360" cy="457200"/>
          </a:xfrm>
          <a:prstGeom prst="rect">
            <a:avLst/>
          </a:prstGeom>
          <a:noFill/>
          <a:ln/>
        </p:spPr>
        <p:txBody>
          <a:bodyPr wrap="square" lIns="0" tIns="0" rIns="0" bIns="0" rtlCol="0" anchor="ctr"/>
          <a:lstStyle/>
          <a:p>
            <a:pPr algn="ctr" indent="0" marL="0">
              <a:lnSpc>
                <a:spcPct val="110000"/>
              </a:lnSpc>
              <a:buNone/>
            </a:pPr>
            <a:r>
              <a:rPr lang="en-US" sz="850" dirty="0">
                <a:solidFill>
                  <a:srgbClr val="5B6B77"/>
                </a:solidFill>
                <a:latin typeface="Calibri" pitchFamily="34" charset="0"/>
                <a:ea typeface="Calibri" pitchFamily="34" charset="-122"/>
                <a:cs typeface="Calibri" pitchFamily="34" charset="-120"/>
              </a:rPr>
              <a:t>fluorescence read head</a:t>
            </a:r>
            <a:endParaRPr lang="en-US" sz="850" dirty="0"/>
          </a:p>
        </p:txBody>
      </p:sp>
      <p:sp>
        <p:nvSpPr>
          <p:cNvPr id="30" name="Shape 28"/>
          <p:cNvSpPr/>
          <p:nvPr/>
        </p:nvSpPr>
        <p:spPr>
          <a:xfrm>
            <a:off x="6537960" y="3291840"/>
            <a:ext cx="1051560" cy="868680"/>
          </a:xfrm>
          <a:prstGeom prst="roundRect">
            <a:avLst>
              <a:gd name="adj" fmla="val 8421"/>
            </a:avLst>
          </a:prstGeom>
          <a:solidFill>
            <a:srgbClr val="F4F6F7"/>
          </a:solidFill>
          <a:ln w="12700">
            <a:solidFill>
              <a:srgbClr val="B9C3C7"/>
            </a:solidFill>
            <a:prstDash val="solid"/>
          </a:ln>
        </p:spPr>
      </p:sp>
      <p:sp>
        <p:nvSpPr>
          <p:cNvPr id="31" name="Text 29"/>
          <p:cNvSpPr txBox="1"/>
          <p:nvPr/>
        </p:nvSpPr>
        <p:spPr>
          <a:xfrm>
            <a:off x="6400800" y="4206240"/>
            <a:ext cx="1325880" cy="502920"/>
          </a:xfrm>
          <a:prstGeom prst="rect">
            <a:avLst/>
          </a:prstGeom>
          <a:noFill/>
          <a:ln/>
        </p:spPr>
        <p:txBody>
          <a:bodyPr wrap="square" lIns="0" tIns="0" rIns="0" bIns="0" rtlCol="0" anchor="ctr"/>
          <a:lstStyle/>
          <a:p>
            <a:pPr algn="ctr" indent="0" marL="0">
              <a:lnSpc>
                <a:spcPct val="110000"/>
              </a:lnSpc>
              <a:buNone/>
            </a:pPr>
            <a:r>
              <a:rPr lang="en-US" sz="850" dirty="0">
                <a:solidFill>
                  <a:srgbClr val="5B6B77"/>
                </a:solidFill>
                <a:latin typeface="Calibri" pitchFamily="34" charset="0"/>
                <a:ea typeface="Calibri" pitchFamily="34" charset="-122"/>
                <a:cs typeface="Calibri" pitchFamily="34" charset="-120"/>
              </a:rPr>
              <a:t>nutrient / write reservoir</a:t>
            </a:r>
            <a:endParaRPr lang="en-US" sz="850" dirty="0"/>
          </a:p>
        </p:txBody>
      </p:sp>
      <p:sp>
        <p:nvSpPr>
          <p:cNvPr id="32" name="Shape 30"/>
          <p:cNvSpPr/>
          <p:nvPr/>
        </p:nvSpPr>
        <p:spPr>
          <a:xfrm>
            <a:off x="9464040" y="3291840"/>
            <a:ext cx="1051560" cy="868680"/>
          </a:xfrm>
          <a:prstGeom prst="roundRect">
            <a:avLst>
              <a:gd name="adj" fmla="val 8421"/>
            </a:avLst>
          </a:prstGeom>
          <a:solidFill>
            <a:srgbClr val="F4F6F7"/>
          </a:solidFill>
          <a:ln w="12700">
            <a:solidFill>
              <a:srgbClr val="B9C3C7"/>
            </a:solidFill>
            <a:prstDash val="solid"/>
          </a:ln>
        </p:spPr>
      </p:sp>
      <p:sp>
        <p:nvSpPr>
          <p:cNvPr id="33" name="Text 31"/>
          <p:cNvSpPr txBox="1"/>
          <p:nvPr/>
        </p:nvSpPr>
        <p:spPr>
          <a:xfrm>
            <a:off x="9326880" y="4206240"/>
            <a:ext cx="1325880" cy="365760"/>
          </a:xfrm>
          <a:prstGeom prst="rect">
            <a:avLst/>
          </a:prstGeom>
          <a:noFill/>
          <a:ln/>
        </p:spPr>
        <p:txBody>
          <a:bodyPr wrap="square" lIns="0" tIns="0" rIns="0" bIns="0" rtlCol="0" anchor="ctr"/>
          <a:lstStyle/>
          <a:p>
            <a:pPr algn="ctr" indent="0" marL="0">
              <a:buNone/>
            </a:pPr>
            <a:r>
              <a:rPr lang="en-US" sz="850" dirty="0">
                <a:solidFill>
                  <a:srgbClr val="5B6B77"/>
                </a:solidFill>
                <a:latin typeface="Calibri" pitchFamily="34" charset="0"/>
                <a:ea typeface="Calibri" pitchFamily="34" charset="-122"/>
                <a:cs typeface="Calibri" pitchFamily="34" charset="-120"/>
              </a:rPr>
              <a:t>control board</a:t>
            </a:r>
            <a:endParaRPr lang="en-US" sz="850" dirty="0"/>
          </a:p>
        </p:txBody>
      </p:sp>
      <p:sp>
        <p:nvSpPr>
          <p:cNvPr id="34" name="Shape 32"/>
          <p:cNvSpPr/>
          <p:nvPr/>
        </p:nvSpPr>
        <p:spPr>
          <a:xfrm>
            <a:off x="10515600" y="3703320"/>
            <a:ext cx="411480" cy="0"/>
          </a:xfrm>
          <a:prstGeom prst="line">
            <a:avLst/>
          </a:prstGeom>
          <a:noFill/>
          <a:ln w="31750">
            <a:solidFill>
              <a:srgbClr val="16232F"/>
            </a:solidFill>
            <a:prstDash val="solid"/>
          </a:ln>
        </p:spPr>
      </p:sp>
      <p:sp>
        <p:nvSpPr>
          <p:cNvPr id="35" name="Text 33"/>
          <p:cNvSpPr txBox="1"/>
          <p:nvPr/>
        </p:nvSpPr>
        <p:spPr>
          <a:xfrm>
            <a:off x="9738360" y="4754880"/>
            <a:ext cx="1691640" cy="274320"/>
          </a:xfrm>
          <a:prstGeom prst="rect">
            <a:avLst/>
          </a:prstGeom>
          <a:noFill/>
          <a:ln/>
        </p:spPr>
        <p:txBody>
          <a:bodyPr wrap="square" lIns="0" tIns="0" rIns="0" bIns="0" rtlCol="0" anchor="ctr"/>
          <a:lstStyle/>
          <a:p>
            <a:pPr algn="ctr" indent="0" marL="0">
              <a:buNone/>
            </a:pPr>
            <a:r>
              <a:rPr lang="en-US" sz="900" b="1" dirty="0">
                <a:solidFill>
                  <a:srgbClr val="16232F"/>
                </a:solidFill>
                <a:latin typeface="Calibri" pitchFamily="34" charset="0"/>
                <a:ea typeface="Calibri" pitchFamily="34" charset="-122"/>
                <a:cs typeface="Calibri" pitchFamily="34" charset="-120"/>
              </a:rPr>
              <a:t>USB-C -&gt; laptop</a:t>
            </a:r>
            <a:endParaRPr lang="en-US" sz="900" dirty="0"/>
          </a:p>
        </p:txBody>
      </p:sp>
      <p:sp>
        <p:nvSpPr>
          <p:cNvPr id="36" name="Text 34"/>
          <p:cNvSpPr txBox="1"/>
          <p:nvPr/>
        </p:nvSpPr>
        <p:spPr>
          <a:xfrm>
            <a:off x="6537960" y="5257800"/>
            <a:ext cx="4754880" cy="685800"/>
          </a:xfrm>
          <a:prstGeom prst="rect">
            <a:avLst/>
          </a:prstGeom>
          <a:noFill/>
          <a:ln/>
        </p:spPr>
        <p:txBody>
          <a:bodyPr wrap="square" lIns="0" tIns="0" rIns="0" bIns="0" rtlCol="0" anchor="ctr"/>
          <a:lstStyle/>
          <a:p>
            <a:pPr indent="0" marL="0">
              <a:lnSpc>
                <a:spcPct val="120000"/>
              </a:lnSpc>
              <a:buNone/>
            </a:pPr>
            <a:r>
              <a:rPr lang="en-US" sz="1050" dirty="0">
                <a:solidFill>
                  <a:srgbClr val="5B6B77"/>
                </a:solidFill>
                <a:latin typeface="Calibri" pitchFamily="34" charset="0"/>
                <a:ea typeface="Calibri" pitchFamily="34" charset="-122"/>
                <a:cs typeface="Calibri" pitchFamily="34" charset="-120"/>
              </a:rPr>
              <a:t>The reader is the only part with a cable. The cartridge never plugs into anything directly.</a:t>
            </a:r>
            <a:endParaRPr lang="en-US" sz="1050" dirty="0"/>
          </a:p>
        </p:txBody>
      </p:sp>
      <p:sp>
        <p:nvSpPr>
          <p:cNvPr id="37" name="Text 35"/>
          <p:cNvSpPr txBox="1"/>
          <p:nvPr/>
        </p:nvSpPr>
        <p:spPr>
          <a:xfrm>
            <a:off x="640080" y="6263640"/>
            <a:ext cx="10972800" cy="502920"/>
          </a:xfrm>
          <a:prstGeom prst="rect">
            <a:avLst/>
          </a:prstGeom>
          <a:noFill/>
          <a:ln/>
        </p:spPr>
        <p:txBody>
          <a:bodyPr wrap="square" lIns="0" tIns="0" rIns="0" bIns="0" rtlCol="0" anchor="ctr"/>
          <a:lstStyle/>
          <a:p>
            <a:pPr indent="0" marL="0">
              <a:lnSpc>
                <a:spcPct val="115000"/>
              </a:lnSpc>
              <a:buNone/>
            </a:pPr>
            <a:r>
              <a:rPr lang="en-US" sz="1050" b="1" dirty="0">
                <a:solidFill>
                  <a:srgbClr val="E8A33D"/>
                </a:solidFill>
                <a:latin typeface="Calibri" pitchFamily="34" charset="0"/>
                <a:ea typeface="Calibri" pitchFamily="34" charset="-122"/>
                <a:cs typeface="Calibri" pitchFamily="34" charset="-120"/>
              </a:rPr>
              <a:t>Not built. </a:t>
            </a:r>
            <a:pPr indent="0" marL="0">
              <a:lnSpc>
                <a:spcPct val="115000"/>
              </a:lnSpc>
              <a:buNone/>
            </a:pPr>
            <a:r>
              <a:rPr lang="en-US" sz="1050" dirty="0">
                <a:solidFill>
                  <a:srgbClr val="5B6B77"/>
                </a:solidFill>
                <a:latin typeface="Calibri" pitchFamily="34" charset="0"/>
                <a:ea typeface="Calibri" pitchFamily="34" charset="-122"/>
                <a:cs typeface="Calibri" pitchFamily="34" charset="-120"/>
              </a:rPr>
              <a:t>This is a concept sketch of the product Stage 0 de-risks toward, not a device that exists. Real spaceflight precedent for the organism itself: B. subtilis spores have already survived two years of direct exposure outside the ISS (Deshevaya et al. 2024, Scientific Reports) and 559 days in low-Earth orbit when shielded from direct solar UV (Wassmann et al. 2012, Astrobiology).</a:t>
            </a:r>
            <a:endParaRPr lang="en-US" sz="1050" dirty="0"/>
          </a:p>
        </p:txBody>
      </p:sp>
      <p:sp>
        <p:nvSpPr>
          <p:cNvPr id="38" name="Text 3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Four staged experiments, not one combined bet</a:t>
            </a:r>
            <a:endParaRPr lang="en-US" sz="2800" dirty="0"/>
          </a:p>
        </p:txBody>
      </p:sp>
      <p:sp>
        <p:nvSpPr>
          <p:cNvPr id="4" name="Text 2"/>
          <p:cNvSpPr txBox="1"/>
          <p:nvPr/>
        </p:nvSpPr>
        <p:spPr>
          <a:xfrm>
            <a:off x="640080" y="1508760"/>
            <a:ext cx="10698480" cy="685800"/>
          </a:xfrm>
          <a:prstGeom prst="rect">
            <a:avLst/>
          </a:prstGeom>
          <a:noFill/>
          <a:ln/>
        </p:spPr>
        <p:txBody>
          <a:bodyPr wrap="square" lIns="0" tIns="0" rIns="0" bIns="0" rtlCol="0" anchor="ctr"/>
          <a:lstStyle/>
          <a:p>
            <a:pPr indent="0" marL="0">
              <a:lnSpc>
                <a:spcPct val="120000"/>
              </a:lnSpc>
              <a:buNone/>
            </a:pPr>
            <a:r>
              <a:rPr lang="en-US" sz="1300" dirty="0">
                <a:solidFill>
                  <a:srgbClr val="AEC2C8"/>
                </a:solidFill>
                <a:latin typeface="Calibri" pitchFamily="34" charset="0"/>
                <a:ea typeface="Calibri" pitchFamily="34" charset="-122"/>
                <a:cs typeface="Calibri" pitchFamily="34" charset="-120"/>
              </a:rPr>
              <a:t>An earlier version of this roadmap asked for one combined experiment, build the circuit, damage it, regrow it, and read it back via EIS, in a single $10K-$30K ask. That bundled three separate open questions into one pass/fail result. We split it, and we fund the cheapest gate first.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72800" cy="2880360"/>
        </p:xfrm>
        <a:graphic>
          <a:graphicData uri="http://schemas.openxmlformats.org/drawingml/2006/table">
            <a:tbl>
              <a:tblPr/>
              <a:tblGrid>
                <a:gridCol w="2743200"/>
                <a:gridCol w="5120640"/>
                <a:gridCol w="1920240"/>
                <a:gridCol w="118872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0E2745"/>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Question answered</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0E2745"/>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Cost</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0E2745"/>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0E2745"/>
                    </a:solidFill>
                  </a:tcPr>
                </a:tc>
              </a:tr>
              <a:tr h="731520">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0, B. subtilis toggle confirmation</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Does the matched-promoter circuit show two switchable states, read with a simple reporter assay, no electrical readout involved yet.</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$2K-$5K</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6-10 wks</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r>
              <a:tr h="640080">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1, HEK293 gap-junction persistence</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Do arbitrary voltage patterns persist 24h+ in a fast, simple culture system.</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$2.4K-$10K</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3-6 mo</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r>
              <a:tr h="685800">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2, Planarian minimal viable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Do arbitrary patterns persist in the target regenerative organism, damage and regrowth included.</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$10K-$30K</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6-12 mo</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r>
              <a:tr h="685800">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3, Voltage-interface build</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Can the circuit's repressor output be coupled to a real, non-destructively-read voltage bit.</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Scoped with a synthetic-biology partner</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c>
                  <a:txBody>
                    <a:bodyPr/>
                    <a:lstStyle/>
                    <a:p>
                      <a:pPr indent="0" marL="0">
                        <a:buNone/>
                      </a:pPr>
                      <a:r>
                        <a:rPr lang="en-US" sz="1150" dirty="0">
                          <a:solidFill>
                            <a:srgbClr val="E7ECEF"/>
                          </a:solidFill>
                          <a:latin typeface="Calibri" pitchFamily="34" charset="0"/>
                          <a:ea typeface="Calibri" pitchFamily="34" charset="-122"/>
                          <a:cs typeface="Calibri" pitchFamily="34" charset="-120"/>
                        </a:rPr>
                        <a:t>TBD</a:t>
                      </a:r>
                      <a:endParaRPr lang="en-US" sz="1150" dirty="0">
                        <a:latin typeface="Calibri" charset="0"/>
                        <a:ea typeface="Calibri" charset="0"/>
                        <a:cs typeface="Calibri" charset="0"/>
                      </a:endParaRPr>
                    </a:p>
                  </a:txBody>
                  <a:tcPr marL="91440" marR="91440" marT="45720" marB="45720" anchor="ctr">
                    <a:lnL w="12700" cap="flat" cmpd="sng" algn="ctr">
                      <a:solidFill>
                        <a:srgbClr val="2A4463"/>
                      </a:solidFill>
                      <a:prstDash val="solid"/>
                      <a:round/>
                      <a:headEnd type="none" w="med" len="med"/>
                      <a:tailEnd type="none" w="med" len="med"/>
                    </a:lnL>
                    <a:lnR w="12700" cap="flat" cmpd="sng" algn="ctr">
                      <a:solidFill>
                        <a:srgbClr val="2A4463"/>
                      </a:solidFill>
                      <a:prstDash val="solid"/>
                      <a:round/>
                      <a:headEnd type="none" w="med" len="med"/>
                      <a:tailEnd type="none" w="med" len="med"/>
                    </a:lnR>
                    <a:lnT w="12700" cap="flat" cmpd="sng" algn="ctr">
                      <a:solidFill>
                        <a:srgbClr val="2A4463"/>
                      </a:solidFill>
                      <a:prstDash val="solid"/>
                      <a:round/>
                      <a:headEnd type="none" w="med" len="med"/>
                      <a:tailEnd type="none" w="med" len="med"/>
                    </a:lnT>
                    <a:lnB w="12700" cap="flat" cmpd="sng" algn="ctr">
                      <a:solidFill>
                        <a:srgbClr val="2A4463"/>
                      </a:solidFill>
                      <a:prstDash val="solid"/>
                      <a:round/>
                      <a:headEnd type="none" w="med" len="med"/>
                      <a:tailEnd type="none" w="med" len="med"/>
                    </a:lnB>
                    <a:solidFill>
                      <a:srgbClr val="132A4D"/>
                    </a:solidFill>
                  </a:tcPr>
                </a:tc>
              </a:tr>
            </a:tbl>
          </a:graphicData>
        </a:graphic>
      </p:graphicFrame>
      <p:sp>
        <p:nvSpPr>
          <p:cNvPr id="6" name="Shape 3"/>
          <p:cNvSpPr/>
          <p:nvPr/>
        </p:nvSpPr>
        <p:spPr>
          <a:xfrm>
            <a:off x="640080" y="5532120"/>
            <a:ext cx="10972800" cy="914400"/>
          </a:xfrm>
          <a:prstGeom prst="roundRect">
            <a:avLst>
              <a:gd name="adj" fmla="val 8000"/>
            </a:avLst>
          </a:prstGeom>
          <a:solidFill>
            <a:srgbClr val="18314F"/>
          </a:solidFill>
          <a:ln w="12700">
            <a:solidFill>
              <a:srgbClr val="2EC4B6"/>
            </a:solidFill>
            <a:prstDash val="solid"/>
          </a:ln>
        </p:spPr>
      </p:sp>
      <p:sp>
        <p:nvSpPr>
          <p:cNvPr id="7" name="Text 4"/>
          <p:cNvSpPr txBox="1"/>
          <p:nvPr/>
        </p:nvSpPr>
        <p:spPr>
          <a:xfrm>
            <a:off x="868680" y="5532120"/>
            <a:ext cx="10515600" cy="914400"/>
          </a:xfrm>
          <a:prstGeom prst="rect">
            <a:avLst/>
          </a:prstGeom>
          <a:noFill/>
          <a:ln/>
        </p:spPr>
        <p:txBody>
          <a:bodyPr wrap="square" lIns="0" tIns="0" rIns="0" bIns="0" rtlCol="0" anchor="ctr"/>
          <a:lstStyle/>
          <a:p>
            <a:pPr indent="0" marL="0">
              <a:buNone/>
            </a:pPr>
            <a:r>
              <a:rPr lang="en-US" sz="1200" b="1" dirty="0">
                <a:solidFill>
                  <a:srgbClr val="2EC4B6"/>
                </a:solidFill>
                <a:latin typeface="Calibri" pitchFamily="34" charset="0"/>
                <a:ea typeface="Calibri" pitchFamily="34" charset="-122"/>
                <a:cs typeface="Calibri" pitchFamily="34" charset="-120"/>
              </a:rPr>
              <a:t>We fund Stage 0 first:  </a:t>
            </a:r>
            <a:pPr indent="0" marL="0">
              <a:buNone/>
            </a:pPr>
            <a:r>
              <a:rPr lang="en-US" sz="1200" dirty="0">
                <a:solidFill>
                  <a:srgbClr val="E7ECEF"/>
                </a:solidFill>
                <a:latin typeface="Calibri" pitchFamily="34" charset="0"/>
                <a:ea typeface="Calibri" pitchFamily="34" charset="-122"/>
                <a:cs typeface="Calibri" pitchFamily="34" charset="-120"/>
              </a:rPr>
              <a:t>the fastest, cheapest test of the one design constraint (promoter matching) our own simulation flagged as make-or-break, using free, off-the-shelf parts. A negative result at any stage is a fast, cheap answer that redirects effort, not a wasted spend.</a:t>
            </a:r>
            <a:endParaRPr lang="en-US" sz="1200" dirty="0"/>
          </a:p>
        </p:txBody>
      </p:sp>
      <p:sp>
        <p:nvSpPr>
          <p:cNvPr id="8" name="Text 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BIOSAFETY &amp; CONTAINMENT</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Engineering bacteria to hold data raises real containment questions. We're addressing them before any wet-lab work starts</a:t>
            </a:r>
            <a:endParaRPr lang="en-US" sz="21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Organism &amp; containment level</a:t>
            </a:r>
            <a:endParaRPr lang="en-US" sz="150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B. subtilis lab strains, including the strain 168 background used with the Bacillus BioBrick Box parts, are non-pathogenic and handled at Biosafety Level 1 (BSL-1), the lowest containment tier, standard in academic synthetic-biology teaching labs.</a:t>
            </a:r>
            <a:endParaRPr lang="en-US" sz="120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1C8F84"/>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Kill-switch, planned, not yet built</a:t>
            </a:r>
            <a:endParaRPr lang="en-US" sz="150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A release-prevention mechanism (e.g. an auxotrophic dependency or inducible kill-switch) is a design requirement we're scoping into the toggle-circuit build for the roadmap experiment, not an afterthought added later.</a:t>
            </a:r>
            <a:endParaRPr lang="en-US" sz="120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Regulatory path</a:t>
            </a:r>
            <a:endParaRPr lang="en-US" sz="150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00" dirty="0">
                <a:solidFill>
                  <a:srgbClr val="5B6B77"/>
                </a:solidFill>
                <a:latin typeface="Calibri" pitchFamily="34" charset="0"/>
                <a:ea typeface="Calibri" pitchFamily="34" charset="-122"/>
                <a:cs typeface="Calibri" pitchFamily="34" charset="-120"/>
              </a:rPr>
              <a:t>Wet-lab work proceeds under the partner lab's Institutional Biosafety Committee (IBC) review and the NIH Guidelines for recombinant/synthetic nucleic acid research, the standard oversight path for this kind of academic or contract lab work. Storing data confers no pathogenicity, virulence, or toxin production, there is no dual-use mechanism here.</a:t>
            </a:r>
            <a:endParaRPr lang="en-US" sz="1200" dirty="0"/>
          </a:p>
        </p:txBody>
      </p:sp>
      <p:sp>
        <p:nvSpPr>
          <p:cNvPr id="16" name="Text 14"/>
          <p:cNvSpPr txBox="1"/>
          <p:nvPr/>
        </p:nvSpPr>
        <p:spPr>
          <a:xfrm>
            <a:off x="640080" y="5989320"/>
            <a:ext cx="10972800" cy="45720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None of this is unusual for synthetic biology. We're naming it now so it's never a surprise later.</a:t>
            </a:r>
            <a:endParaRPr lang="en-US" sz="13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Stage 0</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~$2K-$5K described on the roadmap slide: reagents, plasmid synthesis/cloning, a lab partnership providing bench access. The fastest, cheapest gate on the whole roadmap, later stages funded separately once each prior gate passes.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 Head of Business</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we're looking for in a program</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 team and a network that treats rigorous, honestly-reported science as a strength worth backing, not a liability to hide. That's the partner we're looking for.</a:t>
            </a:r>
            <a:endParaRPr lang="en-US" sz="1350" dirty="0"/>
          </a:p>
        </p:txBody>
      </p:sp>
      <p:sp>
        <p:nvSpPr>
          <p:cNvPr id="13" name="Text 11"/>
          <p:cNvSpPr txBox="1"/>
          <p:nvPr/>
        </p:nvSpPr>
        <p:spPr>
          <a:xfrm>
            <a:off x="640080" y="5486400"/>
            <a:ext cx="8686800" cy="128016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Dayana Sanchez: sanchezleal1989@gmail.com</a:t>
            </a:r>
            <a:endParaRPr lang="en-US" sz="1300" dirty="0"/>
          </a:p>
          <a:p>
            <a:pPr indent="0" marL="0">
              <a:spcAft>
                <a:spcPts val="400"/>
              </a:spcAft>
              <a:buNone/>
            </a:pPr>
            <a:r>
              <a:rPr lang="en-US" sz="1300" dirty="0">
                <a:solidFill>
                  <a:srgbClr val="AEC2C8"/>
                </a:solidFill>
                <a:latin typeface="Calibri" pitchFamily="34" charset="0"/>
                <a:ea typeface="Calibri" pitchFamily="34" charset="-122"/>
                <a:cs typeface="Calibri" pitchFamily="34" charset="-120"/>
              </a:rPr>
              <a:t>https://github.com/rewired89/Acheron.git</a:t>
            </a:r>
            <a:endParaRPr lang="en-US" sz="1300" dirty="0"/>
          </a:p>
          <a:p>
            <a:pPr indent="0" marL="0">
              <a:spcAft>
                <a:spcPts val="400"/>
              </a:spcAft>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FFFFFF"/>
                </a:solidFill>
                <a:latin typeface="Calibri" pitchFamily="34" charset="0"/>
                <a:ea typeface="Calibri" pitchFamily="34" charset="-122"/>
                <a:cs typeface="Calibri" pitchFamily="34" charset="-120"/>
              </a:rPr>
              <a:t>Jacqueline Solano: jackiea.solano@gmail.com</a:t>
            </a:r>
            <a:endParaRPr lang="en-US" sz="13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2026-09-20T22:24:58Z</dcterms:created>
  <dcterms:modified xsi:type="dcterms:W3CDTF">2026-09-20T22:24:58Z</dcterms:modified>
</cp:coreProperties>
</file>