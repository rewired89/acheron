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p:spPr>
      </p:sp>
      <p:sp>
        <p:nvSpPr>
          <p:cNvPr id="3" name="Shape 1"/>
          <p:cNvSpPr/>
          <p:nvPr/>
        </p:nvSpPr>
        <p:spPr>
          <a:xfrm>
            <a:off x="9692640" y="-1097280"/>
            <a:ext cx="5029200" cy="5029200"/>
          </a:xfrm>
          <a:prstGeom prst="ellipse">
            <a:avLst/>
          </a:prstGeom>
          <a:solidFill>
            <a:srgbClr val="2EC4B6">
              <a:alpha val="10000"/>
            </a:srgbClr>
          </a:solidFill>
          <a:ln/>
        </p:spPr>
      </p:sp>
      <p:sp>
        <p:nvSpPr>
          <p:cNvPr id="4" name="Shape 2"/>
          <p:cNvSpPr/>
          <p:nvPr/>
        </p:nvSpPr>
        <p:spPr>
          <a:xfrm>
            <a:off x="10789920" y="3291840"/>
            <a:ext cx="2926080" cy="2926080"/>
          </a:xfrm>
          <a:prstGeom prst="ellipse">
            <a:avLst/>
          </a:prstGeom>
          <a:solidFill>
            <a:srgbClr val="2EC4B6">
              <a:alpha val="12000"/>
            </a:srgbClr>
          </a:solidFill>
          <a:ln/>
        </p:spPr>
      </p:sp>
      <p:sp>
        <p:nvSpPr>
          <p:cNvPr id="5" name="Shape 3"/>
          <p:cNvSpPr/>
          <p:nvPr/>
        </p:nvSpPr>
        <p:spPr>
          <a:xfrm>
            <a:off x="-1371600" y="4389120"/>
            <a:ext cx="3657600" cy="3657600"/>
          </a:xfrm>
          <a:prstGeom prst="ellipse">
            <a:avLst/>
          </a:prstGeom>
          <a:solidFill>
            <a:srgbClr val="2EC4B6">
              <a:alpha val="8000"/>
            </a:srgbClr>
          </a:solidFill>
          <a:ln/>
        </p:spPr>
      </p:sp>
      <p:sp>
        <p:nvSpPr>
          <p:cNvPr id="6" name="Text 4"/>
          <p:cNvSpPr txBox="1"/>
          <p:nvPr/>
        </p:nvSpPr>
        <p:spPr>
          <a:xfrm>
            <a:off x="822960" y="9144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INCUBATOR PITCH, SEPTEMBER 2026</a:t>
            </a:r>
            <a:endParaRPr lang="en-US" sz="1200" dirty="0"/>
          </a:p>
        </p:txBody>
      </p:sp>
      <p:sp>
        <p:nvSpPr>
          <p:cNvPr id="7" name="Text 5"/>
          <p:cNvSpPr txBox="1"/>
          <p:nvPr/>
        </p:nvSpPr>
        <p:spPr>
          <a:xfrm>
            <a:off x="777240" y="1371600"/>
            <a:ext cx="10058400" cy="118872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Acheron</a:t>
            </a:r>
            <a:endParaRPr lang="en-US" sz="6200" dirty="0"/>
          </a:p>
        </p:txBody>
      </p:sp>
      <p:sp>
        <p:nvSpPr>
          <p:cNvPr id="8" name="Text 6"/>
          <p:cNvSpPr txBox="1"/>
          <p:nvPr/>
        </p:nvSpPr>
        <p:spPr>
          <a:xfrm>
            <a:off x="822960" y="2514600"/>
            <a:ext cx="9601200" cy="640080"/>
          </a:xfrm>
          <a:prstGeom prst="rect">
            <a:avLst/>
          </a:prstGeom>
          <a:noFill/>
          <a:ln/>
        </p:spPr>
        <p:txBody>
          <a:bodyPr wrap="square" lIns="0" tIns="0" rIns="0" bIns="0" rtlCol="0" anchor="ctr"/>
          <a:lstStyle/>
          <a:p>
            <a:pPr indent="0" marL="0">
              <a:buNone/>
            </a:pPr>
            <a:r>
              <a:rPr lang="en-US" sz="2400" dirty="0">
                <a:solidFill>
                  <a:srgbClr val="CFE3E0"/>
                </a:solidFill>
                <a:latin typeface="Calibri" pitchFamily="34" charset="0"/>
                <a:ea typeface="Calibri" pitchFamily="34" charset="-122"/>
                <a:cs typeface="Calibri" pitchFamily="34" charset="-120"/>
              </a:rPr>
              <a:t>Self-Healing Bioelectric Memory</a:t>
            </a:r>
            <a:endParaRPr lang="en-US" sz="2400" dirty="0"/>
          </a:p>
        </p:txBody>
      </p:sp>
      <p:sp>
        <p:nvSpPr>
          <p:cNvPr id="9" name="Text 7"/>
          <p:cNvSpPr txBox="1"/>
          <p:nvPr/>
        </p:nvSpPr>
        <p:spPr>
          <a:xfrm>
            <a:off x="822960" y="3200400"/>
            <a:ext cx="8412480" cy="54864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Persistent, regenerative data storage in living cells, for places nobody can send a repair technician.</a:t>
            </a:r>
            <a:endParaRPr lang="en-US" sz="1400" dirty="0"/>
          </a:p>
        </p:txBody>
      </p:sp>
      <p:sp>
        <p:nvSpPr>
          <p:cNvPr id="10" name="Shape 8"/>
          <p:cNvSpPr/>
          <p:nvPr/>
        </p:nvSpPr>
        <p:spPr>
          <a:xfrm>
            <a:off x="822960" y="3977640"/>
            <a:ext cx="4937760" cy="0"/>
          </a:xfrm>
          <a:prstGeom prst="line">
            <a:avLst/>
          </a:prstGeom>
          <a:noFill/>
          <a:ln w="25400">
            <a:solidFill>
              <a:srgbClr val="2EC4B6"/>
            </a:solidFill>
            <a:prstDash val="solid"/>
          </a:ln>
        </p:spPr>
      </p:sp>
      <p:sp>
        <p:nvSpPr>
          <p:cNvPr id="11" name="Text 9"/>
          <p:cNvSpPr txBox="1"/>
          <p:nvPr/>
        </p:nvSpPr>
        <p:spPr>
          <a:xfrm>
            <a:off x="822960" y="416052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Founder &amp; Lead Researcher: </a:t>
            </a:r>
            <a:pPr indent="0" marL="0">
              <a:buNone/>
            </a:pPr>
            <a:r>
              <a:rPr lang="en-US" sz="1300" b="1" dirty="0">
                <a:solidFill>
                  <a:srgbClr val="FFFFFF"/>
                </a:solidFill>
                <a:latin typeface="Calibri" pitchFamily="34" charset="0"/>
                <a:ea typeface="Calibri" pitchFamily="34" charset="-122"/>
                <a:cs typeface="Calibri" pitchFamily="34" charset="-120"/>
              </a:rPr>
              <a:t>Dayana Sanchez</a:t>
            </a:r>
            <a:endParaRPr lang="en-US" sz="1300" dirty="0"/>
          </a:p>
        </p:txBody>
      </p:sp>
      <p:sp>
        <p:nvSpPr>
          <p:cNvPr id="12" name="Text 10"/>
          <p:cNvSpPr txBox="1"/>
          <p:nvPr/>
        </p:nvSpPr>
        <p:spPr>
          <a:xfrm>
            <a:off x="822960" y="448056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sanchezleal1989@gmail.com</a:t>
            </a:r>
            <a:endParaRPr lang="en-US" sz="1300" dirty="0"/>
          </a:p>
        </p:txBody>
      </p:sp>
      <p:sp>
        <p:nvSpPr>
          <p:cNvPr id="13" name="Text 11"/>
          <p:cNvSpPr txBox="1"/>
          <p:nvPr/>
        </p:nvSpPr>
        <p:spPr>
          <a:xfrm>
            <a:off x="822960" y="480060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Co-Founder, Head of Business: </a:t>
            </a:r>
            <a:pPr indent="0" marL="0">
              <a:buNone/>
            </a:pPr>
            <a:r>
              <a:rPr lang="en-US" sz="1300" b="1" dirty="0">
                <a:solidFill>
                  <a:srgbClr val="FFFFFF"/>
                </a:solidFill>
                <a:latin typeface="Calibri" pitchFamily="34" charset="0"/>
                <a:ea typeface="Calibri" pitchFamily="34" charset="-122"/>
                <a:cs typeface="Calibri" pitchFamily="34" charset="-120"/>
              </a:rPr>
              <a:t>Jacqueline Solano</a:t>
            </a:r>
            <a:endParaRPr lang="en-US" sz="1300" dirty="0"/>
          </a:p>
        </p:txBody>
      </p:sp>
      <p:sp>
        <p:nvSpPr>
          <p:cNvPr id="14" name="Text 12"/>
          <p:cNvSpPr txBox="1"/>
          <p:nvPr/>
        </p:nvSpPr>
        <p:spPr>
          <a:xfrm>
            <a:off x="822960" y="512064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jackiea.solano@gmail.com</a:t>
            </a:r>
            <a:endParaRPr lang="en-US" sz="1300" dirty="0"/>
          </a:p>
        </p:txBody>
      </p:sp>
      <p:sp>
        <p:nvSpPr>
          <p:cNvPr id="15" name="Text 13"/>
          <p:cNvSpPr txBox="1"/>
          <p:nvPr/>
        </p:nvSpPr>
        <p:spPr>
          <a:xfrm>
            <a:off x="822960" y="544068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Repository: </a:t>
            </a:r>
            <a:pPr indent="0" marL="0">
              <a:buNone/>
            </a:pPr>
            <a:r>
              <a:rPr lang="en-US" sz="1300" dirty="0">
                <a:solidFill>
                  <a:srgbClr val="FFFFFF"/>
                </a:solidFill>
                <a:latin typeface="Calibri" pitchFamily="34" charset="0"/>
                <a:ea typeface="Calibri" pitchFamily="34" charset="-122"/>
                <a:cs typeface="Calibri" pitchFamily="34" charset="-120"/>
              </a:rPr>
              <a:t>github.com/rewired89/Acheron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600" b="1" dirty="0">
                <a:solidFill>
                  <a:srgbClr val="16232F"/>
                </a:solidFill>
                <a:latin typeface="Cambria" pitchFamily="34" charset="0"/>
                <a:ea typeface="Cambria" pitchFamily="34" charset="-122"/>
                <a:cs typeface="Cambria" pitchFamily="34" charset="-120"/>
              </a:rPr>
              <a:t>Every biocomputing product today runs on neurons, cells built for speed, not for storage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1828800"/>
        </p:xfrm>
        <a:graphic>
          <a:graphicData uri="http://schemas.openxmlformats.org/drawingml/2006/table">
            <a:tbl>
              <a:tblPr/>
              <a:tblGrid>
                <a:gridCol w="1965960"/>
                <a:gridCol w="1965960"/>
                <a:gridCol w="1965960"/>
                <a:gridCol w="1965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Substrate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Lifespan</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Cortical Labs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Human neurons on silicon (CL-1)</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6 months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$35,000 / unit</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Koniku</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Neuron-silicon sensing chips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~2 years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FinalSpark</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Brain organoids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Cloud access only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8778240" y="1828800"/>
            <a:ext cx="2788920" cy="4206240"/>
          </a:xfrm>
          <a:prstGeom prst="roundRect">
            <a:avLst>
              <a:gd name="adj" fmla="val 2623"/>
            </a:avLst>
          </a:prstGeom>
          <a:solidFill>
            <a:srgbClr val="0B1F3A"/>
          </a:solidFill>
          <a:ln/>
        </p:spPr>
      </p:sp>
      <p:sp>
        <p:nvSpPr>
          <p:cNvPr id="6" name="Text 3"/>
          <p:cNvSpPr txBox="1"/>
          <p:nvPr/>
        </p:nvSpPr>
        <p:spPr>
          <a:xfrm>
            <a:off x="9006840" y="2057400"/>
            <a:ext cx="2377440" cy="822960"/>
          </a:xfrm>
          <a:prstGeom prst="rect">
            <a:avLst/>
          </a:prstGeom>
          <a:noFill/>
          <a:ln/>
        </p:spPr>
        <p:txBody>
          <a:bodyPr wrap="square" lIns="0" tIns="0" rIns="0" bIns="0" rtlCol="0" anchor="ctr"/>
          <a:lstStyle/>
          <a:p>
            <a:pPr indent="0" marL="0">
              <a:buNone/>
            </a:pPr>
            <a:r>
              <a:rPr lang="en-US" sz="1500" b="1" dirty="0">
                <a:solidFill>
                  <a:srgbClr val="2EC4B6"/>
                </a:solidFill>
                <a:latin typeface="Cambria" pitchFamily="34" charset="0"/>
                <a:ea typeface="Cambria" pitchFamily="34" charset="-122"/>
                <a:cs typeface="Cambria" pitchFamily="34" charset="-120"/>
              </a:rPr>
              <a:t>Why this fails for</a:t>
            </a:r>
            <a:endParaRPr lang="en-US" sz="1500" dirty="0"/>
          </a:p>
          <a:p>
            <a:pPr indent="0" marL="0">
              <a:buNone/>
            </a:pPr>
            <a:r>
              <a:rPr lang="en-US" sz="1500" b="1" dirty="0">
                <a:solidFill>
                  <a:srgbClr val="2EC4B6"/>
                </a:solidFill>
                <a:latin typeface="Cambria" pitchFamily="34" charset="0"/>
                <a:ea typeface="Cambria" pitchFamily="34" charset="-122"/>
                <a:cs typeface="Cambria" pitchFamily="34" charset="-120"/>
              </a:rPr>
              <a:t>long-duration storage</a:t>
            </a:r>
            <a:endParaRPr lang="en-US" sz="1500" dirty="0"/>
          </a:p>
        </p:txBody>
      </p:sp>
      <p:sp>
        <p:nvSpPr>
          <p:cNvPr id="7" name="Text 4"/>
          <p:cNvSpPr txBox="1"/>
          <p:nvPr/>
        </p:nvSpPr>
        <p:spPr>
          <a:xfrm>
            <a:off x="9006840" y="2880360"/>
            <a:ext cx="2377440" cy="292608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Neurons need continuous energy to hold any signal at all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Fixed replacement clock, no self-repair, ever</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Requires life support: temperature, pH, oxygen control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None of this survives radiation, vacuum, or physical damage</a:t>
            </a:r>
            <a:endParaRPr lang="en-US" sz="1200" dirty="0"/>
          </a:p>
        </p:txBody>
      </p:sp>
      <p:sp>
        <p:nvSpPr>
          <p:cNvPr id="8" name="Text 5"/>
          <p:cNvSpPr txBox="1"/>
          <p:nvPr/>
        </p:nvSpPr>
        <p:spPr>
          <a:xfrm>
            <a:off x="640080" y="3977640"/>
            <a:ext cx="7863840" cy="1463040"/>
          </a:xfrm>
          <a:prstGeom prst="rect">
            <a:avLst/>
          </a:prstGeom>
          <a:noFill/>
          <a:ln/>
        </p:spPr>
        <p:txBody>
          <a:bodyPr wrap="square" lIns="0" tIns="0" rIns="0" bIns="0" rtlCol="0" anchor="ctr"/>
          <a:lstStyle/>
          <a:p>
            <a:pPr indent="0" marL="0">
              <a:buNone/>
            </a:pPr>
            <a:r>
              <a:rPr lang="en-US" sz="1500" i="1" dirty="0">
                <a:solidFill>
                  <a:srgbClr val="5B6B77"/>
                </a:solidFill>
                <a:latin typeface="Calibri" pitchFamily="34" charset="0"/>
                <a:ea typeface="Calibri" pitchFamily="34" charset="-122"/>
                <a:cs typeface="Calibri" pitchFamily="34" charset="-120"/>
              </a:rPr>
              <a:t>Spacecraft, seafloor sensors, and remote infrastructure share one hard requirement both silicon and neurons fail: nobody can service the hardware in person.</a:t>
            </a:r>
            <a:endParaRPr lang="en-US" sz="1500" dirty="0"/>
          </a:p>
        </p:txBody>
      </p:sp>
      <p:sp>
        <p:nvSpPr>
          <p:cNvPr id="9" name="Text 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Some living tissue holds a voltage pattern for weeks, and regrows itself after damage</a:t>
            </a:r>
            <a:endParaRPr lang="en-US" sz="25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914400" y="2103120"/>
            <a:ext cx="502920" cy="502920"/>
          </a:xfrm>
          <a:prstGeom prst="ellipse">
            <a:avLst/>
          </a:prstGeom>
          <a:solidFill>
            <a:srgbClr val="2EC4B6"/>
          </a:solidFill>
          <a:ln/>
        </p:spPr>
      </p:sp>
      <p:sp>
        <p:nvSpPr>
          <p:cNvPr id="6" name="Text 4"/>
          <p:cNvSpPr txBox="1"/>
          <p:nvPr/>
        </p:nvSpPr>
        <p:spPr>
          <a:xfrm>
            <a:off x="91440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91440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Natural precedent</a:t>
            </a:r>
            <a:endParaRPr lang="en-US" sz="1600" dirty="0"/>
          </a:p>
        </p:txBody>
      </p:sp>
      <p:sp>
        <p:nvSpPr>
          <p:cNvPr id="8" name="Text 6"/>
          <p:cNvSpPr txBox="1"/>
          <p:nvPr/>
        </p:nvSpPr>
        <p:spPr>
          <a:xfrm>
            <a:off x="91440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Planarian flatworms store body-plan identity ("grow a head here") as a bioelectric pattern. Cut one in half, the pattern survives and rebuilds correctly in both halves.</a:t>
            </a:r>
            <a:endParaRPr lang="en-US" sz="12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709160" y="2103120"/>
            <a:ext cx="502920" cy="502920"/>
          </a:xfrm>
          <a:prstGeom prst="ellipse">
            <a:avLst/>
          </a:prstGeom>
          <a:solidFill>
            <a:srgbClr val="2EC4B6"/>
          </a:solidFill>
          <a:ln/>
        </p:spPr>
      </p:sp>
      <p:sp>
        <p:nvSpPr>
          <p:cNvPr id="11" name="Text 9"/>
          <p:cNvSpPr txBox="1"/>
          <p:nvPr/>
        </p:nvSpPr>
        <p:spPr>
          <a:xfrm>
            <a:off x="470916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470916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Our question</a:t>
            </a:r>
            <a:endParaRPr lang="en-US" sz="1600" dirty="0"/>
          </a:p>
        </p:txBody>
      </p:sp>
      <p:sp>
        <p:nvSpPr>
          <p:cNvPr id="13" name="Text 11"/>
          <p:cNvSpPr txBox="1"/>
          <p:nvPr/>
        </p:nvSpPr>
        <p:spPr>
          <a:xfrm>
            <a:off x="470916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Can the same kind of system, voltage state plus strong regenerative inheritance, hold arbitrary binary data, not just the organism's own natural signal?</a:t>
            </a:r>
            <a:endParaRPr lang="en-US" sz="12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503920" y="2103120"/>
            <a:ext cx="502920" cy="502920"/>
          </a:xfrm>
          <a:prstGeom prst="ellipse">
            <a:avLst/>
          </a:prstGeom>
          <a:solidFill>
            <a:srgbClr val="2EC4B6"/>
          </a:solidFill>
          <a:ln/>
        </p:spPr>
      </p:sp>
      <p:sp>
        <p:nvSpPr>
          <p:cNvPr id="16" name="Text 14"/>
          <p:cNvSpPr txBox="1"/>
          <p:nvPr/>
        </p:nvSpPr>
        <p:spPr>
          <a:xfrm>
            <a:off x="850392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850392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Why it would matter</a:t>
            </a:r>
            <a:endParaRPr lang="en-US" sz="1600" dirty="0"/>
          </a:p>
        </p:txBody>
      </p:sp>
      <p:sp>
        <p:nvSpPr>
          <p:cNvPr id="18" name="Text 16"/>
          <p:cNvSpPr txBox="1"/>
          <p:nvPr/>
        </p:nvSpPr>
        <p:spPr>
          <a:xfrm>
            <a:off x="850392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substrate that needs no power to hold state, and repairs itself after physical damage, is a fundamentally different answer to extreme-environment storage.</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FULL GOAL</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Storing a bit is step one. The real target is a cell that writes, hands off, and heals itself for reuse</a:t>
            </a:r>
            <a:endParaRPr lang="en-US" sz="2100" dirty="0"/>
          </a:p>
        </p:txBody>
      </p:sp>
      <p:sp>
        <p:nvSpPr>
          <p:cNvPr id="4" name="Shape 2"/>
          <p:cNvSpPr/>
          <p:nvPr/>
        </p:nvSpPr>
        <p:spPr>
          <a:xfrm>
            <a:off x="640080" y="1828800"/>
            <a:ext cx="3566160" cy="2286000"/>
          </a:xfrm>
          <a:prstGeom prst="roundRect">
            <a:avLst>
              <a:gd name="adj" fmla="val 3200"/>
            </a:avLst>
          </a:prstGeom>
          <a:solidFill>
            <a:srgbClr val="0B1F3A"/>
          </a:solidFill>
          <a:ln/>
        </p:spPr>
      </p:sp>
      <p:sp>
        <p:nvSpPr>
          <p:cNvPr id="5" name="Text 3"/>
          <p:cNvSpPr txBox="1"/>
          <p:nvPr/>
        </p:nvSpPr>
        <p:spPr>
          <a:xfrm>
            <a:off x="89611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1. Write</a:t>
            </a:r>
            <a:endParaRPr lang="en-US" sz="1600" dirty="0"/>
          </a:p>
        </p:txBody>
      </p:sp>
      <p:sp>
        <p:nvSpPr>
          <p:cNvPr id="6" name="Text 4"/>
          <p:cNvSpPr txBox="1"/>
          <p:nvPr/>
        </p:nvSpPr>
        <p:spPr>
          <a:xfrm>
            <a:off x="89611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A bit is written into the cell's engineered voltage-holding circuit.</a:t>
            </a:r>
            <a:endParaRPr lang="en-US" sz="1200" dirty="0"/>
          </a:p>
        </p:txBody>
      </p:sp>
      <p:sp>
        <p:nvSpPr>
          <p:cNvPr id="7" name="Shape 5"/>
          <p:cNvSpPr/>
          <p:nvPr/>
        </p:nvSpPr>
        <p:spPr>
          <a:xfrm>
            <a:off x="4434840" y="1828800"/>
            <a:ext cx="3566160" cy="2286000"/>
          </a:xfrm>
          <a:prstGeom prst="roundRect">
            <a:avLst>
              <a:gd name="adj" fmla="val 3200"/>
            </a:avLst>
          </a:prstGeom>
          <a:solidFill>
            <a:srgbClr val="0B1F3A"/>
          </a:solidFill>
          <a:ln/>
        </p:spPr>
      </p:sp>
      <p:sp>
        <p:nvSpPr>
          <p:cNvPr id="8" name="Text 6"/>
          <p:cNvSpPr txBox="1"/>
          <p:nvPr/>
        </p:nvSpPr>
        <p:spPr>
          <a:xfrm>
            <a:off x="469087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2. Transfer on split</a:t>
            </a:r>
            <a:endParaRPr lang="en-US" sz="1600" dirty="0"/>
          </a:p>
        </p:txBody>
      </p:sp>
      <p:sp>
        <p:nvSpPr>
          <p:cNvPr id="9" name="Text 7"/>
          <p:cNvSpPr txBox="1"/>
          <p:nvPr/>
        </p:nvSpPr>
        <p:spPr>
          <a:xfrm>
            <a:off x="469087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When the organism naturally regenerates or divides, the data travels with it into the new organism, not just genetic material, the written state itself.</a:t>
            </a:r>
            <a:endParaRPr lang="en-US" sz="1200" dirty="0"/>
          </a:p>
        </p:txBody>
      </p:sp>
      <p:sp>
        <p:nvSpPr>
          <p:cNvPr id="10" name="Shape 8"/>
          <p:cNvSpPr/>
          <p:nvPr/>
        </p:nvSpPr>
        <p:spPr>
          <a:xfrm>
            <a:off x="8229600" y="1828800"/>
            <a:ext cx="3566160" cy="2286000"/>
          </a:xfrm>
          <a:prstGeom prst="roundRect">
            <a:avLst>
              <a:gd name="adj" fmla="val 3200"/>
            </a:avLst>
          </a:prstGeom>
          <a:solidFill>
            <a:srgbClr val="0B1F3A"/>
          </a:solidFill>
          <a:ln/>
        </p:spPr>
      </p:sp>
      <p:sp>
        <p:nvSpPr>
          <p:cNvPr id="11" name="Text 9"/>
          <p:cNvSpPr txBox="1"/>
          <p:nvPr/>
        </p:nvSpPr>
        <p:spPr>
          <a:xfrm>
            <a:off x="848563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3. Self-heal for reuse</a:t>
            </a:r>
            <a:endParaRPr lang="en-US" sz="1600" dirty="0"/>
          </a:p>
        </p:txBody>
      </p:sp>
      <p:sp>
        <p:nvSpPr>
          <p:cNvPr id="12" name="Text 10"/>
          <p:cNvSpPr txBox="1"/>
          <p:nvPr/>
        </p:nvSpPr>
        <p:spPr>
          <a:xfrm>
            <a:off x="848563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The original cell/colony recovers back to a clean baseline afterward, so it can be written to again rather than being a one-time-use component.</a:t>
            </a:r>
            <a:endParaRPr lang="en-US" sz="1200" dirty="0"/>
          </a:p>
        </p:txBody>
      </p:sp>
      <p:sp>
        <p:nvSpPr>
          <p:cNvPr id="13" name="Shape 11"/>
          <p:cNvSpPr/>
          <p:nvPr/>
        </p:nvSpPr>
        <p:spPr>
          <a:xfrm>
            <a:off x="640080" y="4343400"/>
            <a:ext cx="10972800" cy="1828800"/>
          </a:xfrm>
          <a:prstGeom prst="roundRect">
            <a:avLst>
              <a:gd name="adj" fmla="val 4000"/>
            </a:avLst>
          </a:prstGeom>
          <a:solidFill>
            <a:srgbClr val="F4F6F7"/>
          </a:solidFill>
          <a:ln w="12700">
            <a:solidFill>
              <a:srgbClr val="DCE3E6"/>
            </a:solidFill>
            <a:prstDash val="solid"/>
          </a:ln>
        </p:spPr>
      </p:sp>
      <p:sp>
        <p:nvSpPr>
          <p:cNvPr id="14" name="Text 12"/>
          <p:cNvSpPr txBox="1"/>
          <p:nvPr/>
        </p:nvSpPr>
        <p:spPr>
          <a:xfrm>
            <a:off x="914400" y="4526280"/>
            <a:ext cx="10424160" cy="365760"/>
          </a:xfrm>
          <a:prstGeom prst="rect">
            <a:avLst/>
          </a:prstGeom>
          <a:noFill/>
          <a:ln/>
        </p:spPr>
        <p:txBody>
          <a:bodyPr wrap="square" lIns="0" tIns="0" rIns="0" bIns="0" rtlCol="0" anchor="ctr"/>
          <a:lstStyle/>
          <a:p>
            <a:pPr indent="0" marL="0">
              <a:buNone/>
            </a:pPr>
            <a:r>
              <a:rPr lang="en-US" sz="1450" b="1" dirty="0">
                <a:solidFill>
                  <a:srgbClr val="1C8F84"/>
                </a:solidFill>
                <a:latin typeface="Cambria" pitchFamily="34" charset="0"/>
                <a:ea typeface="Cambria" pitchFamily="34" charset="-122"/>
                <a:cs typeface="Cambria" pitchFamily="34" charset="-120"/>
              </a:rPr>
              <a:t>In plain English</a:t>
            </a:r>
            <a:endParaRPr lang="en-US" sz="1450" dirty="0"/>
          </a:p>
        </p:txBody>
      </p:sp>
      <p:sp>
        <p:nvSpPr>
          <p:cNvPr id="15" name="Text 13"/>
          <p:cNvSpPr txBox="1"/>
          <p:nvPr/>
        </p:nvSpPr>
        <p:spPr>
          <a:xfrm>
            <a:off x="914400" y="4937760"/>
            <a:ext cx="10424160" cy="1143000"/>
          </a:xfrm>
          <a:prstGeom prst="rect">
            <a:avLst/>
          </a:prstGeom>
          <a:noFill/>
          <a:ln/>
        </p:spPr>
        <p:txBody>
          <a:bodyPr wrap="square" lIns="0" tIns="0" rIns="0" bIns="0" rtlCol="0" anchor="ctr"/>
          <a:lstStyle/>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Living cell</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reusable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Writing a bit</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pencil note in it.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organism splitting/regrowing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photocopying the notebook.  </a:t>
            </a:r>
            <a:endParaRPr lang="en-US" sz="1350" dirty="0"/>
          </a:p>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new organism</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new notebook that already has the note copied in.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Self-healing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the original notebook erases its own note and is ready to write a new one.</a:t>
            </a:r>
            <a:endParaRPr lang="en-US" sz="1350" dirty="0"/>
          </a:p>
        </p:txBody>
      </p:sp>
      <p:sp>
        <p:nvSpPr>
          <p:cNvPr id="16" name="Text 14"/>
          <p:cNvSpPr txBox="1"/>
          <p:nvPr/>
        </p:nvSpPr>
        <p:spPr>
          <a:xfrm>
            <a:off x="640080" y="6355080"/>
            <a:ext cx="1097280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This full cycle hasn't been tested in a wet lab yet. It's the goal the roadmap experiment works toward.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READ THIS BEFORE ANY NUMBER AHEAD</a:t>
            </a:r>
            <a:endParaRPr lang="en-US" sz="1200" dirty="0"/>
          </a:p>
        </p:txBody>
      </p:sp>
      <p:sp>
        <p:nvSpPr>
          <p:cNvPr id="3" name="Text 1"/>
          <p:cNvSpPr txBox="1"/>
          <p:nvPr/>
        </p:nvSpPr>
        <p:spPr>
          <a:xfrm>
            <a:off x="640080" y="822960"/>
            <a:ext cx="10881360" cy="8686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Every number in this deck, so far, comes from a computational model. None of it has been measured in a wet lab yet</a:t>
            </a:r>
            <a:endParaRPr lang="en-US" sz="2200" dirty="0"/>
          </a:p>
        </p:txBody>
      </p:sp>
      <p:sp>
        <p:nvSpPr>
          <p:cNvPr id="4" name="Shape 2"/>
          <p:cNvSpPr/>
          <p:nvPr/>
        </p:nvSpPr>
        <p:spPr>
          <a:xfrm>
            <a:off x="640080" y="1965960"/>
            <a:ext cx="5349240" cy="3703320"/>
          </a:xfrm>
          <a:prstGeom prst="roundRect">
            <a:avLst>
              <a:gd name="adj" fmla="val 1975"/>
            </a:avLst>
          </a:prstGeom>
          <a:solidFill>
            <a:srgbClr val="132A4D"/>
          </a:solidFill>
          <a:ln/>
        </p:spPr>
      </p:sp>
      <p:sp>
        <p:nvSpPr>
          <p:cNvPr id="5" name="Text 3"/>
          <p:cNvSpPr txBox="1"/>
          <p:nvPr/>
        </p:nvSpPr>
        <p:spPr>
          <a:xfrm>
            <a:off x="914400" y="2194560"/>
            <a:ext cx="4846320" cy="457200"/>
          </a:xfrm>
          <a:prstGeom prst="rect">
            <a:avLst/>
          </a:prstGeom>
          <a:noFill/>
          <a:ln/>
        </p:spPr>
        <p:txBody>
          <a:bodyPr wrap="square" lIns="0" tIns="0" rIns="0" bIns="0" rtlCol="0" anchor="ctr"/>
          <a:lstStyle/>
          <a:p>
            <a:pPr indent="0" marL="0">
              <a:buNone/>
            </a:pPr>
            <a:r>
              <a:rPr lang="en-US" sz="1550" b="1" dirty="0">
                <a:solidFill>
                  <a:srgbClr val="2EC4B6"/>
                </a:solidFill>
                <a:latin typeface="Cambria" pitchFamily="34" charset="0"/>
                <a:ea typeface="Cambria" pitchFamily="34" charset="-122"/>
                <a:cs typeface="Cambria" pitchFamily="34" charset="-120"/>
              </a:rPr>
              <a:t>Simulated (100% of results below)</a:t>
            </a:r>
            <a:endParaRPr lang="en-US" sz="1550" dirty="0"/>
          </a:p>
        </p:txBody>
      </p:sp>
      <p:sp>
        <p:nvSpPr>
          <p:cNvPr id="6" name="Text 4"/>
          <p:cNvSpPr txBox="1"/>
          <p:nvPr/>
        </p:nvSpPr>
        <p:spPr>
          <a:xfrm>
            <a:off x="914400" y="2697480"/>
            <a:ext cx="4846320" cy="2834640"/>
          </a:xfrm>
          <a:prstGeom prst="rect">
            <a:avLst/>
          </a:prstGeom>
          <a:noFill/>
          <a:ln/>
        </p:spPr>
        <p:txBody>
          <a:bodyPr wrap="square" lIns="0" tIns="0" rIns="0" bIns="0" rtlCol="0" anchor="ctr"/>
          <a:lstStyle/>
          <a:p>
            <a:pPr marL="342900" indent="-342900">
              <a:lnSpc>
                <a:spcPct val="115000"/>
              </a:lnSpc>
              <a:spcAft>
                <a:spcPts val="900"/>
              </a:spcAft>
              <a:buSzPct val="100000"/>
              <a:buChar char="•"/>
            </a:pPr>
            <a:r>
              <a:rPr lang="en-US" sz="1200" dirty="0">
                <a:solidFill>
                  <a:srgbClr val="CFE0DD"/>
                </a:solidFill>
                <a:latin typeface="Calibri" pitchFamily="34" charset="0"/>
                <a:ea typeface="Calibri" pitchFamily="34" charset="-122"/>
                <a:cs typeface="Calibri" pitchFamily="34" charset="-120"/>
              </a:rPr>
              <a:t>Bit integrity under noise: 100% (zero-noise) vs. ~50% (realistic noise)</a:t>
            </a:r>
            <a:endParaRPr lang="en-US" sz="1200" dirty="0"/>
          </a:p>
          <a:p>
            <a:pPr marL="342900" indent="-342900">
              <a:lnSpc>
                <a:spcPct val="115000"/>
              </a:lnSpc>
              <a:spcAft>
                <a:spcPts val="900"/>
              </a:spcAft>
              <a:buSzPct val="100000"/>
              <a:buChar char="•"/>
            </a:pPr>
            <a:r>
              <a:rPr lang="en-US" sz="1200" dirty="0">
                <a:solidFill>
                  <a:srgbClr val="CFE0DD"/>
                </a:solidFill>
                <a:latin typeface="Calibri" pitchFamily="34" charset="0"/>
                <a:ea typeface="Calibri" pitchFamily="34" charset="-122"/>
                <a:cs typeface="Calibri" pitchFamily="34" charset="-120"/>
              </a:rPr>
              <a:t>Toggle-circuit fidelity: 100% (matched/mismatched-within-range) vs. 50% (severe mismatch)</a:t>
            </a:r>
            <a:endParaRPr lang="en-US" sz="1200" dirty="0"/>
          </a:p>
          <a:p>
            <a:pPr marL="342900" indent="-342900">
              <a:lnSpc>
                <a:spcPct val="115000"/>
              </a:lnSpc>
              <a:spcAft>
                <a:spcPts val="900"/>
              </a:spcAft>
              <a:buSzPct val="100000"/>
              <a:buChar char="•"/>
            </a:pPr>
            <a:r>
              <a:rPr lang="en-US" sz="1200" dirty="0">
                <a:solidFill>
                  <a:srgbClr val="CFE0DD"/>
                </a:solidFill>
                <a:latin typeface="Calibri" pitchFamily="34" charset="0"/>
                <a:ea typeface="Calibri" pitchFamily="34" charset="-122"/>
                <a:cs typeface="Calibri" pitchFamily="34" charset="-120"/>
              </a:rPr>
              <a:t>Cross-organism recovery threshold: ~2% surviving cells, for all three mechanisms</a:t>
            </a:r>
            <a:endParaRPr lang="en-US" sz="1200" dirty="0"/>
          </a:p>
          <a:p>
            <a:pPr marL="342900" indent="-342900">
              <a:lnSpc>
                <a:spcPct val="115000"/>
              </a:lnSpc>
              <a:spcAft>
                <a:spcPts val="900"/>
              </a:spcAft>
              <a:buSzPct val="100000"/>
              <a:buChar char="•"/>
            </a:pPr>
            <a:r>
              <a:rPr lang="en-US" sz="1200" dirty="0">
                <a:solidFill>
                  <a:srgbClr val="CFE0DD"/>
                </a:solidFill>
                <a:latin typeface="Calibri" pitchFamily="34" charset="0"/>
                <a:ea typeface="Calibri" pitchFamily="34" charset="-122"/>
                <a:cs typeface="Calibri" pitchFamily="34" charset="-120"/>
              </a:rPr>
              <a:t>EIS voltage-read collapse: 50-59% under native biofilm oscillation</a:t>
            </a:r>
            <a:endParaRPr lang="en-US" sz="1200" dirty="0"/>
          </a:p>
        </p:txBody>
      </p:sp>
      <p:sp>
        <p:nvSpPr>
          <p:cNvPr id="7" name="Shape 5"/>
          <p:cNvSpPr/>
          <p:nvPr/>
        </p:nvSpPr>
        <p:spPr>
          <a:xfrm>
            <a:off x="6172200" y="1965960"/>
            <a:ext cx="5394960" cy="3703320"/>
          </a:xfrm>
          <a:prstGeom prst="roundRect">
            <a:avLst>
              <a:gd name="adj" fmla="val 1975"/>
            </a:avLst>
          </a:prstGeom>
          <a:solidFill>
            <a:srgbClr val="132A4D"/>
          </a:solidFill>
          <a:ln w="12700">
            <a:solidFill>
              <a:srgbClr val="E8A33D"/>
            </a:solidFill>
            <a:prstDash val="solid"/>
          </a:ln>
        </p:spPr>
      </p:sp>
      <p:sp>
        <p:nvSpPr>
          <p:cNvPr id="8" name="Text 6"/>
          <p:cNvSpPr txBox="1"/>
          <p:nvPr/>
        </p:nvSpPr>
        <p:spPr>
          <a:xfrm>
            <a:off x="6446520" y="2194560"/>
            <a:ext cx="4846320" cy="457200"/>
          </a:xfrm>
          <a:prstGeom prst="rect">
            <a:avLst/>
          </a:prstGeom>
          <a:noFill/>
          <a:ln/>
        </p:spPr>
        <p:txBody>
          <a:bodyPr wrap="square" lIns="0" tIns="0" rIns="0" bIns="0" rtlCol="0" anchor="ctr"/>
          <a:lstStyle/>
          <a:p>
            <a:pPr indent="0" marL="0">
              <a:buNone/>
            </a:pPr>
            <a:r>
              <a:rPr lang="en-US" sz="1550" b="1" dirty="0">
                <a:solidFill>
                  <a:srgbClr val="E8A33D"/>
                </a:solidFill>
                <a:latin typeface="Cambria" pitchFamily="34" charset="0"/>
                <a:ea typeface="Cambria" pitchFamily="34" charset="-122"/>
                <a:cs typeface="Cambria" pitchFamily="34" charset="-120"/>
              </a:rPr>
              <a:t>Measured (0% of results below)</a:t>
            </a:r>
            <a:endParaRPr lang="en-US" sz="1550" dirty="0"/>
          </a:p>
        </p:txBody>
      </p:sp>
      <p:sp>
        <p:nvSpPr>
          <p:cNvPr id="9" name="Text 7"/>
          <p:cNvSpPr txBox="1"/>
          <p:nvPr/>
        </p:nvSpPr>
        <p:spPr>
          <a:xfrm>
            <a:off x="6446520" y="2697480"/>
            <a:ext cx="4846320" cy="283464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Nothing yet.
</a:t>
            </a:r>
            <a:endParaRPr lang="en-US" sz="1300" dirty="0"/>
          </a:p>
          <a:p>
            <a:pPr indent="0" marL="0">
              <a:lnSpc>
                <a:spcPct val="120000"/>
              </a:lnSpc>
              <a:buNone/>
            </a:pPr>
            <a:r>
              <a:rPr lang="en-US" sz="1300" dirty="0">
                <a:solidFill>
                  <a:srgbClr val="CFE0DD"/>
                </a:solidFill>
                <a:latin typeface="Calibri" pitchFamily="34" charset="0"/>
                <a:ea typeface="Calibri" pitchFamily="34" charset="-122"/>
                <a:cs typeface="Calibri" pitchFamily="34" charset="-120"/>
              </a:rPr>
              <a:t>The $10K-$30K wet-lab experiment on the roadmap slide is the first physical test of any of this, in any organism. Until it runs, every figure on the surrounding slides is a model's prediction, not a result.</a:t>
            </a:r>
            <a:endParaRPr lang="en-US" sz="1300" dirty="0"/>
          </a:p>
        </p:txBody>
      </p:sp>
      <p:sp>
        <p:nvSpPr>
          <p:cNvPr id="10" name="Shape 8"/>
          <p:cNvSpPr/>
          <p:nvPr/>
        </p:nvSpPr>
        <p:spPr>
          <a:xfrm>
            <a:off x="640080" y="5852160"/>
            <a:ext cx="10927080" cy="685800"/>
          </a:xfrm>
          <a:prstGeom prst="roundRect">
            <a:avLst>
              <a:gd name="adj" fmla="val 10667"/>
            </a:avLst>
          </a:prstGeom>
          <a:solidFill>
            <a:srgbClr val="18314F"/>
          </a:solidFill>
          <a:ln w="12700">
            <a:solidFill>
              <a:srgbClr val="E8A33D"/>
            </a:solidFill>
            <a:prstDash val="solid"/>
          </a:ln>
        </p:spPr>
      </p:sp>
      <p:sp>
        <p:nvSpPr>
          <p:cNvPr id="11" name="Text 9"/>
          <p:cNvSpPr txBox="1"/>
          <p:nvPr/>
        </p:nvSpPr>
        <p:spPr>
          <a:xfrm>
            <a:off x="868680" y="5852160"/>
            <a:ext cx="10515600" cy="685800"/>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Why we're leading with this:  </a:t>
            </a:r>
            <a:pPr indent="0" marL="0">
              <a:buNone/>
            </a:pPr>
            <a:r>
              <a:rPr lang="en-US" sz="1300" dirty="0">
                <a:solidFill>
                  <a:srgbClr val="E7ECEF"/>
                </a:solidFill>
                <a:latin typeface="Calibri" pitchFamily="34" charset="0"/>
                <a:ea typeface="Calibri" pitchFamily="34" charset="-122"/>
                <a:cs typeface="Calibri" pitchFamily="34" charset="-120"/>
              </a:rPr>
              <a:t>simulation tells us where to spend wet-lab money wisely, it is not evidence the mechanism works in a real cell.</a:t>
            </a:r>
            <a:endParaRPr lang="en-US" sz="1300" dirty="0"/>
          </a:p>
        </p:txBody>
      </p:sp>
      <p:sp>
        <p:nvSpPr>
          <p:cNvPr id="12" name="Text 10"/>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SCIENTIFIC FOUNDATION</a:t>
            </a:r>
            <a:endParaRPr lang="en-US" sz="1200" dirty="0"/>
          </a:p>
        </p:txBody>
      </p:sp>
      <p:sp>
        <p:nvSpPr>
          <p:cNvPr id="3" name="Text 1"/>
          <p:cNvSpPr txBox="1"/>
          <p:nvPr/>
        </p:nvSpPr>
        <p:spPr>
          <a:xfrm>
            <a:off x="640080" y="777240"/>
            <a:ext cx="10881360" cy="64008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Three independently published results this concept is built on</a:t>
            </a:r>
            <a:endParaRPr lang="en-US" sz="2500" dirty="0"/>
          </a:p>
        </p:txBody>
      </p:sp>
      <p:sp>
        <p:nvSpPr>
          <p:cNvPr id="4" name="Shape 2"/>
          <p:cNvSpPr/>
          <p:nvPr/>
        </p:nvSpPr>
        <p:spPr>
          <a:xfrm>
            <a:off x="640080" y="1737360"/>
            <a:ext cx="54864" cy="1234440"/>
          </a:xfrm>
          <a:prstGeom prst="rect">
            <a:avLst/>
          </a:prstGeom>
          <a:solidFill>
            <a:srgbClr val="2EC4B6"/>
          </a:solidFill>
          <a:ln/>
        </p:spPr>
      </p:sp>
      <p:sp>
        <p:nvSpPr>
          <p:cNvPr id="5" name="Text 3"/>
          <p:cNvSpPr txBox="1"/>
          <p:nvPr/>
        </p:nvSpPr>
        <p:spPr>
          <a:xfrm>
            <a:off x="914400" y="169164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Bioelectric body-plan control</a:t>
            </a:r>
            <a:endParaRPr lang="en-US" sz="1550" dirty="0"/>
          </a:p>
        </p:txBody>
      </p:sp>
      <p:sp>
        <p:nvSpPr>
          <p:cNvPr id="6" name="Text 4"/>
          <p:cNvSpPr txBox="1"/>
          <p:nvPr/>
        </p:nvSpPr>
        <p:spPr>
          <a:xfrm>
            <a:off x="914400" y="207568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Levin et al., multiple papers 2006-2023 (Tufts)</a:t>
            </a:r>
            <a:endParaRPr lang="en-US" sz="1150" dirty="0"/>
          </a:p>
        </p:txBody>
      </p:sp>
      <p:sp>
        <p:nvSpPr>
          <p:cNvPr id="7" name="Text 5"/>
          <p:cNvSpPr txBox="1"/>
          <p:nvPr/>
        </p:nvSpPr>
        <p:spPr>
          <a:xfrm>
            <a:off x="4754880" y="169164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Voltage gradients control regeneration outcomes in planaria, replicated across multiple labs, the two-headed-worm result is the most cited example.</a:t>
            </a:r>
            <a:endParaRPr lang="en-US" sz="1300" dirty="0"/>
          </a:p>
        </p:txBody>
      </p:sp>
      <p:sp>
        <p:nvSpPr>
          <p:cNvPr id="8" name="Shape 6"/>
          <p:cNvSpPr/>
          <p:nvPr/>
        </p:nvSpPr>
        <p:spPr>
          <a:xfrm>
            <a:off x="640080" y="3200400"/>
            <a:ext cx="54864" cy="1234440"/>
          </a:xfrm>
          <a:prstGeom prst="rect">
            <a:avLst/>
          </a:prstGeom>
          <a:solidFill>
            <a:srgbClr val="2EC4B6"/>
          </a:solidFill>
          <a:ln/>
        </p:spPr>
      </p:sp>
      <p:sp>
        <p:nvSpPr>
          <p:cNvPr id="9" name="Text 7"/>
          <p:cNvSpPr txBox="1"/>
          <p:nvPr/>
        </p:nvSpPr>
        <p:spPr>
          <a:xfrm>
            <a:off x="914400" y="315468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Engineered genetic bistability</a:t>
            </a:r>
            <a:endParaRPr lang="en-US" sz="1550" dirty="0"/>
          </a:p>
        </p:txBody>
      </p:sp>
      <p:sp>
        <p:nvSpPr>
          <p:cNvPr id="10" name="Text 8"/>
          <p:cNvSpPr txBox="1"/>
          <p:nvPr/>
        </p:nvSpPr>
        <p:spPr>
          <a:xfrm>
            <a:off x="914400" y="353872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Gardner, Cantor &amp; Collins, 2000, Nature</a:t>
            </a:r>
            <a:endParaRPr lang="en-US" sz="1150" dirty="0"/>
          </a:p>
        </p:txBody>
      </p:sp>
      <p:sp>
        <p:nvSpPr>
          <p:cNvPr id="11" name="Text 9"/>
          <p:cNvSpPr txBox="1"/>
          <p:nvPr/>
        </p:nvSpPr>
        <p:spPr>
          <a:xfrm>
            <a:off x="4754880" y="315468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synthetic 2-repressor circuit in E. coli holds one of two states indefinitely once flipped, a solved, 25-year-old result, described by its authors as an addressable cellular memory unit.</a:t>
            </a:r>
            <a:endParaRPr lang="en-US" sz="1300" dirty="0"/>
          </a:p>
        </p:txBody>
      </p:sp>
      <p:sp>
        <p:nvSpPr>
          <p:cNvPr id="12" name="Shape 10"/>
          <p:cNvSpPr/>
          <p:nvPr/>
        </p:nvSpPr>
        <p:spPr>
          <a:xfrm>
            <a:off x="640080" y="4663440"/>
            <a:ext cx="54864" cy="1234440"/>
          </a:xfrm>
          <a:prstGeom prst="rect">
            <a:avLst/>
          </a:prstGeom>
          <a:solidFill>
            <a:srgbClr val="2EC4B6"/>
          </a:solidFill>
          <a:ln/>
        </p:spPr>
      </p:sp>
      <p:sp>
        <p:nvSpPr>
          <p:cNvPr id="13" name="Text 11"/>
          <p:cNvSpPr txBox="1"/>
          <p:nvPr/>
        </p:nvSpPr>
        <p:spPr>
          <a:xfrm>
            <a:off x="914400" y="461772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Non-destructive electrical readout</a:t>
            </a:r>
            <a:endParaRPr lang="en-US" sz="1550" dirty="0"/>
          </a:p>
        </p:txBody>
      </p:sp>
      <p:sp>
        <p:nvSpPr>
          <p:cNvPr id="14" name="Text 12"/>
          <p:cNvSpPr txBox="1"/>
          <p:nvPr/>
        </p:nvSpPr>
        <p:spPr>
          <a:xfrm>
            <a:off x="914400" y="500176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Akabuogu et al., 2024, Nano Letters</a:t>
            </a:r>
            <a:endParaRPr lang="en-US" sz="1150" dirty="0"/>
          </a:p>
        </p:txBody>
      </p:sp>
      <p:sp>
        <p:nvSpPr>
          <p:cNvPr id="15" name="Text 13"/>
          <p:cNvSpPr txBox="1"/>
          <p:nvPr/>
        </p:nvSpPr>
        <p:spPr>
          <a:xfrm>
            <a:off x="4754880" y="461772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simple two-electrode impedance measurement distinguishes live from dead bacterial biofilm, tied to one specific ion channel's activity, no dye, no sample destruction.</a:t>
            </a:r>
            <a:endParaRPr lang="en-US" sz="1300" dirty="0"/>
          </a:p>
        </p:txBody>
      </p:sp>
      <p:sp>
        <p:nvSpPr>
          <p:cNvPr id="16" name="Text 14"/>
          <p:cNvSpPr txBox="1"/>
          <p:nvPr/>
        </p:nvSpPr>
        <p:spPr>
          <a:xfrm>
            <a:off x="640080" y="5989320"/>
            <a:ext cx="10972800" cy="548640"/>
          </a:xfrm>
          <a:prstGeom prst="rect">
            <a:avLst/>
          </a:prstGeom>
          <a:noFill/>
          <a:ln/>
        </p:spPr>
        <p:txBody>
          <a:bodyPr wrap="square" lIns="0" tIns="0" rIns="0" bIns="0" rtlCol="0" anchor="ctr"/>
          <a:lstStyle/>
          <a:p>
            <a:pPr indent="0" marL="0">
              <a:lnSpc>
                <a:spcPct val="115000"/>
              </a:lnSpc>
              <a:buNone/>
            </a:pPr>
            <a:r>
              <a:rPr lang="en-US" sz="1100" b="1" i="1" dirty="0">
                <a:solidFill>
                  <a:srgbClr val="1C8F84"/>
                </a:solidFill>
                <a:latin typeface="Calibri" pitchFamily="34" charset="0"/>
                <a:ea typeface="Calibri" pitchFamily="34" charset="-122"/>
                <a:cs typeface="Calibri" pitchFamily="34" charset="-120"/>
              </a:rPr>
              <a:t>Modeling approach: </a:t>
            </a:r>
            <a:pPr indent="0" marL="0">
              <a:lnSpc>
                <a:spcPct val="115000"/>
              </a:lnSpc>
              <a:buNone/>
            </a:pPr>
            <a:r>
              <a:rPr lang="en-US" sz="1100" i="1" dirty="0">
                <a:solidFill>
                  <a:srgbClr val="5B6B77"/>
                </a:solidFill>
                <a:latin typeface="Calibri" pitchFamily="34" charset="0"/>
                <a:ea typeface="Calibri" pitchFamily="34" charset="-122"/>
                <a:cs typeface="Calibri" pitchFamily="34" charset="-120"/>
              </a:rPr>
              <a:t>physics-based, BETSE-inspired simulation (gap-junction diffusion, ion-channel membrane dynamics), the same framework underlying the Levin Lab's own BETSE tool, cross-validated against tasmorpho (Blattner, 2026, bioRxiv), an independently published BETSE-based method whose reference values we reproduce to 6 decimal places.</a:t>
            </a:r>
            <a:endParaRPr lang="en-US" sz="110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WHAT WE FOUND WHEN WE TESTED OUR OWN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Our first simulation's headline result doesn't survive realistic noise</a:t>
            </a:r>
            <a:endParaRPr lang="en-US" sz="2600" dirty="0"/>
          </a:p>
        </p:txBody>
      </p:sp>
      <p:sp>
        <p:nvSpPr>
          <p:cNvPr id="4" name="Shape 2"/>
          <p:cNvSpPr/>
          <p:nvPr/>
        </p:nvSpPr>
        <p:spPr>
          <a:xfrm>
            <a:off x="640080" y="1920240"/>
            <a:ext cx="3383280" cy="4023360"/>
          </a:xfrm>
          <a:prstGeom prst="roundRect">
            <a:avLst>
              <a:gd name="adj" fmla="val 2162"/>
            </a:avLst>
          </a:prstGeom>
          <a:solidFill>
            <a:srgbClr val="132A4D"/>
          </a:solidFill>
          <a:ln/>
        </p:spPr>
      </p:sp>
      <p:sp>
        <p:nvSpPr>
          <p:cNvPr id="5" name="Text 3"/>
          <p:cNvSpPr txBox="1"/>
          <p:nvPr/>
        </p:nvSpPr>
        <p:spPr>
          <a:xfrm>
            <a:off x="822960" y="2148840"/>
            <a:ext cx="3017520" cy="914400"/>
          </a:xfrm>
          <a:prstGeom prst="rect">
            <a:avLst/>
          </a:prstGeom>
          <a:noFill/>
          <a:ln/>
        </p:spPr>
        <p:txBody>
          <a:bodyPr wrap="square" lIns="0" tIns="0" rIns="0" bIns="0" rtlCol="0" anchor="ctr"/>
          <a:lstStyle/>
          <a:p>
            <a:pPr indent="0" marL="0">
              <a:buNone/>
            </a:pPr>
            <a:r>
              <a:rPr lang="en-US" sz="4600" b="1" dirty="0">
                <a:solidFill>
                  <a:srgbClr val="2EC4B6"/>
                </a:solidFill>
                <a:latin typeface="Cambria" pitchFamily="34" charset="0"/>
                <a:ea typeface="Cambria" pitchFamily="34" charset="-122"/>
                <a:cs typeface="Cambria" pitchFamily="34" charset="-120"/>
              </a:rPr>
              <a:t>100%</a:t>
            </a:r>
            <a:endParaRPr lang="en-US" sz="4600" dirty="0"/>
          </a:p>
        </p:txBody>
      </p:sp>
      <p:sp>
        <p:nvSpPr>
          <p:cNvPr id="6" name="Text 4"/>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in a zero-noise simulation</a:t>
            </a:r>
            <a:endParaRPr lang="en-US" sz="1250" dirty="0"/>
          </a:p>
        </p:txBody>
      </p:sp>
      <p:sp>
        <p:nvSpPr>
          <p:cNvPr id="7" name="Shape 5"/>
          <p:cNvSpPr/>
          <p:nvPr/>
        </p:nvSpPr>
        <p:spPr>
          <a:xfrm>
            <a:off x="868680" y="3977640"/>
            <a:ext cx="2926080" cy="0"/>
          </a:xfrm>
          <a:prstGeom prst="line">
            <a:avLst/>
          </a:prstGeom>
          <a:noFill/>
          <a:ln w="12700">
            <a:solidFill>
              <a:srgbClr val="2A4463"/>
            </a:solidFill>
            <a:prstDash val="solid"/>
          </a:ln>
        </p:spPr>
      </p:sp>
      <p:sp>
        <p:nvSpPr>
          <p:cNvPr id="8" name="Text 6"/>
          <p:cNvSpPr txBox="1"/>
          <p:nvPr/>
        </p:nvSpPr>
        <p:spPr>
          <a:xfrm>
            <a:off x="822960" y="4160520"/>
            <a:ext cx="3017520" cy="914400"/>
          </a:xfrm>
          <a:prstGeom prst="rect">
            <a:avLst/>
          </a:prstGeom>
          <a:noFill/>
          <a:ln/>
        </p:spPr>
        <p:txBody>
          <a:bodyPr wrap="square" lIns="0" tIns="0" rIns="0" bIns="0" rtlCol="0" anchor="ctr"/>
          <a:lstStyle/>
          <a:p>
            <a:pPr indent="0" marL="0">
              <a:buNone/>
            </a:pPr>
            <a:r>
              <a:rPr lang="en-US" sz="4600" b="1" dirty="0">
                <a:solidFill>
                  <a:srgbClr val="E8604C"/>
                </a:solidFill>
                <a:latin typeface="Cambria" pitchFamily="34" charset="0"/>
                <a:ea typeface="Cambria" pitchFamily="34" charset="-122"/>
                <a:cs typeface="Cambria" pitchFamily="34" charset="-120"/>
              </a:rPr>
              <a:t>~50%</a:t>
            </a:r>
            <a:endParaRPr lang="en-US" sz="4600" dirty="0"/>
          </a:p>
        </p:txBody>
      </p:sp>
      <p:sp>
        <p:nvSpPr>
          <p:cNvPr id="9" name="Text 7"/>
          <p:cNvSpPr txBox="1"/>
          <p:nvPr/>
        </p:nvSpPr>
        <p:spPr>
          <a:xfrm>
            <a:off x="822960" y="507492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with realistic biological noise added, a coin flip</a:t>
            </a:r>
            <a:endParaRPr lang="en-US" sz="1250" dirty="0"/>
          </a:p>
        </p:txBody>
      </p:sp>
      <p:sp>
        <p:nvSpPr>
          <p:cNvPr id="10" name="Text 8"/>
          <p:cNvSpPr txBox="1"/>
          <p:nvPr/>
        </p:nvSpPr>
        <p:spPr>
          <a:xfrm>
            <a:off x="4434840" y="1920240"/>
            <a:ext cx="7132320" cy="27432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Why it fails:
</a:t>
            </a:r>
            <a:endParaRPr lang="en-US" sz="1500" dirty="0"/>
          </a:p>
          <a:p>
            <a:pPr indent="0" marL="0">
              <a:lnSpc>
                <a:spcPct val="120000"/>
              </a:lnSpc>
              <a:spcAft>
                <a:spcPts val="1000"/>
              </a:spcAft>
              <a:buNone/>
            </a:pPr>
            <a:r>
              <a:rPr lang="en-US" sz="1500" dirty="0">
                <a:solidFill>
                  <a:srgbClr val="CFE0DD"/>
                </a:solidFill>
                <a:latin typeface="Calibri" pitchFamily="34" charset="0"/>
                <a:ea typeface="Calibri" pitchFamily="34" charset="-122"/>
                <a:cs typeface="Calibri" pitchFamily="34" charset="-120"/>
              </a:rPr>
              <a:t>Passive bioelectric persistence isn't enough on its own, the base model has no real attractor, just a very slow leak, and noise beats slow. </a:t>
            </a:r>
            <a:endParaRPr lang="en-US" sz="1500" dirty="0"/>
          </a:p>
          <a:p>
            <a:pPr indent="0" marL="0">
              <a:lnSpc>
                <a:spcPct val="120000"/>
              </a:lnSpc>
              <a:buNone/>
            </a:pPr>
            <a:r>
              <a:rPr lang="en-US" sz="1500" dirty="0">
                <a:solidFill>
                  <a:srgbClr val="CFE0DD"/>
                </a:solidFill>
                <a:latin typeface="Calibri" pitchFamily="34" charset="0"/>
                <a:ea typeface="Calibri" pitchFamily="34" charset="-122"/>
                <a:cs typeface="Calibri" pitchFamily="34" charset="-120"/>
              </a:rPr>
              <a:t>We found this ourselves, by stress-testing our own model, before any outside reviewer did.</a:t>
            </a:r>
            <a:endParaRPr lang="en-US" sz="1500" dirty="0"/>
          </a:p>
        </p:txBody>
      </p:sp>
      <p:sp>
        <p:nvSpPr>
          <p:cNvPr id="11" name="Shape 9"/>
          <p:cNvSpPr/>
          <p:nvPr/>
        </p:nvSpPr>
        <p:spPr>
          <a:xfrm>
            <a:off x="4434840" y="4709160"/>
            <a:ext cx="7132320" cy="1280160"/>
          </a:xfrm>
          <a:prstGeom prst="roundRect">
            <a:avLst>
              <a:gd name="adj" fmla="val 5714"/>
            </a:avLst>
          </a:prstGeom>
          <a:solidFill>
            <a:srgbClr val="18314F"/>
          </a:solidFill>
          <a:ln w="12700">
            <a:solidFill>
              <a:srgbClr val="E8A33D"/>
            </a:solidFill>
            <a:prstDash val="solid"/>
          </a:ln>
        </p:spPr>
      </p:sp>
      <p:sp>
        <p:nvSpPr>
          <p:cNvPr id="12" name="Text 10"/>
          <p:cNvSpPr txBox="1"/>
          <p:nvPr/>
        </p:nvSpPr>
        <p:spPr>
          <a:xfrm>
            <a:off x="4663440" y="4709160"/>
            <a:ext cx="6675120" cy="128016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fix is specific, not a mystery:  </a:t>
            </a:r>
            <a:pPr indent="0" marL="0">
              <a:buNone/>
            </a:pPr>
            <a:r>
              <a:rPr lang="en-US" sz="1400" dirty="0">
                <a:solidFill>
                  <a:srgbClr val="E7ECEF"/>
                </a:solidFill>
                <a:latin typeface="Calibri" pitchFamily="34" charset="0"/>
                <a:ea typeface="Calibri" pitchFamily="34" charset="-122"/>
                <a:cs typeface="Calibri" pitchFamily="34" charset="-120"/>
              </a:rPr>
              <a:t>an actively engineered bistable circuit, not passive cell behavior. See next.</a:t>
            </a:r>
            <a:endParaRPr lang="en-US" sz="140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FIX</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An engineered bistable circuit, built from parts that already exist</a:t>
            </a:r>
            <a:endParaRPr lang="en-US" sz="2500" dirty="0"/>
          </a:p>
        </p:txBody>
      </p:sp>
      <p:sp>
        <p:nvSpPr>
          <p:cNvPr id="4" name="Shape 2"/>
          <p:cNvSpPr/>
          <p:nvPr/>
        </p:nvSpPr>
        <p:spPr>
          <a:xfrm>
            <a:off x="640080" y="1737360"/>
            <a:ext cx="6675120" cy="4297680"/>
          </a:xfrm>
          <a:prstGeom prst="roundRect">
            <a:avLst>
              <a:gd name="adj" fmla="val 1702"/>
            </a:avLst>
          </a:prstGeom>
          <a:solidFill>
            <a:srgbClr val="FFFFFF"/>
          </a:solidFill>
          <a:ln w="12700">
            <a:solidFill>
              <a:srgbClr val="DCE3E6"/>
            </a:solidFill>
            <a:prstDash val="solid"/>
          </a:ln>
        </p:spPr>
      </p:sp>
      <p:sp>
        <p:nvSpPr>
          <p:cNvPr id="5" name="Text 3"/>
          <p:cNvSpPr txBox="1"/>
          <p:nvPr/>
        </p:nvSpPr>
        <p:spPr>
          <a:xfrm>
            <a:off x="914400" y="192024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Two parts, already characterized separately</a:t>
            </a:r>
            <a:endParaRPr lang="en-US" sz="1500" dirty="0"/>
          </a:p>
        </p:txBody>
      </p:sp>
      <p:sp>
        <p:nvSpPr>
          <p:cNvPr id="6" name="Text 4"/>
          <p:cNvSpPr txBox="1"/>
          <p:nvPr/>
        </p:nvSpPr>
        <p:spPr>
          <a:xfrm>
            <a:off x="914400" y="242316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Topology,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Gardner, Cantor &amp; Collins (2000), two mutually-repressing promoters, demonstrated bistable regime, equations public.</a:t>
            </a:r>
            <a:endParaRPr lang="en-US" sz="1250" dirty="0"/>
          </a:p>
        </p:txBody>
      </p:sp>
      <p:sp>
        <p:nvSpPr>
          <p:cNvPr id="7" name="Text 5"/>
          <p:cNvSpPr txBox="1"/>
          <p:nvPr/>
        </p:nvSpPr>
        <p:spPr>
          <a:xfrm>
            <a:off x="914400" y="338328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Chassis parts,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Bacillus BioBrick Box (Radeck et al. 2013, 2017), free, chromosomally-integrating promoters, characterized in B. subtilis specifically (this project's target organism, not E. coli).</a:t>
            </a:r>
            <a:endParaRPr lang="en-US" sz="1250" dirty="0"/>
          </a:p>
        </p:txBody>
      </p:sp>
      <p:sp>
        <p:nvSpPr>
          <p:cNvPr id="8" name="Shape 6"/>
          <p:cNvSpPr/>
          <p:nvPr/>
        </p:nvSpPr>
        <p:spPr>
          <a:xfrm>
            <a:off x="914400" y="4389120"/>
            <a:ext cx="6217920" cy="0"/>
          </a:xfrm>
          <a:prstGeom prst="line">
            <a:avLst/>
          </a:prstGeom>
          <a:noFill/>
          <a:ln w="12700">
            <a:solidFill>
              <a:srgbClr val="E4E9EA"/>
            </a:solidFill>
            <a:prstDash val="solid"/>
          </a:ln>
        </p:spPr>
      </p:sp>
      <p:sp>
        <p:nvSpPr>
          <p:cNvPr id="9" name="Text 7"/>
          <p:cNvSpPr txBox="1"/>
          <p:nvPr/>
        </p:nvSpPr>
        <p:spPr>
          <a:xfrm>
            <a:off x="914400" y="452628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What running the combined model found</a:t>
            </a:r>
            <a:endParaRPr lang="en-US" sz="1500" dirty="0"/>
          </a:p>
        </p:txBody>
      </p:sp>
      <p:sp>
        <p:nvSpPr>
          <p:cNvPr id="10" name="Text 8"/>
          <p:cNvSpPr txBox="1"/>
          <p:nvPr/>
        </p:nvSpPr>
        <p:spPr>
          <a:xfrm>
            <a:off x="914400" y="4937760"/>
            <a:ext cx="6217920" cy="118872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real finding isn't that a matched circuit works (it does, 100% fidelity at 24 hours), it's what happens at severe promoter mismatch: </a:t>
            </a:r>
            <a:endParaRPr lang="en-US" sz="1250" dirty="0"/>
          </a:p>
          <a:p>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the circuit doesn't degrade gracefully, it loses bistability entirely and always relaxes to the same state.</a:t>
            </a:r>
            <a:endParaRPr lang="en-US" sz="1250" dirty="0"/>
          </a:p>
        </p:txBody>
      </p:sp>
      <p:sp>
        <p:nvSpPr>
          <p:cNvPr id="11" name="Shape 9"/>
          <p:cNvSpPr/>
          <p:nvPr/>
        </p:nvSpPr>
        <p:spPr>
          <a:xfrm>
            <a:off x="7543800" y="1737360"/>
            <a:ext cx="4023360" cy="2011680"/>
          </a:xfrm>
          <a:prstGeom prst="roundRect">
            <a:avLst>
              <a:gd name="adj" fmla="val 3636"/>
            </a:avLst>
          </a:prstGeom>
          <a:solidFill>
            <a:srgbClr val="0B1F3A"/>
          </a:solidFill>
          <a:ln/>
        </p:spPr>
      </p:sp>
      <p:sp>
        <p:nvSpPr>
          <p:cNvPr id="12" name="Text 10"/>
          <p:cNvSpPr txBox="1"/>
          <p:nvPr/>
        </p:nvSpPr>
        <p:spPr>
          <a:xfrm>
            <a:off x="7772400" y="1874520"/>
            <a:ext cx="3566160" cy="777240"/>
          </a:xfrm>
          <a:prstGeom prst="rect">
            <a:avLst/>
          </a:prstGeom>
          <a:noFill/>
          <a:ln/>
        </p:spPr>
        <p:txBody>
          <a:bodyPr wrap="square" lIns="0" tIns="0" rIns="0" bIns="0" rtlCol="0" anchor="ctr"/>
          <a:lstStyle/>
          <a:p>
            <a:pPr indent="0" marL="0">
              <a:buNone/>
            </a:pPr>
            <a:r>
              <a:rPr lang="en-US" sz="3600" b="1" dirty="0">
                <a:solidFill>
                  <a:srgbClr val="2EC4B6"/>
                </a:solidFill>
                <a:latin typeface="Cambria" pitchFamily="34" charset="0"/>
                <a:ea typeface="Cambria" pitchFamily="34" charset="-122"/>
                <a:cs typeface="Cambria" pitchFamily="34" charset="-120"/>
              </a:rPr>
              <a:t>100%</a:t>
            </a:r>
            <a:endParaRPr lang="en-US" sz="3600" dirty="0"/>
          </a:p>
        </p:txBody>
      </p:sp>
      <p:sp>
        <p:nvSpPr>
          <p:cNvPr id="13" name="Text 11"/>
          <p:cNvSpPr txBox="1"/>
          <p:nvPr/>
        </p:nvSpPr>
        <p:spPr>
          <a:xfrm>
            <a:off x="7772400" y="2606040"/>
            <a:ext cx="3566160" cy="1005840"/>
          </a:xfrm>
          <a:prstGeom prst="rect">
            <a:avLst/>
          </a:prstGeom>
          <a:noFill/>
          <a:ln/>
        </p:spPr>
        <p:txBody>
          <a:bodyPr wrap="square" lIns="0" tIns="0" rIns="0" bIns="0" rtlCol="0" anchor="ctr"/>
          <a:lstStyle/>
          <a:p>
            <a:pPr indent="0" marL="0">
              <a:buNone/>
            </a:pPr>
            <a:r>
              <a:rPr lang="en-US" sz="1200" dirty="0">
                <a:solidFill>
                  <a:srgbClr val="CFE0DD"/>
                </a:solidFill>
                <a:latin typeface="Calibri" pitchFamily="34" charset="0"/>
                <a:ea typeface="Calibri" pitchFamily="34" charset="-122"/>
                <a:cs typeface="Calibri" pitchFamily="34" charset="-120"/>
              </a:rPr>
              <a:t>Fidelity at 24 hours, matched promoters (BBB range 1.0x-10x)</a:t>
            </a:r>
            <a:endParaRPr lang="en-US" sz="1200" dirty="0"/>
          </a:p>
        </p:txBody>
      </p:sp>
      <p:sp>
        <p:nvSpPr>
          <p:cNvPr id="14" name="Shape 12"/>
          <p:cNvSpPr/>
          <p:nvPr/>
        </p:nvSpPr>
        <p:spPr>
          <a:xfrm>
            <a:off x="7543800" y="3931920"/>
            <a:ext cx="4023360" cy="2103120"/>
          </a:xfrm>
          <a:prstGeom prst="roundRect">
            <a:avLst>
              <a:gd name="adj" fmla="val 3478"/>
            </a:avLst>
          </a:prstGeom>
          <a:solidFill>
            <a:srgbClr val="0B1F3A"/>
          </a:solidFill>
          <a:ln/>
        </p:spPr>
      </p:sp>
      <p:sp>
        <p:nvSpPr>
          <p:cNvPr id="15" name="Text 13"/>
          <p:cNvSpPr txBox="1"/>
          <p:nvPr/>
        </p:nvSpPr>
        <p:spPr>
          <a:xfrm>
            <a:off x="7772400" y="4069080"/>
            <a:ext cx="3566160" cy="777240"/>
          </a:xfrm>
          <a:prstGeom prst="rect">
            <a:avLst/>
          </a:prstGeom>
          <a:noFill/>
          <a:ln/>
        </p:spPr>
        <p:txBody>
          <a:bodyPr wrap="square" lIns="0" tIns="0" rIns="0" bIns="0" rtlCol="0" anchor="ctr"/>
          <a:lstStyle/>
          <a:p>
            <a:pPr indent="0" marL="0">
              <a:buNone/>
            </a:pPr>
            <a:r>
              <a:rPr lang="en-US" sz="3600" b="1" dirty="0">
                <a:solidFill>
                  <a:srgbClr val="E8604C"/>
                </a:solidFill>
                <a:latin typeface="Cambria" pitchFamily="34" charset="0"/>
                <a:ea typeface="Cambria" pitchFamily="34" charset="-122"/>
                <a:cs typeface="Cambria" pitchFamily="34" charset="-120"/>
              </a:rPr>
              <a:t>50%</a:t>
            </a:r>
            <a:endParaRPr lang="en-US" sz="3600" dirty="0"/>
          </a:p>
        </p:txBody>
      </p:sp>
      <p:sp>
        <p:nvSpPr>
          <p:cNvPr id="16" name="Text 14"/>
          <p:cNvSpPr txBox="1"/>
          <p:nvPr/>
        </p:nvSpPr>
        <p:spPr>
          <a:xfrm>
            <a:off x="7772400" y="480060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Fidelity at severe promoter mismatch (0.1x), a design constraint found before any wet-lab spend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CHASSIS CHOICE</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Why B. subtilis, not E. coli, the organism the original toggle switch was built in</a:t>
            </a:r>
            <a:endParaRPr lang="en-US" sz="23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Chassis-matched parts</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Gardner's original 2000 toggle switch was built and characterized in E. coli. But the free, chromosomally-integrating promoter library this project actually uses, the Bacillus BioBrick Box (Radeck et al. 2013, 2017), was characterized in B. subtilis specifically. Porting to E. coli would mean re-characterizing every promoter from scratch, work nobody has funded.</a:t>
            </a:r>
            <a:endParaRPr lang="en-US" sz="120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1C8F84"/>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Built to survive extremes</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B. subtilis sporulates under starvation, desiccation, heat, and radiation stress, a real, well-documented survival mechanism E. coli lacks. That's a direct match to this project's extreme-environment storage thesis (spacecraft, seafloor, remote infrastructure), not a cosmetic preference.</a:t>
            </a:r>
            <a:endParaRPr lang="en-US" sz="120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E8604C"/>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trade-off we're not hiding</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B. subtilis's biofilm-forming behavior helps physical resilience and self-healing, but it's also the source of the native potassium-wave oscillation this deck already flags as a readout risk two slides from now. We chose the organism with the better extreme-survival and parts story, and disclosed the cost that comes with it.</a:t>
            </a:r>
            <a:endParaRPr lang="en-US" sz="120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Net effect: B. subtilis costs us a known, already-quantified readout complication in exchange for chassis-matched genetic parts and a real extreme-survival mechanism. We think that's the better trade, and we're showing our work either way.</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HONEST RISK RANKING</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We ranked our own three candidate mechanisms by how much wet-lab risk each still hides</a:t>
            </a:r>
            <a:endParaRPr lang="en-US" sz="2300" dirty="0"/>
          </a:p>
        </p:txBody>
      </p:sp>
      <p:sp>
        <p:nvSpPr>
          <p:cNvPr id="4" name="Text 2"/>
          <p:cNvSpPr txBox="1"/>
          <p:nvPr/>
        </p:nvSpPr>
        <p:spPr>
          <a:xfrm>
            <a:off x="640080" y="1737360"/>
            <a:ext cx="6126480" cy="32004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Grounding confidence (qualitative, not a measured score)</a:t>
            </a:r>
            <a:endParaRPr lang="en-US" sz="1150" dirty="0"/>
          </a:p>
        </p:txBody>
      </p:sp>
      <p:sp>
        <p:nvSpPr>
          <p:cNvPr id="5" name="Text 3"/>
          <p:cNvSpPr txBox="1"/>
          <p:nvPr/>
        </p:nvSpPr>
        <p:spPr>
          <a:xfrm>
            <a:off x="640080" y="2148840"/>
            <a:ext cx="6126480" cy="274320"/>
          </a:xfrm>
          <a:prstGeom prst="rect">
            <a:avLst/>
          </a:prstGeom>
          <a:noFill/>
          <a:ln/>
        </p:spPr>
        <p:txBody>
          <a:bodyPr wrap="square" lIns="0" tIns="0" rIns="0" bIns="0" rtlCol="0" anchor="ctr"/>
          <a:lstStyle/>
          <a:p>
            <a:pPr indent="0" marL="0">
              <a:buNone/>
            </a:pPr>
            <a:r>
              <a:rPr lang="en-US" sz="1250" b="1" dirty="0">
                <a:solidFill>
                  <a:srgbClr val="16232F"/>
                </a:solidFill>
                <a:latin typeface="Calibri" pitchFamily="34" charset="0"/>
                <a:ea typeface="Calibri" pitchFamily="34" charset="-122"/>
                <a:cs typeface="Calibri" pitchFamily="34" charset="-120"/>
              </a:rPr>
              <a:t>B. subtilis, engineered circuit</a:t>
            </a:r>
            <a:endParaRPr lang="en-US" sz="1250" dirty="0"/>
          </a:p>
        </p:txBody>
      </p:sp>
      <p:sp>
        <p:nvSpPr>
          <p:cNvPr id="6" name="Shape 4"/>
          <p:cNvSpPr/>
          <p:nvPr/>
        </p:nvSpPr>
        <p:spPr>
          <a:xfrm>
            <a:off x="640080" y="2468880"/>
            <a:ext cx="5120640" cy="457200"/>
          </a:xfrm>
          <a:prstGeom prst="roundRect">
            <a:avLst>
              <a:gd name="adj" fmla="val 8000"/>
            </a:avLst>
          </a:prstGeom>
          <a:solidFill>
            <a:srgbClr val="E4E9EA"/>
          </a:solidFill>
          <a:ln/>
        </p:spPr>
      </p:sp>
      <p:sp>
        <p:nvSpPr>
          <p:cNvPr id="7" name="Shape 5"/>
          <p:cNvSpPr/>
          <p:nvPr/>
        </p:nvSpPr>
        <p:spPr>
          <a:xfrm>
            <a:off x="640080" y="2468880"/>
            <a:ext cx="5120640" cy="457200"/>
          </a:xfrm>
          <a:prstGeom prst="roundRect">
            <a:avLst>
              <a:gd name="adj" fmla="val 8000"/>
            </a:avLst>
          </a:prstGeom>
          <a:solidFill>
            <a:srgbClr val="2EC4B6"/>
          </a:solidFill>
          <a:ln/>
        </p:spPr>
      </p:sp>
      <p:sp>
        <p:nvSpPr>
          <p:cNvPr id="8" name="Text 6"/>
          <p:cNvSpPr txBox="1"/>
          <p:nvPr/>
        </p:nvSpPr>
        <p:spPr>
          <a:xfrm>
            <a:off x="5852160" y="2441448"/>
            <a:ext cx="914400" cy="502920"/>
          </a:xfrm>
          <a:prstGeom prst="rect">
            <a:avLst/>
          </a:prstGeom>
          <a:noFill/>
          <a:ln/>
        </p:spPr>
        <p:txBody>
          <a:bodyPr wrap="square" lIns="0" tIns="0" rIns="0" bIns="0" rtlCol="0" anchor="ctr"/>
          <a:lstStyle/>
          <a:p>
            <a:pPr indent="0" marL="0">
              <a:buNone/>
            </a:pPr>
            <a:r>
              <a:rPr lang="en-US" sz="1200" b="1" dirty="0">
                <a:solidFill>
                  <a:srgbClr val="16232F"/>
                </a:solidFill>
                <a:latin typeface="Calibri" pitchFamily="34" charset="0"/>
                <a:ea typeface="Calibri" pitchFamily="34" charset="-122"/>
                <a:cs typeface="Calibri" pitchFamily="34" charset="-120"/>
              </a:rPr>
              <a:t>Highest</a:t>
            </a:r>
            <a:endParaRPr lang="en-US" sz="1200" dirty="0"/>
          </a:p>
        </p:txBody>
      </p:sp>
      <p:sp>
        <p:nvSpPr>
          <p:cNvPr id="9" name="Text 7"/>
          <p:cNvSpPr txBox="1"/>
          <p:nvPr/>
        </p:nvSpPr>
        <p:spPr>
          <a:xfrm>
            <a:off x="640080" y="3154680"/>
            <a:ext cx="6126480" cy="274320"/>
          </a:xfrm>
          <a:prstGeom prst="rect">
            <a:avLst/>
          </a:prstGeom>
          <a:noFill/>
          <a:ln/>
        </p:spPr>
        <p:txBody>
          <a:bodyPr wrap="square" lIns="0" tIns="0" rIns="0" bIns="0" rtlCol="0" anchor="ctr"/>
          <a:lstStyle/>
          <a:p>
            <a:pPr indent="0" marL="0">
              <a:buNone/>
            </a:pPr>
            <a:r>
              <a:rPr lang="en-US" sz="1250" b="1" dirty="0">
                <a:solidFill>
                  <a:srgbClr val="16232F"/>
                </a:solidFill>
                <a:latin typeface="Calibri" pitchFamily="34" charset="0"/>
                <a:ea typeface="Calibri" pitchFamily="34" charset="-122"/>
                <a:cs typeface="Calibri" pitchFamily="34" charset="-120"/>
              </a:rPr>
              <a:t>B. subtilis, methylation</a:t>
            </a:r>
            <a:endParaRPr lang="en-US" sz="1250" dirty="0"/>
          </a:p>
        </p:txBody>
      </p:sp>
      <p:sp>
        <p:nvSpPr>
          <p:cNvPr id="10" name="Shape 8"/>
          <p:cNvSpPr/>
          <p:nvPr/>
        </p:nvSpPr>
        <p:spPr>
          <a:xfrm>
            <a:off x="640080" y="3474720"/>
            <a:ext cx="5120640" cy="457200"/>
          </a:xfrm>
          <a:prstGeom prst="roundRect">
            <a:avLst>
              <a:gd name="adj" fmla="val 8000"/>
            </a:avLst>
          </a:prstGeom>
          <a:solidFill>
            <a:srgbClr val="E4E9EA"/>
          </a:solidFill>
          <a:ln/>
        </p:spPr>
      </p:sp>
      <p:sp>
        <p:nvSpPr>
          <p:cNvPr id="11" name="Shape 9"/>
          <p:cNvSpPr/>
          <p:nvPr/>
        </p:nvSpPr>
        <p:spPr>
          <a:xfrm>
            <a:off x="640080" y="3474720"/>
            <a:ext cx="3072384" cy="457200"/>
          </a:xfrm>
          <a:prstGeom prst="roundRect">
            <a:avLst>
              <a:gd name="adj" fmla="val 8000"/>
            </a:avLst>
          </a:prstGeom>
          <a:solidFill>
            <a:srgbClr val="E8A33D"/>
          </a:solidFill>
          <a:ln/>
        </p:spPr>
      </p:sp>
      <p:sp>
        <p:nvSpPr>
          <p:cNvPr id="12" name="Text 10"/>
          <p:cNvSpPr txBox="1"/>
          <p:nvPr/>
        </p:nvSpPr>
        <p:spPr>
          <a:xfrm>
            <a:off x="3803904" y="3447288"/>
            <a:ext cx="914400" cy="502920"/>
          </a:xfrm>
          <a:prstGeom prst="rect">
            <a:avLst/>
          </a:prstGeom>
          <a:noFill/>
          <a:ln/>
        </p:spPr>
        <p:txBody>
          <a:bodyPr wrap="square" lIns="0" tIns="0" rIns="0" bIns="0" rtlCol="0" anchor="ctr"/>
          <a:lstStyle/>
          <a:p>
            <a:pPr indent="0" marL="0">
              <a:buNone/>
            </a:pPr>
            <a:r>
              <a:rPr lang="en-US" sz="1200" b="1" dirty="0">
                <a:solidFill>
                  <a:srgbClr val="16232F"/>
                </a:solidFill>
                <a:latin typeface="Calibri" pitchFamily="34" charset="0"/>
                <a:ea typeface="Calibri" pitchFamily="34" charset="-122"/>
                <a:cs typeface="Calibri" pitchFamily="34" charset="-120"/>
              </a:rPr>
              <a:t>Medium</a:t>
            </a:r>
            <a:endParaRPr lang="en-US" sz="1200" dirty="0"/>
          </a:p>
        </p:txBody>
      </p:sp>
      <p:sp>
        <p:nvSpPr>
          <p:cNvPr id="13" name="Text 11"/>
          <p:cNvSpPr txBox="1"/>
          <p:nvPr/>
        </p:nvSpPr>
        <p:spPr>
          <a:xfrm>
            <a:off x="640080" y="4160520"/>
            <a:ext cx="6126480" cy="274320"/>
          </a:xfrm>
          <a:prstGeom prst="rect">
            <a:avLst/>
          </a:prstGeom>
          <a:noFill/>
          <a:ln/>
        </p:spPr>
        <p:txBody>
          <a:bodyPr wrap="square" lIns="0" tIns="0" rIns="0" bIns="0" rtlCol="0" anchor="ctr"/>
          <a:lstStyle/>
          <a:p>
            <a:pPr indent="0" marL="0">
              <a:buNone/>
            </a:pPr>
            <a:r>
              <a:rPr lang="en-US" sz="1250" b="1" dirty="0">
                <a:solidFill>
                  <a:srgbClr val="16232F"/>
                </a:solidFill>
                <a:latin typeface="Calibri" pitchFamily="34" charset="0"/>
                <a:ea typeface="Calibri" pitchFamily="34" charset="-122"/>
                <a:cs typeface="Calibri" pitchFamily="34" charset="-120"/>
              </a:rPr>
              <a:t>Planarian, bioelectric circuit</a:t>
            </a:r>
            <a:endParaRPr lang="en-US" sz="1250" dirty="0"/>
          </a:p>
        </p:txBody>
      </p:sp>
      <p:sp>
        <p:nvSpPr>
          <p:cNvPr id="14" name="Shape 12"/>
          <p:cNvSpPr/>
          <p:nvPr/>
        </p:nvSpPr>
        <p:spPr>
          <a:xfrm>
            <a:off x="640080" y="4480560"/>
            <a:ext cx="5120640" cy="457200"/>
          </a:xfrm>
          <a:prstGeom prst="roundRect">
            <a:avLst>
              <a:gd name="adj" fmla="val 8000"/>
            </a:avLst>
          </a:prstGeom>
          <a:solidFill>
            <a:srgbClr val="E4E9EA"/>
          </a:solidFill>
          <a:ln/>
        </p:spPr>
      </p:sp>
      <p:sp>
        <p:nvSpPr>
          <p:cNvPr id="15" name="Shape 13"/>
          <p:cNvSpPr/>
          <p:nvPr/>
        </p:nvSpPr>
        <p:spPr>
          <a:xfrm>
            <a:off x="640080" y="4480560"/>
            <a:ext cx="1536192" cy="457200"/>
          </a:xfrm>
          <a:prstGeom prst="roundRect">
            <a:avLst>
              <a:gd name="adj" fmla="val 8000"/>
            </a:avLst>
          </a:prstGeom>
          <a:solidFill>
            <a:srgbClr val="E8604C"/>
          </a:solidFill>
          <a:ln/>
        </p:spPr>
      </p:sp>
      <p:sp>
        <p:nvSpPr>
          <p:cNvPr id="16" name="Text 14"/>
          <p:cNvSpPr txBox="1"/>
          <p:nvPr/>
        </p:nvSpPr>
        <p:spPr>
          <a:xfrm>
            <a:off x="2267712" y="4453128"/>
            <a:ext cx="914400" cy="502920"/>
          </a:xfrm>
          <a:prstGeom prst="rect">
            <a:avLst/>
          </a:prstGeom>
          <a:noFill/>
          <a:ln/>
        </p:spPr>
        <p:txBody>
          <a:bodyPr wrap="square" lIns="0" tIns="0" rIns="0" bIns="0" rtlCol="0" anchor="ctr"/>
          <a:lstStyle/>
          <a:p>
            <a:pPr indent="0" marL="0">
              <a:buNone/>
            </a:pPr>
            <a:r>
              <a:rPr lang="en-US" sz="1200" b="1" dirty="0">
                <a:solidFill>
                  <a:srgbClr val="16232F"/>
                </a:solidFill>
                <a:latin typeface="Calibri" pitchFamily="34" charset="0"/>
                <a:ea typeface="Calibri" pitchFamily="34" charset="-122"/>
                <a:cs typeface="Calibri" pitchFamily="34" charset="-120"/>
              </a:rPr>
              <a:t>Lowest</a:t>
            </a:r>
            <a:endParaRPr lang="en-US" sz="1200" dirty="0"/>
          </a:p>
        </p:txBody>
      </p:sp>
      <p:sp>
        <p:nvSpPr>
          <p:cNvPr id="17" name="Text 15"/>
          <p:cNvSpPr txBox="1"/>
          <p:nvPr/>
        </p:nvSpPr>
        <p:spPr>
          <a:xfrm>
            <a:off x="640080" y="5212080"/>
            <a:ext cx="6126480" cy="594360"/>
          </a:xfrm>
          <a:prstGeom prst="rect">
            <a:avLst/>
          </a:prstGeom>
          <a:noFill/>
          <a:ln/>
        </p:spPr>
        <p:txBody>
          <a:bodyPr wrap="square" lIns="0" tIns="0" rIns="0" bIns="0" rtlCol="0" anchor="ctr"/>
          <a:lstStyle/>
          <a:p>
            <a:pPr indent="0" marL="0">
              <a:lnSpc>
                <a:spcPct val="115000"/>
              </a:lnSpc>
              <a:buNone/>
            </a:pPr>
            <a:r>
              <a:rPr lang="en-US" sz="1100" i="1" dirty="0">
                <a:solidFill>
                  <a:srgbClr val="5B6B77"/>
                </a:solidFill>
                <a:latin typeface="Calibri" pitchFamily="34" charset="0"/>
                <a:ea typeface="Calibri" pitchFamily="34" charset="-122"/>
                <a:cs typeface="Calibri" pitchFamily="34" charset="-120"/>
              </a:rPr>
              <a:t>All three numerically tie at ~2% surviving-cell recovery threshold, that number alone doesn't rank them; grounding confidence, shown above, does.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995160" y="1783080"/>
          <a:ext cx="4572000" cy="4114800"/>
        </p:xfrm>
        <a:graphic>
          <a:graphicData uri="http://schemas.openxmlformats.org/drawingml/2006/table">
            <a:tbl>
              <a:tblPr/>
              <a:tblGrid>
                <a:gridCol w="2286000"/>
                <a:gridCol w="22860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Mechanism</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Grounding confidence</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engineered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Highest, inheritance is mechanistically forced (division copies existing protein)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methylation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Medium, real fidelity numbers exist, but from a different species</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Planarian, bioelectric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Lowest, cell-coupling strength is a borrowed assumption, never measured</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19" name="Text 16"/>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Our original organism choice (planarian) is currently our weakest-evidence option. We're reporting that now, before spending wet-lab money on it.</a:t>
            </a:r>
            <a:endParaRPr lang="en-US" sz="1300" dirty="0"/>
          </a:p>
        </p:txBody>
      </p:sp>
      <p:sp>
        <p:nvSpPr>
          <p:cNvPr id="20"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STRESS-TESTING OUR OWN DESIGN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A risk nobody asked about: the colony's own biology can scramble the read, even when the data is fine</a:t>
            </a:r>
            <a:endParaRPr lang="en-US" sz="22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natural signal</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B. subtilis biofilms run a continuous potassium-wave electrical signal of their own (Prindle lab, 2015), independent of anything Acheron builds.</a:t>
            </a:r>
            <a:endParaRPr lang="en-US" sz="125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E8604C"/>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What we found</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In simulation, this natural oscillation can corrupt an instantaneous voltage reading even when the underlying engineered circuit's data is 100% intact.</a:t>
            </a:r>
            <a:endParaRPr lang="en-US" sz="125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fix, and its limit</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Reading via impedance (EIS) instead of raw voltage helps, but a single fast EIS sweep isn't immune either, it needs to integrate across a full oscillation cycle (~3h) to recover accuracy.</a:t>
            </a:r>
            <a:endParaRPr lang="en-US" sz="125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Fidelity at 10-20mV of ambient oscillation (well below the circuit's own 70mV signal range) collapsed to 50-59% for single-snapshot voltage reads, this is a solvable engineering problem, not a fatal one, but a real, previously-unflagged design requirement.</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1148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 ALREADY HAVE</a:t>
            </a:r>
            <a:endParaRPr lang="en-US" sz="1200" dirty="0"/>
          </a:p>
        </p:txBody>
      </p:sp>
      <p:sp>
        <p:nvSpPr>
          <p:cNvPr id="3" name="Text 1"/>
          <p:cNvSpPr txBox="1"/>
          <p:nvPr/>
        </p:nvSpPr>
        <p:spPr>
          <a:xfrm>
            <a:off x="640080" y="731520"/>
            <a:ext cx="10881360" cy="6400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Four computational results, explained for a scientist and for everyone else</a:t>
            </a:r>
            <a:endParaRPr lang="en-US" sz="2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4572000"/>
        </p:xfrm>
        <a:graphic>
          <a:graphicData uri="http://schemas.openxmlformats.org/drawingml/2006/table">
            <a:tbl>
              <a:tblPr/>
              <a:tblGrid>
                <a:gridCol w="2377440"/>
                <a:gridCol w="4480560"/>
                <a:gridCol w="41148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Technical (for a scientist)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Plain English (for everyone else)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Passive persistence fails</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24h bit integrity collapses from 100% (zero-noise) to ~50-58% under realistic channel/metabolic/thermal noise.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cell just holding a charge on its own is like a coin balanced on its edge, it falls over almost immediately.</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Engineered circuit works across its whole practical design range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Gardner topology + Bacillus BioBrick Box parts holds state at 100% fidelity at 24 hours for any promoter pair within the BBB's entire characterized 1.0x-10.0x strength range; only pushing far outside the catalog, to a severe 0.1x mismatch, collapses fidelity to 50%, a monostable dead switch.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The circuit is a light switch held by two springs. Any pair of springs from the parts catalog, even fairly different strengths, holds the switch fine. Only deliberately grabbing two wildly mismatched springs, far outside what the catalog offers, gets the switch stuck at "off".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Bacteria beats planaria on evidence, for now</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Cross-organism sweep: B. subtilis engineered circuit ranks highest-confidence (inheritance is mechanistically forced by cell division); planarian circuit ranks lowest (coupling strength is an unmeasured assumption).</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Betting on the organism with a measured mechanism is like betting on a scale you've calibrated, not one you're guessing the weight of.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new, real risk found before it was asked about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 subtilis biofilms' native potassium-wave signaling (Prindle et al. 2015) corrupts single-snapshot voltage reads at just 10-20mV, even when the underlying circuit data is 100% intact.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Radio station = Reading the signal at the wrong moment is like tuning in during a burst of static. The message was sent correctly; you just have to listen at the right time.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REAL STORAGE COMPETITORS</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Nobody else is storing arbitrary data as a dynamic, rewritable bioelectric state</a:t>
            </a:r>
            <a:endParaRPr lang="en-US" sz="2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72800" cy="3246120"/>
        </p:xfrm>
        <a:graphic>
          <a:graphicData uri="http://schemas.openxmlformats.org/drawingml/2006/table">
            <a:tbl>
              <a:tblPr/>
              <a:tblGrid>
                <a:gridCol w="2743200"/>
                <a:gridCol w="2743200"/>
                <a:gridCol w="2743200"/>
                <a:gridCol w="27432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they store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mechanism</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vs. 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Mycelium memristor</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(LaRocco et al. 2025)</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Analog resistance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Continuous signal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90% accuracy; no addressable write 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BioCompute Inc. / Biomemory</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(w/ Yachie &amp; Tomita 2007 precedent)</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DNA sequence (archival)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Destructive sequencing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Write-once archive, not rewritable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b="1" dirty="0">
                          <a:solidFill>
                            <a:srgbClr val="1C8F84"/>
                          </a:solidFill>
                          <a:latin typeface="Calibri" pitchFamily="34" charset="0"/>
                          <a:ea typeface="Calibri" pitchFamily="34" charset="-122"/>
                          <a:cs typeface="Calibri" pitchFamily="34" charset="-120"/>
                        </a:rPr>
                        <a:t>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Dynamic physiological/</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bioelectric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Non-destructive (dye or EIS)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b="1" dirty="0">
                          <a:solidFill>
                            <a:srgbClr val="16232F"/>
                          </a:solidFill>
                          <a:latin typeface="Calibri" pitchFamily="34" charset="0"/>
                          <a:ea typeface="Calibri" pitchFamily="34" charset="-122"/>
                          <a:cs typeface="Calibri" pitchFamily="34" charset="-120"/>
                        </a:rPr>
                        <a:t>Rewritable + self-healing, the combination nobody else has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640080" y="5166360"/>
            <a:ext cx="10972800" cy="1234440"/>
          </a:xfrm>
          <a:prstGeom prst="roundRect">
            <a:avLst>
              <a:gd name="adj" fmla="val 5926"/>
            </a:avLst>
          </a:prstGeom>
          <a:solidFill>
            <a:srgbClr val="F4F6F7"/>
          </a:solidFill>
          <a:ln w="13970">
            <a:solidFill>
              <a:srgbClr val="DCE3E6"/>
            </a:solidFill>
            <a:prstDash val="solid"/>
          </a:ln>
        </p:spPr>
      </p:sp>
      <p:sp>
        <p:nvSpPr>
          <p:cNvPr id="6" name="Text 3"/>
          <p:cNvSpPr txBox="1"/>
          <p:nvPr/>
        </p:nvSpPr>
        <p:spPr>
          <a:xfrm>
            <a:off x="868680" y="5166360"/>
            <a:ext cx="10515600" cy="1234440"/>
          </a:xfrm>
          <a:prstGeom prst="rect">
            <a:avLst/>
          </a:prstGeom>
          <a:noFill/>
          <a:ln/>
        </p:spPr>
        <p:txBody>
          <a:bodyPr wrap="square" lIns="0" tIns="0" rIns="0" bIns="0" rtlCol="0" anchor="ctr"/>
          <a:lstStyle/>
          <a:p>
            <a:pPr indent="0" marL="0">
              <a:lnSpc>
                <a:spcPct val="120000"/>
              </a:lnSpc>
              <a:buNone/>
            </a:pPr>
            <a:r>
              <a:rPr lang="en-US" sz="1250" b="1" dirty="0">
                <a:solidFill>
                  <a:srgbClr val="1C8F84"/>
                </a:solidFill>
                <a:latin typeface="Calibri" pitchFamily="34" charset="0"/>
                <a:ea typeface="Calibri" pitchFamily="34" charset="-122"/>
                <a:cs typeface="Calibri" pitchFamily="34" charset="-120"/>
              </a:rPr>
              <a:t>Not included above, on purpose:  </a:t>
            </a:r>
            <a:pPr indent="0" marL="0">
              <a:lnSpc>
                <a:spcPct val="120000"/>
              </a:lnSpc>
              <a:buNone/>
            </a:pPr>
            <a:r>
              <a:rPr lang="en-US" sz="1250" dirty="0">
                <a:solidFill>
                  <a:srgbClr val="16232F"/>
                </a:solidFill>
                <a:latin typeface="Calibri" pitchFamily="34" charset="0"/>
                <a:ea typeface="Calibri" pitchFamily="34" charset="-122"/>
                <a:cs typeface="Calibri" pitchFamily="34" charset="-120"/>
              </a:rPr>
              <a:t>Cortical Labs, Koniku, and FinalSpark all build neuron-based wetware for cognition and sensing (playing games, detecting explosives, training AI), a different product category, not a memory-storage competitor. Their hardware is still worth studying, see next slide.</a:t>
            </a:r>
            <a:endParaRPr lang="en-US" sz="1250" dirty="0"/>
          </a:p>
        </p:txBody>
      </p:sp>
      <p:sp>
        <p:nvSpPr>
          <p:cNvPr id="7" name="Text 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DIFFERENTIATION &amp; BORROWABLE RESEARCH</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Only two of these are competitors. The third is research worth borrowing from anyway</a:t>
            </a:r>
            <a:endParaRPr lang="en-US" sz="21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640080" y="1828800"/>
            <a:ext cx="3566160" cy="82296"/>
          </a:xfrm>
          <a:prstGeom prst="rect">
            <a:avLst/>
          </a:prstGeom>
          <a:solidFill>
            <a:srgbClr val="2EC4B6"/>
          </a:solidFill>
          <a:ln/>
        </p:spPr>
      </p:sp>
      <p:sp>
        <p:nvSpPr>
          <p:cNvPr id="6" name="Text 4"/>
          <p:cNvSpPr txBox="1"/>
          <p:nvPr/>
        </p:nvSpPr>
        <p:spPr>
          <a:xfrm>
            <a:off x="89611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Adjacent research, not a competitor</a:t>
            </a:r>
            <a:endParaRPr lang="en-US" sz="1550" dirty="0"/>
          </a:p>
        </p:txBody>
      </p:sp>
      <p:sp>
        <p:nvSpPr>
          <p:cNvPr id="7" name="Text 5"/>
          <p:cNvSpPr txBox="1"/>
          <p:nvPr/>
        </p:nvSpPr>
        <p:spPr>
          <a:xfrm>
            <a:off x="89611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Cortical Labs (CL-1), Koniku</a:t>
            </a:r>
            <a:endParaRPr lang="en-US" sz="1050" dirty="0"/>
          </a:p>
        </p:txBody>
      </p:sp>
      <p:sp>
        <p:nvSpPr>
          <p:cNvPr id="8" name="Text 6"/>
          <p:cNvSpPr txBox="1"/>
          <p:nvPr/>
        </p:nvSpPr>
        <p:spPr>
          <a:xfrm>
            <a:off x="89611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Different product entirely, neuron-based cognition/sensing, not memory storage, so not a rival. Their hardware is still worth studying: CL-1 uses electrode arrays to write/read electrical signals into living tissue; Koniku holds a patent (JP6858769) for cleaner signal-to-noise electrode recording from noisy tissue, directly relevant to Acheron's own oscillation-interference problem.</a:t>
            </a:r>
            <a:endParaRPr lang="en-US" sz="11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434840" y="1828800"/>
            <a:ext cx="3566160" cy="82296"/>
          </a:xfrm>
          <a:prstGeom prst="rect">
            <a:avLst/>
          </a:prstGeom>
          <a:solidFill>
            <a:srgbClr val="2EC4B6"/>
          </a:solidFill>
          <a:ln/>
        </p:spPr>
      </p:sp>
      <p:sp>
        <p:nvSpPr>
          <p:cNvPr id="11" name="Text 9"/>
          <p:cNvSpPr txBox="1"/>
          <p:nvPr/>
        </p:nvSpPr>
        <p:spPr>
          <a:xfrm>
            <a:off x="469087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Mycelium memristor</a:t>
            </a:r>
            <a:endParaRPr lang="en-US" sz="1550" dirty="0"/>
          </a:p>
        </p:txBody>
      </p:sp>
      <p:sp>
        <p:nvSpPr>
          <p:cNvPr id="12" name="Text 10"/>
          <p:cNvSpPr txBox="1"/>
          <p:nvPr/>
        </p:nvSpPr>
        <p:spPr>
          <a:xfrm>
            <a:off x="469087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LaRocco et al. 2025, PLOS ONE</a:t>
            </a:r>
            <a:endParaRPr lang="en-US" sz="1050" dirty="0"/>
          </a:p>
        </p:txBody>
      </p:sp>
      <p:sp>
        <p:nvSpPr>
          <p:cNvPr id="13" name="Text 11"/>
          <p:cNvSpPr txBox="1"/>
          <p:nvPr/>
        </p:nvSpPr>
        <p:spPr>
          <a:xfrm>
            <a:off x="469087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and genuinely impressive, 90±1% accuracy, survives dehydration. But it's an analog device: one continuous resistance value, no addressable write layer. 90% accuracy also fails as binary storage (wrong 1 time in 10 isn't usable). Acheron targets an addressable, individually read/writable bit, not a continuous signal.</a:t>
            </a:r>
            <a:endParaRPr lang="en-US" sz="11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229600" y="1828800"/>
            <a:ext cx="3566160" cy="82296"/>
          </a:xfrm>
          <a:prstGeom prst="rect">
            <a:avLst/>
          </a:prstGeom>
          <a:solidFill>
            <a:srgbClr val="2EC4B6"/>
          </a:solidFill>
          <a:ln/>
        </p:spPr>
      </p:sp>
      <p:sp>
        <p:nvSpPr>
          <p:cNvPr id="16" name="Text 14"/>
          <p:cNvSpPr txBox="1"/>
          <p:nvPr/>
        </p:nvSpPr>
        <p:spPr>
          <a:xfrm>
            <a:off x="848563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DNA-sequence storage</a:t>
            </a:r>
            <a:endParaRPr lang="en-US" sz="1550" dirty="0"/>
          </a:p>
        </p:txBody>
      </p:sp>
      <p:sp>
        <p:nvSpPr>
          <p:cNvPr id="17" name="Text 15"/>
          <p:cNvSpPr txBox="1"/>
          <p:nvPr/>
        </p:nvSpPr>
        <p:spPr>
          <a:xfrm>
            <a:off x="848563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BioCompute Inc. / Biomemory (Yachie &amp; Tomita 2007 precedent)</a:t>
            </a:r>
            <a:endParaRPr lang="en-US" sz="1050" dirty="0"/>
          </a:p>
        </p:txBody>
      </p:sp>
      <p:sp>
        <p:nvSpPr>
          <p:cNvPr id="18" name="Text 16"/>
          <p:cNvSpPr txBox="1"/>
          <p:nvPr/>
        </p:nvSpPr>
        <p:spPr>
          <a:xfrm>
            <a:off x="848563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funded, already storing arbitrary data in a genome, and gaining ground fast (Biomemory acquired Catalog Technologies in 2026, targeting commercial launch by year end). But it's archival: written once, read only by destroying the sample via sequencing. Acheron is solving a different problem on purpose, a dynamic, rewritable, non-destructively-readable state, not a write-once archive.</a:t>
            </a:r>
            <a:endParaRPr lang="en-US" sz="11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EVIDENCE THE NEED IS REAL, NOT A MARKET-SIZE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We are not sizing a market yet. Here are two real, externally-verifiable numbers showing the underlying need</a:t>
            </a:r>
            <a:endParaRPr lang="en-US" sz="2200" dirty="0"/>
          </a:p>
        </p:txBody>
      </p:sp>
      <p:sp>
        <p:nvSpPr>
          <p:cNvPr id="4" name="Shape 2"/>
          <p:cNvSpPr/>
          <p:nvPr/>
        </p:nvSpPr>
        <p:spPr>
          <a:xfrm>
            <a:off x="640080" y="1828800"/>
            <a:ext cx="5257800" cy="4023360"/>
          </a:xfrm>
          <a:prstGeom prst="roundRect">
            <a:avLst>
              <a:gd name="adj" fmla="val 1818"/>
            </a:avLst>
          </a:prstGeom>
          <a:solidFill>
            <a:srgbClr val="132A4D"/>
          </a:solidFill>
          <a:ln/>
        </p:spPr>
      </p:sp>
      <p:sp>
        <p:nvSpPr>
          <p:cNvPr id="5" name="Text 3"/>
          <p:cNvSpPr txBox="1"/>
          <p:nvPr/>
        </p:nvSpPr>
        <p:spPr>
          <a:xfrm>
            <a:off x="914400" y="2103120"/>
            <a:ext cx="475488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$350K / 5 yrs</a:t>
            </a:r>
            <a:endParaRPr lang="en-US" sz="3200" dirty="0"/>
          </a:p>
        </p:txBody>
      </p:sp>
      <p:sp>
        <p:nvSpPr>
          <p:cNvPr id="6" name="Text 4"/>
          <p:cNvSpPr txBox="1"/>
          <p:nvPr/>
        </p:nvSpPr>
        <p:spPr>
          <a:xfrm>
            <a:off x="914400" y="2880360"/>
            <a:ext cx="47548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one customer already pays to avoid downtime, on a different product</a:t>
            </a:r>
            <a:endParaRPr lang="en-US" sz="1300" dirty="0"/>
          </a:p>
        </p:txBody>
      </p:sp>
      <p:sp>
        <p:nvSpPr>
          <p:cNvPr id="7" name="Text 5"/>
          <p:cNvSpPr txBox="1"/>
          <p:nvPr/>
        </p:nvSpPr>
        <p:spPr>
          <a:xfrm>
            <a:off x="914400" y="3383280"/>
            <a:ext cx="4754880" cy="2286000"/>
          </a:xfrm>
          <a:prstGeom prst="rect">
            <a:avLst/>
          </a:prstGeom>
          <a:noFill/>
          <a:ln/>
        </p:spPr>
        <p:txBody>
          <a:bodyPr wrap="square" lIns="0" tIns="0" rIns="0" bIns="0" rtlCol="0" anchor="ctr"/>
          <a:lstStyle/>
          <a:p>
            <a:pPr indent="0" marL="0">
              <a:lnSpc>
                <a:spcPct val="120000"/>
              </a:lnSpc>
              <a:buNone/>
            </a:pPr>
            <a:r>
              <a:rPr lang="en-US" sz="1250" dirty="0">
                <a:solidFill>
                  <a:srgbClr val="CFE0DD"/>
                </a:solidFill>
                <a:latin typeface="Calibri" pitchFamily="34" charset="0"/>
                <a:ea typeface="Calibri" pitchFamily="34" charset="-122"/>
                <a:cs typeface="Calibri" pitchFamily="34" charset="-120"/>
              </a:rPr>
              <a:t>Cortical Labs' CL-1 (neuron-based cognition, not memory storage): $35,000/unit, replaced every 6 months, zero self-repair. Not a price for storage, a data point that this market already tolerates paying real money to avoid unplanned downtime, from a substrate that can't heal itself.</a:t>
            </a:r>
            <a:endParaRPr lang="en-US" sz="1250" dirty="0"/>
          </a:p>
        </p:txBody>
      </p:sp>
      <p:sp>
        <p:nvSpPr>
          <p:cNvPr id="8" name="Shape 6"/>
          <p:cNvSpPr/>
          <p:nvPr/>
        </p:nvSpPr>
        <p:spPr>
          <a:xfrm>
            <a:off x="6172200" y="1828800"/>
            <a:ext cx="5394960" cy="4023360"/>
          </a:xfrm>
          <a:prstGeom prst="roundRect">
            <a:avLst>
              <a:gd name="adj" fmla="val 1818"/>
            </a:avLst>
          </a:prstGeom>
          <a:solidFill>
            <a:srgbClr val="132A4D"/>
          </a:solidFill>
          <a:ln/>
        </p:spPr>
      </p:sp>
      <p:sp>
        <p:nvSpPr>
          <p:cNvPr id="9" name="Text 7"/>
          <p:cNvSpPr txBox="1"/>
          <p:nvPr/>
        </p:nvSpPr>
        <p:spPr>
          <a:xfrm>
            <a:off x="6446520" y="2103120"/>
            <a:ext cx="484632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$1.2B–$2.0B</a:t>
            </a:r>
            <a:endParaRPr lang="en-US" sz="3200" dirty="0"/>
          </a:p>
        </p:txBody>
      </p:sp>
      <p:sp>
        <p:nvSpPr>
          <p:cNvPr id="10" name="Text 8"/>
          <p:cNvSpPr txBox="1"/>
          <p:nvPr/>
        </p:nvSpPr>
        <p:spPr>
          <a:xfrm>
            <a:off x="6446520" y="2880360"/>
            <a:ext cx="484632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whole radiation-hardened electronics market, not a memory-specific figure</a:t>
            </a:r>
            <a:endParaRPr lang="en-US" sz="1300" dirty="0"/>
          </a:p>
        </p:txBody>
      </p:sp>
      <p:sp>
        <p:nvSpPr>
          <p:cNvPr id="11" name="Text 9"/>
          <p:cNvSpPr txBox="1"/>
          <p:nvPr/>
        </p:nvSpPr>
        <p:spPr>
          <a:xfrm>
            <a:off x="6446520" y="3474720"/>
            <a:ext cx="4846320" cy="2286000"/>
          </a:xfrm>
          <a:prstGeom prst="rect">
            <a:avLst/>
          </a:prstGeom>
          <a:noFill/>
          <a:ln/>
        </p:spPr>
        <p:txBody>
          <a:bodyPr wrap="square" lIns="0" tIns="0" rIns="0" bIns="0" rtlCol="0" anchor="ctr"/>
          <a:lstStyle/>
          <a:p>
            <a:pPr indent="0" marL="0">
              <a:lnSpc>
                <a:spcPct val="120000"/>
              </a:lnSpc>
              <a:buNone/>
            </a:pPr>
            <a:r>
              <a:rPr lang="en-US" sz="1200" dirty="0">
                <a:solidFill>
                  <a:srgbClr val="CFE0DD"/>
                </a:solidFill>
                <a:latin typeface="Calibri" pitchFamily="34" charset="0"/>
                <a:ea typeface="Calibri" pitchFamily="34" charset="-122"/>
                <a:cs typeface="Calibri" pitchFamily="34" charset="-120"/>
              </a:rPr>
              <a:t>Growing ~4-5.6% CAGR into the early 2030s (Grand View Research, Fortune Business Insights, Research and Markets), driven by LEO satellite constellations (Starlink, Kuiper, OneWeb) needing more radiation-tolerant memory. Memory is only a slice of this figure, and we are not estimating that slice. We're citing it as evidence the demand driver is real and growing, nothing more.</a:t>
            </a:r>
            <a:endParaRPr lang="en-US" sz="1200" dirty="0"/>
          </a:p>
        </p:txBody>
      </p:sp>
      <p:sp>
        <p:nvSpPr>
          <p:cNvPr id="12" name="Text 10"/>
          <p:cNvSpPr txBox="1"/>
          <p:nvPr/>
        </p:nvSpPr>
        <p:spPr>
          <a:xfrm>
            <a:off x="640080" y="5943600"/>
            <a:ext cx="10972800" cy="685800"/>
          </a:xfrm>
          <a:prstGeom prst="rect">
            <a:avLst/>
          </a:prstGeom>
          <a:noFill/>
          <a:ln/>
        </p:spPr>
        <p:txBody>
          <a:bodyPr wrap="square" lIns="0" tIns="0" rIns="0" bIns="0" rtlCol="0" anchor="ctr"/>
          <a:lstStyle/>
          <a:p>
            <a:pPr indent="0" marL="0">
              <a:lnSpc>
                <a:spcPct val="115000"/>
              </a:lnSpc>
              <a:buNone/>
            </a:pPr>
            <a:r>
              <a:rPr lang="en-US" sz="1250" i="1" dirty="0">
                <a:solidFill>
                  <a:srgbClr val="AEC2C8"/>
                </a:solidFill>
                <a:latin typeface="Calibri" pitchFamily="34" charset="0"/>
                <a:ea typeface="Calibri" pitchFamily="34" charset="-122"/>
                <a:cs typeface="Calibri" pitchFamily="34" charset="-120"/>
              </a:rPr>
              <a:t>Neither number is a forecast for Acheron. This upside is entirely conditional on the roadmap experiment below succeeding, and we haven't tried to price it in advance. We're asking for what it costs to find out.</a:t>
            </a:r>
            <a:endParaRPr lang="en-US" sz="125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experiment that changes everything</a:t>
            </a:r>
            <a:endParaRPr lang="en-US" sz="2800" dirty="0"/>
          </a:p>
        </p:txBody>
      </p:sp>
      <p:sp>
        <p:nvSpPr>
          <p:cNvPr id="4" name="Text 2"/>
          <p:cNvSpPr txBox="1"/>
          <p:nvPr/>
        </p:nvSpPr>
        <p:spPr>
          <a:xfrm>
            <a:off x="640080" y="1554480"/>
            <a:ext cx="10515600" cy="548640"/>
          </a:xfrm>
          <a:prstGeom prst="rect">
            <a:avLst/>
          </a:prstGeom>
          <a:noFill/>
          <a:ln/>
        </p:spPr>
        <p:txBody>
          <a:bodyPr wrap="square" lIns="0" tIns="0" rIns="0" bIns="0" rtlCol="0" anchor="ctr"/>
          <a:lstStyle/>
          <a:p>
            <a:pPr indent="0" marL="0">
              <a:buNone/>
            </a:pPr>
            <a:r>
              <a:rPr lang="en-US" sz="1400" dirty="0">
                <a:solidFill>
                  <a:srgbClr val="AEC2C8"/>
                </a:solidFill>
                <a:latin typeface="Calibri" pitchFamily="34" charset="0"/>
                <a:ea typeface="Calibri" pitchFamily="34" charset="-122"/>
                <a:cs typeface="Calibri" pitchFamily="34" charset="-120"/>
              </a:rPr>
              <a:t>Build the matched-promoter toggle circuit in B. subtilis, write a bit, damage the colony, let it regrow, read the bit back non-destructively via EIS.</a:t>
            </a:r>
            <a:endParaRPr lang="en-US" sz="1400" dirty="0"/>
          </a:p>
        </p:txBody>
      </p:sp>
      <p:sp>
        <p:nvSpPr>
          <p:cNvPr id="5" name="Shape 3"/>
          <p:cNvSpPr/>
          <p:nvPr/>
        </p:nvSpPr>
        <p:spPr>
          <a:xfrm>
            <a:off x="640080" y="2377440"/>
            <a:ext cx="3566160" cy="2286000"/>
          </a:xfrm>
          <a:prstGeom prst="roundRect">
            <a:avLst>
              <a:gd name="adj" fmla="val 3200"/>
            </a:avLst>
          </a:prstGeom>
          <a:solidFill>
            <a:srgbClr val="132A4D"/>
          </a:solidFill>
          <a:ln/>
        </p:spPr>
      </p:sp>
      <p:sp>
        <p:nvSpPr>
          <p:cNvPr id="6" name="Text 4"/>
          <p:cNvSpPr txBox="1"/>
          <p:nvPr/>
        </p:nvSpPr>
        <p:spPr>
          <a:xfrm>
            <a:off x="91440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$10K-$30K</a:t>
            </a:r>
            <a:endParaRPr lang="en-US" sz="3400" dirty="0"/>
          </a:p>
        </p:txBody>
      </p:sp>
      <p:sp>
        <p:nvSpPr>
          <p:cNvPr id="7" name="Text 5"/>
          <p:cNvSpPr txBox="1"/>
          <p:nvPr/>
        </p:nvSpPr>
        <p:spPr>
          <a:xfrm>
            <a:off x="91440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Cost, reagents, cloning, lab bench access</a:t>
            </a:r>
            <a:endParaRPr lang="en-US" sz="1250" dirty="0"/>
          </a:p>
        </p:txBody>
      </p:sp>
      <p:sp>
        <p:nvSpPr>
          <p:cNvPr id="8" name="Shape 6"/>
          <p:cNvSpPr/>
          <p:nvPr/>
        </p:nvSpPr>
        <p:spPr>
          <a:xfrm>
            <a:off x="4389120" y="2377440"/>
            <a:ext cx="3566160" cy="2286000"/>
          </a:xfrm>
          <a:prstGeom prst="roundRect">
            <a:avLst>
              <a:gd name="adj" fmla="val 3200"/>
            </a:avLst>
          </a:prstGeom>
          <a:solidFill>
            <a:srgbClr val="132A4D"/>
          </a:solidFill>
          <a:ln/>
        </p:spPr>
      </p:sp>
      <p:sp>
        <p:nvSpPr>
          <p:cNvPr id="9" name="Text 7"/>
          <p:cNvSpPr txBox="1"/>
          <p:nvPr/>
        </p:nvSpPr>
        <p:spPr>
          <a:xfrm>
            <a:off x="466344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6-12 mo</a:t>
            </a:r>
            <a:endParaRPr lang="en-US" sz="3400" dirty="0"/>
          </a:p>
        </p:txBody>
      </p:sp>
      <p:sp>
        <p:nvSpPr>
          <p:cNvPr id="10" name="Text 8"/>
          <p:cNvSpPr txBox="1"/>
          <p:nvPr/>
        </p:nvSpPr>
        <p:spPr>
          <a:xfrm>
            <a:off x="466344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Timeline to a clear yes/no answer</a:t>
            </a:r>
            <a:endParaRPr lang="en-US" sz="1250" dirty="0"/>
          </a:p>
        </p:txBody>
      </p:sp>
      <p:sp>
        <p:nvSpPr>
          <p:cNvPr id="11" name="Shape 9"/>
          <p:cNvSpPr/>
          <p:nvPr/>
        </p:nvSpPr>
        <p:spPr>
          <a:xfrm>
            <a:off x="8138160" y="2377440"/>
            <a:ext cx="3566160" cy="2286000"/>
          </a:xfrm>
          <a:prstGeom prst="roundRect">
            <a:avLst>
              <a:gd name="adj" fmla="val 3200"/>
            </a:avLst>
          </a:prstGeom>
          <a:solidFill>
            <a:srgbClr val="132A4D"/>
          </a:solidFill>
          <a:ln/>
        </p:spPr>
      </p:sp>
      <p:sp>
        <p:nvSpPr>
          <p:cNvPr id="12" name="Text 10"/>
          <p:cNvSpPr txBox="1"/>
          <p:nvPr/>
        </p:nvSpPr>
        <p:spPr>
          <a:xfrm>
            <a:off x="841248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2</a:t>
            </a:r>
            <a:endParaRPr lang="en-US" sz="3400" dirty="0"/>
          </a:p>
        </p:txBody>
      </p:sp>
      <p:sp>
        <p:nvSpPr>
          <p:cNvPr id="13" name="Text 11"/>
          <p:cNvSpPr txBox="1"/>
          <p:nvPr/>
        </p:nvSpPr>
        <p:spPr>
          <a:xfrm>
            <a:off x="841248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Outcomes only, validate the mechanism, or cleanly redirect to methylation, next by our own ranking</a:t>
            </a:r>
            <a:endParaRPr lang="en-US" sz="1250" dirty="0"/>
          </a:p>
        </p:txBody>
      </p:sp>
      <p:sp>
        <p:nvSpPr>
          <p:cNvPr id="14" name="Text 12"/>
          <p:cNvSpPr txBox="1"/>
          <p:nvPr/>
        </p:nvSpPr>
        <p:spPr>
          <a:xfrm>
            <a:off x="640080" y="4937760"/>
            <a:ext cx="10515600" cy="45720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Deliberately the cheapest, fastest experiment that produces a real answer, not a moonshot ask.</a:t>
            </a:r>
            <a:endParaRPr lang="en-US" sz="1400" dirty="0"/>
          </a:p>
        </p:txBody>
      </p:sp>
      <p:sp>
        <p:nvSpPr>
          <p:cNvPr id="15" name="Text 1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BIOSAFETY &amp; CONTAINMENT</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Engineering bacteria to hold data raises real containment questions. We're addressing them before any wet-lab work starts</a:t>
            </a:r>
            <a:endParaRPr lang="en-US" sz="21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Organism &amp; containment level</a:t>
            </a:r>
            <a:endParaRPr lang="en-US" sz="150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B. subtilis lab strains, including the strain 168 background used with the Bacillus BioBrick Box parts, are non-pathogenic and handled at Biosafety Level 1 (BSL-1), the lowest containment tier, standard in academic synthetic-biology teaching labs.</a:t>
            </a:r>
            <a:endParaRPr lang="en-US" sz="120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1C8F84"/>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Kill-switch, planned, not yet built</a:t>
            </a:r>
            <a:endParaRPr lang="en-US" sz="150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A release-prevention mechanism (e.g. an auxotrophic dependency or inducible kill-switch) is a design requirement we're scoping into the toggle-circuit build for the roadmap experiment, not an afterthought added later.</a:t>
            </a:r>
            <a:endParaRPr lang="en-US" sz="120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Regulatory path</a:t>
            </a:r>
            <a:endParaRPr lang="en-US" sz="150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Wet-lab work proceeds under the partner lab's Institutional Biosafety Committee (IBC) review and the NIH Guidelines for recombinant/synthetic nucleic acid research, the standard oversight path for this kind of academic or contract lab work. Storing data confers no pathogenicity, virulence, or toxin production, there is no dual-use mechanism here.</a:t>
            </a:r>
            <a:endParaRPr lang="en-US" sz="1200" dirty="0"/>
          </a:p>
        </p:txBody>
      </p:sp>
      <p:sp>
        <p:nvSpPr>
          <p:cNvPr id="16" name="Text 14"/>
          <p:cNvSpPr txBox="1"/>
          <p:nvPr/>
        </p:nvSpPr>
        <p:spPr>
          <a:xfrm>
            <a:off x="640080" y="5989320"/>
            <a:ext cx="10972800" cy="45720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None of this is unusual for synthetic biology. We're naming it now so it's never a surprise later.</a:t>
            </a:r>
            <a:endParaRPr lang="en-US" sz="130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WE'RE ASKING FOR</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700" b="1" dirty="0">
                <a:solidFill>
                  <a:srgbClr val="16232F"/>
                </a:solidFill>
                <a:latin typeface="Cambria" pitchFamily="34" charset="0"/>
                <a:ea typeface="Cambria" pitchFamily="34" charset="-122"/>
                <a:cs typeface="Cambria" pitchFamily="34" charset="-120"/>
              </a:rPr>
              <a:t>Deliberately small, not a seed round</a:t>
            </a:r>
            <a:endParaRPr lang="en-US" sz="2700" dirty="0"/>
          </a:p>
        </p:txBody>
      </p:sp>
      <p:sp>
        <p:nvSpPr>
          <p:cNvPr id="4" name="Text 2"/>
          <p:cNvSpPr txBox="1"/>
          <p:nvPr/>
        </p:nvSpPr>
        <p:spPr>
          <a:xfrm>
            <a:off x="640080" y="1508760"/>
            <a:ext cx="10515600" cy="457200"/>
          </a:xfrm>
          <a:prstGeom prst="rect">
            <a:avLst/>
          </a:prstGeom>
          <a:noFill/>
          <a:ln/>
        </p:spPr>
        <p:txBody>
          <a:bodyPr wrap="square" lIns="0" tIns="0" rIns="0" bIns="0" rtlCol="0" anchor="ctr"/>
          <a:lstStyle/>
          <a:p>
            <a:pPr indent="0" marL="0">
              <a:buNone/>
            </a:pPr>
            <a:r>
              <a:rPr lang="en-US" sz="1350" dirty="0">
                <a:solidFill>
                  <a:srgbClr val="5B6B77"/>
                </a:solidFill>
                <a:latin typeface="Calibri" pitchFamily="34" charset="0"/>
                <a:ea typeface="Calibri" pitchFamily="34" charset="-122"/>
                <a:cs typeface="Calibri" pitchFamily="34" charset="-120"/>
              </a:rPr>
              <a:t>We are not raising a general-purpose seed round right now. This stage needs something narrower and cheaper:</a:t>
            </a:r>
            <a:endParaRPr lang="en-US" sz="1350" dirty="0"/>
          </a:p>
        </p:txBody>
      </p:sp>
      <p:sp>
        <p:nvSpPr>
          <p:cNvPr id="5" name="Shape 3"/>
          <p:cNvSpPr/>
          <p:nvPr/>
        </p:nvSpPr>
        <p:spPr>
          <a:xfrm>
            <a:off x="640080" y="2103120"/>
            <a:ext cx="457200" cy="457200"/>
          </a:xfrm>
          <a:prstGeom prst="ellipse">
            <a:avLst/>
          </a:prstGeom>
          <a:solidFill>
            <a:srgbClr val="2EC4B6"/>
          </a:solidFill>
          <a:ln/>
        </p:spPr>
      </p:sp>
      <p:sp>
        <p:nvSpPr>
          <p:cNvPr id="6" name="Text 4"/>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205740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Funding for the wet-lab validation experiment</a:t>
            </a:r>
            <a:endParaRPr lang="en-US" sz="1600" dirty="0"/>
          </a:p>
        </p:txBody>
      </p:sp>
      <p:sp>
        <p:nvSpPr>
          <p:cNvPr id="8" name="Text 6"/>
          <p:cNvSpPr txBox="1"/>
          <p:nvPr/>
        </p:nvSpPr>
        <p:spPr>
          <a:xfrm>
            <a:off x="1325880" y="246888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The ~$10K-$30K described on the roadmap slide: reagents, plasmid synthesis/cloning, lab bench access.</a:t>
            </a:r>
            <a:endParaRPr lang="en-US" sz="1250" dirty="0"/>
          </a:p>
        </p:txBody>
      </p:sp>
      <p:sp>
        <p:nvSpPr>
          <p:cNvPr id="9" name="Shape 7"/>
          <p:cNvSpPr/>
          <p:nvPr/>
        </p:nvSpPr>
        <p:spPr>
          <a:xfrm>
            <a:off x="640080" y="3200400"/>
            <a:ext cx="457200" cy="457200"/>
          </a:xfrm>
          <a:prstGeom prst="ellipse">
            <a:avLst/>
          </a:prstGeom>
          <a:solidFill>
            <a:srgbClr val="2EC4B6"/>
          </a:solidFill>
          <a:ln/>
        </p:spPr>
      </p:sp>
      <p:sp>
        <p:nvSpPr>
          <p:cNvPr id="10" name="Text 8"/>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325880" y="315468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Budget to hire a paid synthetic-biology consultant</a:t>
            </a:r>
            <a:endParaRPr lang="en-US" sz="1600" dirty="0"/>
          </a:p>
        </p:txBody>
      </p:sp>
      <p:sp>
        <p:nvSpPr>
          <p:cNvPr id="12" name="Text 10"/>
          <p:cNvSpPr txBox="1"/>
          <p:nvPr/>
        </p:nvSpPr>
        <p:spPr>
          <a:xfrm>
            <a:off x="1325880" y="356616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real expert's time to review and help execute the toggle-circuit build, not just informal mentoring hours. We'd rather pay for a few weeks of real expertise than move forward on a design nobody with domain experience has pressure-tested.</a:t>
            </a:r>
            <a:endParaRPr lang="en-US" sz="1250" dirty="0"/>
          </a:p>
        </p:txBody>
      </p:sp>
      <p:sp>
        <p:nvSpPr>
          <p:cNvPr id="13" name="Shape 11"/>
          <p:cNvSpPr/>
          <p:nvPr/>
        </p:nvSpPr>
        <p:spPr>
          <a:xfrm>
            <a:off x="640080" y="4297680"/>
            <a:ext cx="457200" cy="457200"/>
          </a:xfrm>
          <a:prstGeom prst="ellipse">
            <a:avLst/>
          </a:prstGeom>
          <a:solidFill>
            <a:srgbClr val="2EC4B6"/>
          </a:solidFill>
          <a:ln/>
        </p:spPr>
      </p:sp>
      <p:sp>
        <p:nvSpPr>
          <p:cNvPr id="14" name="Text 12"/>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1325880" y="425196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Lab access &amp; partnership introductions</a:t>
            </a:r>
            <a:endParaRPr lang="en-US" sz="1600" dirty="0"/>
          </a:p>
        </p:txBody>
      </p:sp>
      <p:sp>
        <p:nvSpPr>
          <p:cNvPr id="16" name="Text 14"/>
          <p:cNvSpPr txBox="1"/>
          <p:nvPr/>
        </p:nvSpPr>
        <p:spPr>
          <a:xfrm>
            <a:off x="1325880" y="466344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Standard bacterial transformation and plasmid cloning, B. subtilis is a workhorse organism, a far more common skill than planarian-specific culture.</a:t>
            </a:r>
            <a:endParaRPr lang="en-US" sz="1250" dirty="0"/>
          </a:p>
        </p:txBody>
      </p:sp>
      <p:sp>
        <p:nvSpPr>
          <p:cNvPr id="17" name="Shape 15"/>
          <p:cNvSpPr/>
          <p:nvPr/>
        </p:nvSpPr>
        <p:spPr>
          <a:xfrm>
            <a:off x="640080" y="5532120"/>
            <a:ext cx="10972800" cy="868680"/>
          </a:xfrm>
          <a:prstGeom prst="roundRect">
            <a:avLst>
              <a:gd name="adj" fmla="val 8421"/>
            </a:avLst>
          </a:prstGeom>
          <a:solidFill>
            <a:srgbClr val="EAF6F4"/>
          </a:solidFill>
          <a:ln w="15875">
            <a:solidFill>
              <a:srgbClr val="1C8F84"/>
            </a:solidFill>
            <a:prstDash val="solid"/>
          </a:ln>
        </p:spPr>
      </p:sp>
      <p:sp>
        <p:nvSpPr>
          <p:cNvPr id="18" name="Text 16"/>
          <p:cNvSpPr txBox="1"/>
          <p:nvPr/>
        </p:nvSpPr>
        <p:spPr>
          <a:xfrm>
            <a:off x="868680" y="5532120"/>
            <a:ext cx="10515600" cy="868680"/>
          </a:xfrm>
          <a:prstGeom prst="rect">
            <a:avLst/>
          </a:prstGeom>
          <a:noFill/>
          <a:ln/>
        </p:spPr>
        <p:txBody>
          <a:bodyPr wrap="square" lIns="0" tIns="0" rIns="0" bIns="0" rtlCol="0" anchor="ctr"/>
          <a:lstStyle/>
          <a:p>
            <a:pPr indent="0" marL="0">
              <a:lnSpc>
                <a:spcPct val="110000"/>
              </a:lnSpc>
              <a:buNone/>
            </a:pPr>
            <a:r>
              <a:rPr lang="en-US" sz="1250" b="1" dirty="0">
                <a:solidFill>
                  <a:srgbClr val="1C8F84"/>
                </a:solidFill>
                <a:latin typeface="Calibri" pitchFamily="34" charset="0"/>
                <a:ea typeface="Calibri" pitchFamily="34" charset="-122"/>
                <a:cs typeface="Calibri" pitchFamily="34" charset="-120"/>
              </a:rPr>
              <a:t>IP status:  </a:t>
            </a:r>
            <a:pPr indent="0" marL="0">
              <a:lnSpc>
                <a:spcPct val="110000"/>
              </a:lnSpc>
              <a:buNone/>
            </a:pPr>
            <a:r>
              <a:rPr lang="en-US" sz="1250" dirty="0">
                <a:solidFill>
                  <a:srgbClr val="16232F"/>
                </a:solidFill>
                <a:latin typeface="Calibri" pitchFamily="34" charset="0"/>
                <a:ea typeface="Calibri" pitchFamily="34" charset="-122"/>
                <a:cs typeface="Calibri" pitchFamily="34" charset="-120"/>
              </a:rPr>
              <a:t>patent applications filed with the USPTO covering the Bio-RAID fault-tolerance architecture, self-healing recovery protocol, and environment-adaptive longevity system.</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692640" y="-1097280"/>
            <a:ext cx="5029200" cy="5029200"/>
          </a:xfrm>
          <a:prstGeom prst="ellipse">
            <a:avLst/>
          </a:prstGeom>
          <a:solidFill>
            <a:srgbClr val="2EC4B6">
              <a:alpha val="8000"/>
            </a:srgbClr>
          </a:solidFill>
          <a:ln/>
        </p:spPr>
      </p:sp>
      <p:sp>
        <p:nvSpPr>
          <p:cNvPr id="3" name="Text 1"/>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TEAM</a:t>
            </a:r>
            <a:endParaRPr lang="en-US" sz="1200" dirty="0"/>
          </a:p>
        </p:txBody>
      </p:sp>
      <p:sp>
        <p:nvSpPr>
          <p:cNvPr id="4" name="Text 2"/>
          <p:cNvSpPr txBox="1"/>
          <p:nvPr/>
        </p:nvSpPr>
        <p:spPr>
          <a:xfrm>
            <a:off x="640080" y="822960"/>
            <a:ext cx="548640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Dayana Sanchez</a:t>
            </a:r>
            <a:endParaRPr lang="en-US" sz="2300" dirty="0"/>
          </a:p>
        </p:txBody>
      </p:sp>
      <p:sp>
        <p:nvSpPr>
          <p:cNvPr id="5" name="Text 3"/>
          <p:cNvSpPr txBox="1"/>
          <p:nvPr/>
        </p:nvSpPr>
        <p:spPr>
          <a:xfrm>
            <a:off x="640080" y="1261872"/>
            <a:ext cx="548640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Founder &amp; Lead Researcher</a:t>
            </a:r>
            <a:endParaRPr lang="en-US" sz="1250" dirty="0"/>
          </a:p>
        </p:txBody>
      </p:sp>
      <p:sp>
        <p:nvSpPr>
          <p:cNvPr id="6" name="Text 4"/>
          <p:cNvSpPr txBox="1"/>
          <p:nvPr/>
        </p:nvSpPr>
        <p:spPr>
          <a:xfrm>
            <a:off x="640080" y="1627632"/>
            <a:ext cx="5486400" cy="182880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Originated the core concept; led all technical work to date, the simulation architecture, the encoder software, and the audit process that found and corrected this project's own central assumption before anyone outside the project did.</a:t>
            </a:r>
            <a:endParaRPr lang="en-US" sz="1150" dirty="0"/>
          </a:p>
        </p:txBody>
      </p:sp>
      <p:sp>
        <p:nvSpPr>
          <p:cNvPr id="7" name="Text 5"/>
          <p:cNvSpPr txBox="1"/>
          <p:nvPr/>
        </p:nvSpPr>
        <p:spPr>
          <a:xfrm>
            <a:off x="6355080" y="822960"/>
            <a:ext cx="521208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Jacqueline Solano</a:t>
            </a:r>
            <a:endParaRPr lang="en-US" sz="2300" dirty="0"/>
          </a:p>
        </p:txBody>
      </p:sp>
      <p:sp>
        <p:nvSpPr>
          <p:cNvPr id="8" name="Text 6"/>
          <p:cNvSpPr txBox="1"/>
          <p:nvPr/>
        </p:nvSpPr>
        <p:spPr>
          <a:xfrm>
            <a:off x="6355080" y="1261872"/>
            <a:ext cx="521208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Co-Founder, Head of Business</a:t>
            </a:r>
            <a:endParaRPr lang="en-US" sz="1250" dirty="0"/>
          </a:p>
        </p:txBody>
      </p:sp>
      <p:sp>
        <p:nvSpPr>
          <p:cNvPr id="9" name="Text 7"/>
          <p:cNvSpPr txBox="1"/>
          <p:nvPr/>
        </p:nvSpPr>
        <p:spPr>
          <a:xfrm>
            <a:off x="6355080" y="1627632"/>
            <a:ext cx="5212080" cy="128016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Leads business operations.</a:t>
            </a:r>
            <a:endParaRPr lang="en-US" sz="1150" dirty="0"/>
          </a:p>
        </p:txBody>
      </p:sp>
      <p:sp>
        <p:nvSpPr>
          <p:cNvPr id="10" name="Shape 8"/>
          <p:cNvSpPr/>
          <p:nvPr/>
        </p:nvSpPr>
        <p:spPr>
          <a:xfrm>
            <a:off x="640080" y="3794760"/>
            <a:ext cx="10927080" cy="0"/>
          </a:xfrm>
          <a:prstGeom prst="line">
            <a:avLst/>
          </a:prstGeom>
          <a:noFill/>
          <a:ln w="12700">
            <a:solidFill>
              <a:srgbClr val="2A4463"/>
            </a:solidFill>
            <a:prstDash val="solid"/>
          </a:ln>
        </p:spPr>
      </p:sp>
      <p:sp>
        <p:nvSpPr>
          <p:cNvPr id="11" name="Text 9"/>
          <p:cNvSpPr txBox="1"/>
          <p:nvPr/>
        </p:nvSpPr>
        <p:spPr>
          <a:xfrm>
            <a:off x="640080" y="3977640"/>
            <a:ext cx="109270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we're looking for in a program</a:t>
            </a:r>
            <a:endParaRPr lang="en-US" sz="1600" dirty="0"/>
          </a:p>
        </p:txBody>
      </p:sp>
      <p:sp>
        <p:nvSpPr>
          <p:cNvPr id="12" name="Text 10"/>
          <p:cNvSpPr txBox="1"/>
          <p:nvPr/>
        </p:nvSpPr>
        <p:spPr>
          <a:xfrm>
            <a:off x="640080" y="4389120"/>
            <a:ext cx="10927080" cy="731520"/>
          </a:xfrm>
          <a:prstGeom prst="rect">
            <a:avLst/>
          </a:prstGeom>
          <a:noFill/>
          <a:ln/>
        </p:spPr>
        <p:txBody>
          <a:bodyPr wrap="square" lIns="0" tIns="0" rIns="0" bIns="0" rtlCol="0" anchor="ctr"/>
          <a:lstStyle/>
          <a:p>
            <a:pPr indent="0" marL="0">
              <a:lnSpc>
                <a:spcPct val="120000"/>
              </a:lnSpc>
              <a:buNone/>
            </a:pPr>
            <a:r>
              <a:rPr lang="en-US" sz="1350" i="1" dirty="0">
                <a:solidFill>
                  <a:srgbClr val="AEC2C8"/>
                </a:solidFill>
                <a:latin typeface="Calibri" pitchFamily="34" charset="0"/>
                <a:ea typeface="Calibri" pitchFamily="34" charset="-122"/>
                <a:cs typeface="Calibri" pitchFamily="34" charset="-120"/>
              </a:rPr>
              <a:t>A team and a network that treats rigorous, honestly-reported science as a strength worth backing, not a liability to hide. That's the partner we're looking for.</a:t>
            </a:r>
            <a:endParaRPr lang="en-US" sz="1350" dirty="0"/>
          </a:p>
        </p:txBody>
      </p:sp>
      <p:sp>
        <p:nvSpPr>
          <p:cNvPr id="13" name="Text 11"/>
          <p:cNvSpPr txBox="1"/>
          <p:nvPr/>
        </p:nvSpPr>
        <p:spPr>
          <a:xfrm>
            <a:off x="640080" y="5486400"/>
            <a:ext cx="8686800" cy="128016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Dayana Sanchez: sanchezleal1989@gmail.com</a:t>
            </a:r>
            <a:endParaRPr lang="en-US" sz="1300" dirty="0"/>
          </a:p>
          <a:p>
            <a:pPr indent="0" marL="0">
              <a:spcAft>
                <a:spcPts val="400"/>
              </a:spcAft>
              <a:buNone/>
            </a:pPr>
            <a:r>
              <a:rPr lang="en-US" sz="1300" dirty="0">
                <a:solidFill>
                  <a:srgbClr val="AEC2C8"/>
                </a:solidFill>
                <a:latin typeface="Calibri" pitchFamily="34" charset="0"/>
                <a:ea typeface="Calibri" pitchFamily="34" charset="-122"/>
                <a:cs typeface="Calibri" pitchFamily="34" charset="-120"/>
              </a:rPr>
              <a:t>https://github.com/rewired89/Acheron.git</a:t>
            </a:r>
            <a:endParaRPr lang="en-US" sz="1300" dirty="0"/>
          </a:p>
          <a:p>
            <a:pPr indent="0" marL="0">
              <a:spcAft>
                <a:spcPts val="400"/>
              </a:spcAft>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FFFFFF"/>
                </a:solidFill>
                <a:latin typeface="Calibri" pitchFamily="34" charset="0"/>
                <a:ea typeface="Calibri" pitchFamily="34" charset="-122"/>
                <a:cs typeface="Calibri" pitchFamily="34" charset="-120"/>
              </a:rPr>
              <a:t>Jacqueline Solano: jackiea.solano@gmail.com</a:t>
            </a:r>
            <a:endParaRPr lang="en-US" sz="1300" dirty="0"/>
          </a:p>
        </p:txBody>
      </p:sp>
      <p:sp>
        <p:nvSpPr>
          <p:cNvPr id="14" name="Text 1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2026-09-12T01:15:18Z</dcterms:created>
  <dcterms:modified xsi:type="dcterms:W3CDTF">2026-09-12T01:15:18Z</dcterms:modified>
</cp:coreProperties>
</file>