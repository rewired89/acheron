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77"/>
                </a:solidFill>
                <a:latin typeface="Arial"/>
              </a:defRPr>
            </a:pPr>
            <a:r>
              <a:rPr sz="1200" b="0" i="0" u="none" strike="noStrike">
                <a:solidFill>
                  <a:srgbClr val="5B6B77"/>
                </a:solidFill>
                <a:latin typeface="Arial"/>
              </a:rPr>
              <a:t>All three numerically tie at ~2% surviving, the number alone is misleading</a:t>
            </a:r>
          </a:p>
        </c:rich>
      </c:tx>
      <c:layout/>
      <c:overlay val="0"/>
    </c:title>
    <c:autoTitleDeleted val="0"/>
    <c:plotArea>
      <c:layout/>
      <c:barChart>
        <c:barDir val="col"/>
        <c:grouping val="clustered"/>
        <c:varyColors val="0"/>
        <c:ser>
          <c:idx val="0"/>
          <c:order val="0"/>
          <c:tx>
            <c:strRef>
              <c:f>Sheet1!$B$1</c:f>
              <c:strCache>
                <c:ptCount val="1"/>
                <c:pt idx="0">
                  <c:v>Recovery threshold (% surviving cells needed for ≥70% fidelity)</c:v>
                </c:pt>
              </c:strCache>
            </c:strRef>
          </c:tx>
          <c:spPr>
            <a:solidFill>
              <a:srgbClr val="2EC4B6"/>
            </a:solidFill>
            <a:effectLst/>
          </c:spPr>
          <c:invertIfNegative val="0"/>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cat>
            <c:multiLvlStrRef>
              <c:f>Sheet1!$A$2:$A$4</c:f>
              <c:multiLvlStrCache>
                <c:ptCount val="3"/>
                <c:lvl>
                  <c:pt idx="0">
                    <c:v>B. subtilis,
engineered circuit</c:v>
                  </c:pt>
                  <c:pt idx="1">
                    <c:v>B. subtilis,
methylation</c:v>
                  </c:pt>
                  <c:pt idx="2">
                    <c:v>Planarian,
bioelectric circuit</c:v>
                  </c:pt>
                </c:lvl>
              </c:multiLvlStrCache>
            </c:multiLvlStrRef>
          </c:cat>
          <c:val>
            <c:numRef>
              <c:f>Sheet1!$B$2:$B$4</c:f>
              <c:numCache>
                <c:formatCode>General</c:formatCode>
                <c:ptCount val="3"/>
                <c:pt idx="0">
                  <c:v>2</c:v>
                </c:pt>
                <c:pt idx="1">
                  <c:v>2</c:v>
                </c:pt>
                <c:pt idx="2">
                  <c:v>2</c:v>
                </c:pt>
              </c:numCache>
            </c:numRef>
          </c:val>
        </c:ser>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Head of Business: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engineered voltage-holding circuit.</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full cycle hasn't been tested in a wet lab yet. It's the goal the roadmap experiment works toward.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640080" y="5989320"/>
            <a:ext cx="10972800" cy="548640"/>
          </a:xfrm>
          <a:prstGeom prst="rect">
            <a:avLst/>
          </a:prstGeom>
          <a:noFill/>
          <a:ln/>
        </p:spPr>
        <p:txBody>
          <a:bodyPr wrap="square" lIns="0" tIns="0" rIns="0" bIns="0" rtlCol="0" anchor="ctr"/>
          <a:lstStyle/>
          <a:p>
            <a:pPr indent="0" marL="0">
              <a:lnSpc>
                <a:spcPct val="115000"/>
              </a:lnSpc>
              <a:buNone/>
            </a:pPr>
            <a:r>
              <a:rPr lang="en-US" sz="1100" b="1" i="1" dirty="0">
                <a:solidFill>
                  <a:srgbClr val="1C8F84"/>
                </a:solidFill>
                <a:latin typeface="Calibri" pitchFamily="34" charset="0"/>
                <a:ea typeface="Calibri" pitchFamily="34" charset="-122"/>
                <a:cs typeface="Calibri" pitchFamily="34" charset="-120"/>
              </a:rPr>
              <a:t>Modeling approach: </a:t>
            </a:r>
            <a:pPr indent="0" marL="0">
              <a:lnSpc>
                <a:spcPct val="115000"/>
              </a:lnSpc>
              <a:buNone/>
            </a:pPr>
            <a:r>
              <a:rPr lang="en-US" sz="1100" i="1" dirty="0">
                <a:solidFill>
                  <a:srgbClr val="5B6B77"/>
                </a:solidFill>
                <a:latin typeface="Calibri" pitchFamily="34" charset="0"/>
                <a:ea typeface="Calibri" pitchFamily="34" charset="-122"/>
                <a:cs typeface="Calibri" pitchFamily="34" charset="-120"/>
              </a:rPr>
              <a:t>physics-based, BETSE-inspired simulation (gap-junction diffusion, ion-channel membrane dynamics), the same framework underlying the Levin Lab's own BETSE tool, cross-validated against tasmorpho (Blattner, 2026, bioRxiv), an independently published BETSE-based method whose reference values we reproduce to 6 decimal places.</a:t>
            </a:r>
            <a:endParaRPr lang="en-US" sz="110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100%</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in a zero-noise simulation</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with realistic biological noise added,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it fails: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We found this ourselves, by stress-testing our own model, before any outside reviewer did.</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 hours), it's what happens at severe promoter mismatch: </a:t>
            </a:r>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at 24 hours,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at severe promoter mismatch (0.1x), a design constraint found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graphicFrame>
        <p:nvGraphicFramePr>
          <p:cNvPr id="4" name="Chart 0" descr=""/>
          <p:cNvGraphicFramePr/>
          <p:nvPr/>
        </p:nvGraphicFramePr>
        <p:xfrm>
          <a:off x="640080" y="1783080"/>
          <a:ext cx="61264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6" name="Text 2"/>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7" name="Text 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5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5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fix, and its limit</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Reading via impedance (EIS) instead of raw voltage helps, but a single fast EIS sweep isn't immune either, it needs to integrate across a full oscillation cycle (~3h) to recover accuracy.</a:t>
            </a:r>
            <a:endParaRPr lang="en-US" sz="125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Fidelity at 10-20mV of ambient oscillation (well below the circuit's own 70mV signal range) collapsed to 50-59% for single-snapshot voltage reads, this is a solvable engineering problem, not a fatal one, but a real, previously-unflagged design requirement.</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Four computational results, explained for a scientist and for everyone else</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4572000"/>
        </p:xfrm>
        <a:graphic>
          <a:graphicData uri="http://schemas.openxmlformats.org/drawingml/2006/table">
            <a:tbl>
              <a:tblPr/>
              <a:tblGrid>
                <a:gridCol w="2377440"/>
                <a:gridCol w="4480560"/>
                <a:gridCol w="4114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Technical (for a scientist)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English (for everyone else)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Passive persistence fails</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cell just holding a charge on its own is like a coin balanced on its edge, it falls over almost immediately.</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Engineered circuit works, with a catch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Matched-strength promoter pair (Gardner topology + Bacillus BioBrick Box parts) holds state at 100% fidelity at 24 hours; severe mismatch (0.1x) collapses to 50%, a monostable dead switch.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The circuit is like a light switch held by two matched springs. Mismatched springs and the switch falls back to "off" no matter what you do.</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Bacteria beats planaria on evidence, for now</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Betting on the organism with a measured mechanism is like betting on a scale you've calibrated, not one you're guessing the weight of.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new, real risk found before it was asked about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REAL STORAGE COMPETITORS</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72800" cy="324612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 Biomemory</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(w/ Yachie &amp; Tomita 2007 precedent)</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(dye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640080" y="5166360"/>
            <a:ext cx="10972800" cy="1234440"/>
          </a:xfrm>
          <a:prstGeom prst="roundRect">
            <a:avLst>
              <a:gd name="adj" fmla="val 5926"/>
            </a:avLst>
          </a:prstGeom>
          <a:solidFill>
            <a:srgbClr val="F4F6F7"/>
          </a:solidFill>
          <a:ln w="13970">
            <a:solidFill>
              <a:srgbClr val="DCE3E6"/>
            </a:solidFill>
            <a:prstDash val="solid"/>
          </a:ln>
        </p:spPr>
      </p:sp>
      <p:sp>
        <p:nvSpPr>
          <p:cNvPr id="6" name="Text 3"/>
          <p:cNvSpPr txBox="1"/>
          <p:nvPr/>
        </p:nvSpPr>
        <p:spPr>
          <a:xfrm>
            <a:off x="868680" y="5166360"/>
            <a:ext cx="10515600" cy="1234440"/>
          </a:xfrm>
          <a:prstGeom prst="rect">
            <a:avLst/>
          </a:prstGeom>
          <a:noFill/>
          <a:ln/>
        </p:spPr>
        <p:txBody>
          <a:bodyPr wrap="square" lIns="0" tIns="0" rIns="0" bIns="0" rtlCol="0" anchor="ctr"/>
          <a:lstStyle/>
          <a:p>
            <a:pPr indent="0" marL="0">
              <a:lnSpc>
                <a:spcPct val="120000"/>
              </a:lnSpc>
              <a:buNone/>
            </a:pPr>
            <a:r>
              <a:rPr lang="en-US" sz="1250" b="1" dirty="0">
                <a:solidFill>
                  <a:srgbClr val="1C8F84"/>
                </a:solidFill>
                <a:latin typeface="Calibri" pitchFamily="34" charset="0"/>
                <a:ea typeface="Calibri" pitchFamily="34" charset="-122"/>
                <a:cs typeface="Calibri" pitchFamily="34" charset="-120"/>
              </a:rPr>
              <a:t>Not included above, on purpose:  </a:t>
            </a:r>
            <a:pPr indent="0" marL="0">
              <a:lnSpc>
                <a:spcPct val="120000"/>
              </a:lnSpc>
              <a:buNone/>
            </a:pPr>
            <a:r>
              <a:rPr lang="en-US" sz="1250" dirty="0">
                <a:solidFill>
                  <a:srgbClr val="16232F"/>
                </a:solidFill>
                <a:latin typeface="Calibri" pitchFamily="34" charset="0"/>
                <a:ea typeface="Calibri" pitchFamily="34" charset="-122"/>
                <a:cs typeface="Calibri" pitchFamily="34" charset="-120"/>
              </a:rPr>
              <a:t>Cortical Labs, Koniku, and FinalSpark all build neuron-based wetware for cognition and sensing (playing games, detecting explosives, training AI), a different product category, not a memory-storage competitor. Their hardware is still worth studying, see next slide.</a:t>
            </a:r>
            <a:endParaRPr lang="en-US" sz="1250" dirty="0"/>
          </a:p>
        </p:txBody>
      </p:sp>
      <p:sp>
        <p:nvSpPr>
          <p:cNvPr id="7" name="Text 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 &amp; BORROWABLE RESEARCH</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Only two of these are competitors. The third is research worth borrowing from anyway</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Adjacent research, not a competitor</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(CL-1), Koniku</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Different product entirely, neuron-based cognition/sensing, not memory storage, so not a rival. Their hardware is still worth studying: CL-1 uses electrode arrays to write/read electrical signals into living tissue; Koniku holds a patent (JP6858769) for cleaner signal-to-noise electrode recording from noisy tissue, directly relevant to Acheron's own oscillation-interference problem.</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Biomemory (Yachie &amp; Tomita 2007 precedent)</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and gaining ground fast (Biomemory acquired Catalog Technologies in 2026, targeting commercial launch by year end).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IF THE CORE MECHANISM VALIDATES</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real, externally-verifiable numbers, not an invented forecast</a:t>
            </a:r>
            <a:endParaRPr lang="en-US" sz="26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customers already pay for the closest existing alternative</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$35,000/unit, replaced every 6 months, zero self-repair. A live, public data point for what this market already tolerates paying to avoid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Radiation-hardened space electronics, 2026 (independent analyst range)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We claim no specific share of this, it's evidence the underlying need is real and growing, not a number we made up.</a:t>
            </a:r>
            <a:endParaRPr lang="en-US" sz="1200" dirty="0"/>
          </a:p>
        </p:txBody>
      </p:sp>
      <p:sp>
        <p:nvSpPr>
          <p:cNvPr id="12" name="Text 10"/>
          <p:cNvSpPr txBox="1"/>
          <p:nvPr/>
        </p:nvSpPr>
        <p:spPr>
          <a:xfrm>
            <a:off x="640080" y="5943600"/>
            <a:ext cx="10972800" cy="685800"/>
          </a:xfrm>
          <a:prstGeom prst="rect">
            <a:avLst/>
          </a:prstGeom>
          <a:noFill/>
          <a:ln/>
        </p:spPr>
        <p:txBody>
          <a:bodyPr wrap="square" lIns="0" tIns="0" rIns="0" bIns="0" rtlCol="0" anchor="ctr"/>
          <a:lstStyle/>
          <a:p>
            <a:pPr indent="0" marL="0">
              <a:lnSpc>
                <a:spcPct val="115000"/>
              </a:lnSpc>
              <a:buNone/>
            </a:pPr>
            <a:r>
              <a:rPr lang="en-US" sz="1250" i="1" dirty="0">
                <a:solidFill>
                  <a:srgbClr val="AEC2C8"/>
                </a:solidFill>
                <a:latin typeface="Calibri" pitchFamily="34" charset="0"/>
                <a:ea typeface="Calibri" pitchFamily="34" charset="-122"/>
                <a:cs typeface="Calibri" pitchFamily="34" charset="-120"/>
              </a:rPr>
              <a:t>The same underlying need, radiation-tolerant, low-maintenance memory with no technician access, recurs across extreme-environment computing broadly: spacecraft, deep-sea systems, remote infrastructure. This upside is entirely conditional on the roadmap experiment below succeeding. We're not asking anyone to price the risk in advance, we're asking for what it costs to find out.</a:t>
            </a:r>
            <a:endParaRPr lang="en-US" sz="12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experiment that changes everything</a:t>
            </a:r>
            <a:endParaRPr lang="en-US" sz="2800" dirty="0"/>
          </a:p>
        </p:txBody>
      </p:sp>
      <p:sp>
        <p:nvSpPr>
          <p:cNvPr id="4" name="Text 2"/>
          <p:cNvSpPr txBox="1"/>
          <p:nvPr/>
        </p:nvSpPr>
        <p:spPr>
          <a:xfrm>
            <a:off x="640080" y="1554480"/>
            <a:ext cx="10515600" cy="548640"/>
          </a:xfrm>
          <a:prstGeom prst="rect">
            <a:avLst/>
          </a:prstGeom>
          <a:noFill/>
          <a:ln/>
        </p:spPr>
        <p:txBody>
          <a:bodyPr wrap="square" lIns="0" tIns="0" rIns="0" bIns="0" rtlCol="0" anchor="ctr"/>
          <a:lstStyle/>
          <a:p>
            <a:pPr indent="0" marL="0">
              <a:buNone/>
            </a:pPr>
            <a:r>
              <a:rPr lang="en-US" sz="1400" dirty="0">
                <a:solidFill>
                  <a:srgbClr val="AEC2C8"/>
                </a:solidFill>
                <a:latin typeface="Calibri" pitchFamily="34" charset="0"/>
                <a:ea typeface="Calibri" pitchFamily="34" charset="-122"/>
                <a:cs typeface="Calibri" pitchFamily="34" charset="-120"/>
              </a:rPr>
              <a:t>Build the matched-promoter toggle circuit in B. subtilis, write a bit, damage the colony, let it regrow, read the bit back non-destructively via EIS.</a:t>
            </a:r>
            <a:endParaRPr lang="en-US" sz="1400" dirty="0"/>
          </a:p>
        </p:txBody>
      </p:sp>
      <p:sp>
        <p:nvSpPr>
          <p:cNvPr id="5" name="Shape 3"/>
          <p:cNvSpPr/>
          <p:nvPr/>
        </p:nvSpPr>
        <p:spPr>
          <a:xfrm>
            <a:off x="640080" y="2377440"/>
            <a:ext cx="3566160" cy="2286000"/>
          </a:xfrm>
          <a:prstGeom prst="roundRect">
            <a:avLst>
              <a:gd name="adj" fmla="val 3200"/>
            </a:avLst>
          </a:prstGeom>
          <a:solidFill>
            <a:srgbClr val="132A4D"/>
          </a:solidFill>
          <a:ln/>
        </p:spPr>
      </p:sp>
      <p:sp>
        <p:nvSpPr>
          <p:cNvPr id="6" name="Text 4"/>
          <p:cNvSpPr txBox="1"/>
          <p:nvPr/>
        </p:nvSpPr>
        <p:spPr>
          <a:xfrm>
            <a:off x="91440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$10K-$30K</a:t>
            </a:r>
            <a:endParaRPr lang="en-US" sz="3400" dirty="0"/>
          </a:p>
        </p:txBody>
      </p:sp>
      <p:sp>
        <p:nvSpPr>
          <p:cNvPr id="7" name="Text 5"/>
          <p:cNvSpPr txBox="1"/>
          <p:nvPr/>
        </p:nvSpPr>
        <p:spPr>
          <a:xfrm>
            <a:off x="91440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Cost, reagents, cloning, lab bench access</a:t>
            </a:r>
            <a:endParaRPr lang="en-US" sz="1250" dirty="0"/>
          </a:p>
        </p:txBody>
      </p:sp>
      <p:sp>
        <p:nvSpPr>
          <p:cNvPr id="8" name="Shape 6"/>
          <p:cNvSpPr/>
          <p:nvPr/>
        </p:nvSpPr>
        <p:spPr>
          <a:xfrm>
            <a:off x="4389120" y="2377440"/>
            <a:ext cx="3566160" cy="2286000"/>
          </a:xfrm>
          <a:prstGeom prst="roundRect">
            <a:avLst>
              <a:gd name="adj" fmla="val 3200"/>
            </a:avLst>
          </a:prstGeom>
          <a:solidFill>
            <a:srgbClr val="132A4D"/>
          </a:solidFill>
          <a:ln/>
        </p:spPr>
      </p:sp>
      <p:sp>
        <p:nvSpPr>
          <p:cNvPr id="9" name="Text 7"/>
          <p:cNvSpPr txBox="1"/>
          <p:nvPr/>
        </p:nvSpPr>
        <p:spPr>
          <a:xfrm>
            <a:off x="466344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6-12 mo</a:t>
            </a:r>
            <a:endParaRPr lang="en-US" sz="3400" dirty="0"/>
          </a:p>
        </p:txBody>
      </p:sp>
      <p:sp>
        <p:nvSpPr>
          <p:cNvPr id="10" name="Text 8"/>
          <p:cNvSpPr txBox="1"/>
          <p:nvPr/>
        </p:nvSpPr>
        <p:spPr>
          <a:xfrm>
            <a:off x="466344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Timeline to a clear yes/no answer</a:t>
            </a:r>
            <a:endParaRPr lang="en-US" sz="1250" dirty="0"/>
          </a:p>
        </p:txBody>
      </p:sp>
      <p:sp>
        <p:nvSpPr>
          <p:cNvPr id="11" name="Shape 9"/>
          <p:cNvSpPr/>
          <p:nvPr/>
        </p:nvSpPr>
        <p:spPr>
          <a:xfrm>
            <a:off x="8138160" y="2377440"/>
            <a:ext cx="3566160" cy="2286000"/>
          </a:xfrm>
          <a:prstGeom prst="roundRect">
            <a:avLst>
              <a:gd name="adj" fmla="val 3200"/>
            </a:avLst>
          </a:prstGeom>
          <a:solidFill>
            <a:srgbClr val="132A4D"/>
          </a:solidFill>
          <a:ln/>
        </p:spPr>
      </p:sp>
      <p:sp>
        <p:nvSpPr>
          <p:cNvPr id="12" name="Text 10"/>
          <p:cNvSpPr txBox="1"/>
          <p:nvPr/>
        </p:nvSpPr>
        <p:spPr>
          <a:xfrm>
            <a:off x="841248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2</a:t>
            </a:r>
            <a:endParaRPr lang="en-US" sz="3400" dirty="0"/>
          </a:p>
        </p:txBody>
      </p:sp>
      <p:sp>
        <p:nvSpPr>
          <p:cNvPr id="13" name="Text 11"/>
          <p:cNvSpPr txBox="1"/>
          <p:nvPr/>
        </p:nvSpPr>
        <p:spPr>
          <a:xfrm>
            <a:off x="841248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Outcomes only, validate the mechanism, or cleanly redirect to methylation, next by our own ranking</a:t>
            </a:r>
            <a:endParaRPr lang="en-US" sz="1250" dirty="0"/>
          </a:p>
        </p:txBody>
      </p:sp>
      <p:sp>
        <p:nvSpPr>
          <p:cNvPr id="14" name="Text 12"/>
          <p:cNvSpPr txBox="1"/>
          <p:nvPr/>
        </p:nvSpPr>
        <p:spPr>
          <a:xfrm>
            <a:off x="640080" y="4937760"/>
            <a:ext cx="10515600" cy="45720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Deliberately the cheapest, fastest experiment that produces a real answer, not a moonshot ask.</a:t>
            </a:r>
            <a:endParaRPr lang="en-US" sz="140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the wet-lab validation experiment</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~$10K-$30K described on the roadmap slide: reagents, plasmid synthesis/cloning, lab bench access.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 Status: filed, pending examination.</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 Head of Business</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 and satisfies the program requirement that at least one founder be a U.S. citizen.</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we're looking for in a program</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 team and a network that treats rigorous, honestly-reported science as a strength worth backing, not a liability to hide. That's the partner we're looking for.</a:t>
            </a:r>
            <a:endParaRPr lang="en-US" sz="1350" dirty="0"/>
          </a:p>
        </p:txBody>
      </p:sp>
      <p:sp>
        <p:nvSpPr>
          <p:cNvPr id="13" name="Text 11"/>
          <p:cNvSpPr txBox="1"/>
          <p:nvPr/>
        </p:nvSpPr>
        <p:spPr>
          <a:xfrm>
            <a:off x="640080" y="5623560"/>
            <a:ext cx="731520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Dayana: sanchezleal1989@gmail.com</a:t>
            </a:r>
            <a:pPr indent="0" marL="0">
              <a:buNone/>
            </a:pPr>
            <a:r>
              <a:rPr lang="en-US" sz="1400" b="1" dirty="0">
                <a:solidFill>
                  <a:srgbClr val="FFFFFF"/>
                </a:solidFill>
                <a:latin typeface="Calibri" pitchFamily="34" charset="0"/>
                <a:ea typeface="Calibri" pitchFamily="34" charset="-122"/>
                <a:cs typeface="Calibri" pitchFamily="34" charset="-120"/>
              </a:rPr>
              <a:t>Jacqueline: jackiea.solano@gmail.com</a:t>
            </a:r>
            <a:pPr indent="0" marL="0">
              <a:buNone/>
            </a:pPr>
            <a:r>
              <a:rPr lang="en-US" sz="1400" dirty="0">
                <a:solidFill>
                  <a:srgbClr val="AEC2C8"/>
                </a:solidFill>
                <a:latin typeface="Calibri" pitchFamily="34" charset="0"/>
                <a:ea typeface="Calibri" pitchFamily="34" charset="-122"/>
                <a:cs typeface="Calibri" pitchFamily="34" charset="-120"/>
              </a:rPr>
              <a:t>github.com/rewired89/Acheron</a:t>
            </a:r>
            <a:endParaRPr lang="en-US" sz="14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2026-09-11T21:12:29Z</dcterms:created>
  <dcterms:modified xsi:type="dcterms:W3CDTF">2026-09-11T21:12:29Z</dcterms:modified>
</cp:coreProperties>
</file>