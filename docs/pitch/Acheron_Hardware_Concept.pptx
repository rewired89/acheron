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5303520" cy="5303520"/>
          </a:xfrm>
          <a:prstGeom prst="ellipse">
            <a:avLst/>
          </a:prstGeom>
          <a:solidFill>
            <a:srgbClr val="2EC4B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566160"/>
            <a:ext cx="3108960" cy="3108960"/>
          </a:xfrm>
          <a:prstGeom prst="ellipse">
            <a:avLst/>
          </a:prstGeom>
          <a:solidFill>
            <a:srgbClr val="2EC4B6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2EC4B6">
              <a:alpha val="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CONCEPT, SEPTEMBER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371600"/>
            <a:ext cx="9144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Acheron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Would Look Like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sealed cartridge of living cells, and a reader that writes to them and reads them back.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6052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concept sketch of the product the research points toward. No prototype exists.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Acheron</a:t>
            </a:r>
            <a:pPr indent="0" marL="0">
              <a:buNone/>
            </a:pPr>
            <a:r>
              <a:rPr lang="en-US" sz="1300" dirty="0">
                <a:solidFill>
                  <a:srgbClr val="8F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Self-Healing Bioelectric Memory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objects: a sealed, disposable cartridge and a reusable reader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447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Illustrative, not an engineering drawing. Every labeled part traces to a simulation result or a published citation.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488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CARTRIDGE, sealed and bio-safe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606040"/>
            <a:ext cx="1600200" cy="1536192"/>
          </a:xfrm>
          <a:prstGeom prst="roundRect">
            <a:avLst>
              <a:gd name="adj" fmla="val 3571"/>
            </a:avLst>
          </a:prstGeom>
          <a:solidFill>
            <a:srgbClr val="132A4D"/>
          </a:solidFill>
          <a:ln w="12700">
            <a:solidFill>
              <a:srgbClr val="2A44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21892" y="2779776"/>
            <a:ext cx="585216" cy="585216"/>
          </a:xfrm>
          <a:prstGeom prst="ellipse">
            <a:avLst/>
          </a:prstGeom>
          <a:solidFill>
            <a:srgbClr val="6E7F91">
              <a:alpha val="40000"/>
            </a:srgbClr>
          </a:solidFill>
          <a:ln w="19050">
            <a:solidFill>
              <a:srgbClr val="6E7F9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7552" y="3474720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Resting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3730752"/>
            <a:ext cx="1453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AE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dried spores, no power needed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51760" y="2606040"/>
            <a:ext cx="1600200" cy="1536192"/>
          </a:xfrm>
          <a:prstGeom prst="roundRect">
            <a:avLst>
              <a:gd name="adj" fmla="val 3571"/>
            </a:avLst>
          </a:prstGeom>
          <a:solidFill>
            <a:srgbClr val="132A4D"/>
          </a:solidFill>
          <a:ln w="12700">
            <a:solidFill>
              <a:srgbClr val="2A44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9252" y="2779776"/>
            <a:ext cx="585216" cy="585216"/>
          </a:xfrm>
          <a:prstGeom prst="ellipse">
            <a:avLst/>
          </a:prstGeom>
          <a:solidFill>
            <a:srgbClr val="2EC4B6">
              <a:alpha val="75000"/>
            </a:srgbClr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24912" y="3474720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1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724912" y="3730752"/>
            <a:ext cx="1453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AE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colony glows green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389120" y="2606040"/>
            <a:ext cx="1600200" cy="1536192"/>
          </a:xfrm>
          <a:prstGeom prst="roundRect">
            <a:avLst>
              <a:gd name="adj" fmla="val 3571"/>
            </a:avLst>
          </a:prstGeom>
          <a:solidFill>
            <a:srgbClr val="132A4D"/>
          </a:solidFill>
          <a:ln w="12700">
            <a:solidFill>
              <a:srgbClr val="2A44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6612" y="2779776"/>
            <a:ext cx="585216" cy="585216"/>
          </a:xfrm>
          <a:prstGeom prst="ellipse">
            <a:avLst/>
          </a:prstGeom>
          <a:solidFill>
            <a:srgbClr val="E8604C">
              <a:alpha val="75000"/>
            </a:srgbClr>
          </a:solidFill>
          <a:ln w="19050">
            <a:solidFill>
              <a:srgbClr val="E8604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62272" y="3474720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0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462272" y="3730752"/>
            <a:ext cx="1453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AE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colony glows red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2428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to fill the array. An illustrative 64 wells would hold 64 bits.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14400" y="4681728"/>
            <a:ext cx="484632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47731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channel, carries nutrient and the write chemical to every well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519379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cable on the cartridge itself. It is a consumable, closer to a lab test strip than a memory chip.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1965960"/>
            <a:ext cx="5285232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37960" y="2148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READER, reusable instrument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635240" y="2633472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4F6F7"/>
          </a:solidFill>
          <a:ln w="12700">
            <a:solidFill>
              <a:srgbClr val="B9C3C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35240" y="26334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cartridge slot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818120" y="3273552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F4F6F7"/>
          </a:solidFill>
          <a:ln w="12700">
            <a:solidFill>
              <a:srgbClr val="B9C3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2EC4B6">
              <a:alpha val="70000"/>
            </a:srgbClr>
          </a:solidFill>
          <a:ln w="19050">
            <a:solidFill>
              <a:srgbClr val="1C8F8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80960" y="41879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fluorescence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head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537960" y="3273552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F4F6F7"/>
          </a:solidFill>
          <a:ln w="12700">
            <a:solidFill>
              <a:srgbClr val="B9C3C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0" y="418795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 and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reservoir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464040" y="3273552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F4F6F7"/>
          </a:solidFill>
          <a:ln w="12700">
            <a:solidFill>
              <a:srgbClr val="B9C3C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326880" y="418795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board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0515600" y="3685032"/>
            <a:ext cx="411480" cy="0"/>
          </a:xfrm>
          <a:prstGeom prst="line">
            <a:avLst/>
          </a:prstGeom>
          <a:noFill/>
          <a:ln w="31750">
            <a:solidFill>
              <a:srgbClr val="16232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601200" y="4736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USB-C to a laptop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6537960" y="519379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reader is the only part with a cable. The cartridge never plugs into anything directly.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CARTRIDGE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consumable, not a chip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storage medium is disposable, sealed, and needs no power while it sits on a shelf.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132A4D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313432"/>
            <a:ext cx="310896" cy="310896"/>
          </a:xfrm>
          <a:prstGeom prst="ellipse">
            <a:avLst/>
          </a:prstGeom>
          <a:solidFill>
            <a:srgbClr val="2EC4B6">
              <a:alpha val="75000"/>
            </a:srgbClr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81328" y="21671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 at rest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14884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cells sit as dried spores. No power, no cooling, no maintenance. Spores are how this organism already survives hard conditions in nature.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044952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132A4D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3346704"/>
            <a:ext cx="310896" cy="310896"/>
          </a:xfrm>
          <a:prstGeom prst="ellipse">
            <a:avLst/>
          </a:prstGeom>
          <a:solidFill>
            <a:srgbClr val="2EC4B6">
              <a:alpha val="75000"/>
            </a:srgbClr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81328" y="3200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Sealed, single organism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3182112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well-characterised laboratory bacterium, held behind a physical barrier. Nothing goes in and nothing comes out during normal use.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078224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132A4D"/>
          </a:solidFill>
          <a:ln/>
        </p:spPr>
      </p:sp>
      <p:sp>
        <p:nvSpPr>
          <p:cNvPr id="14" name="Shape 12"/>
          <p:cNvSpPr/>
          <p:nvPr/>
        </p:nvSpPr>
        <p:spPr>
          <a:xfrm>
            <a:off x="960120" y="4379976"/>
            <a:ext cx="310896" cy="310896"/>
          </a:xfrm>
          <a:prstGeom prst="ellipse">
            <a:avLst/>
          </a:prstGeom>
          <a:solidFill>
            <a:srgbClr val="E8A33D">
              <a:alpha val="75000"/>
            </a:srgbClr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481328" y="42336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by design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4215384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most of a well's colony is killed, the survivors regrow it and the stored bit comes back with them. In simulation this holds from as few as 2 percent of cells surviving.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5111496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132A4D"/>
          </a:solidFill>
          <a:ln/>
        </p:spPr>
      </p:sp>
      <p:sp>
        <p:nvSpPr>
          <p:cNvPr id="18" name="Shape 16"/>
          <p:cNvSpPr/>
          <p:nvPr/>
        </p:nvSpPr>
        <p:spPr>
          <a:xfrm>
            <a:off x="960120" y="5413248"/>
            <a:ext cx="310896" cy="310896"/>
          </a:xfrm>
          <a:prstGeom prst="ellipse">
            <a:avLst/>
          </a:prstGeom>
          <a:solidFill>
            <a:srgbClr val="E8604C">
              <a:alpha val="75000"/>
            </a:srgbClr>
          </a:solidFill>
          <a:ln w="19050">
            <a:solidFill>
              <a:srgbClr val="E8604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481328" y="526694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by colour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26280" y="5248656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well glows green for a 1 and red for a 0. Reading is taking a picture, so the cartridge is not consumed by being read.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 percent survival figure is a simulation result, not a measurement. See the project's scientific audit.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Ordinary instrument parts, doing an ordinary job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the reader is exotic. The novelty is entirely in the cartridge. That is deliberate, because it keeps the engineering risk in one place.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52044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377440"/>
            <a:ext cx="438912" cy="438912"/>
          </a:xfrm>
          <a:prstGeom prst="ellipse">
            <a:avLst/>
          </a:prstGeom>
          <a:solidFill>
            <a:srgbClr val="1C8F84">
              <a:alpha val="20000"/>
            </a:srgbClr>
          </a:solidFill>
          <a:ln w="25400">
            <a:solidFill>
              <a:srgbClr val="1C8F8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9718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Fluorescence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head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7033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Shines light at the wells and photographs what glows back. The same idea as a plate reader already found in any biology lab.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4256" y="2057400"/>
            <a:ext cx="352044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54296" y="2377440"/>
            <a:ext cx="438912" cy="438912"/>
          </a:xfrm>
          <a:prstGeom prst="ellipse">
            <a:avLst/>
          </a:prstGeom>
          <a:solidFill>
            <a:srgbClr val="E8A33D">
              <a:alpha val="20000"/>
            </a:srgbClr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54296" y="29718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 and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reservoir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54296" y="37033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the wells to wake them, and delivers a timed chemical pulse to set each bit.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28432" y="2057400"/>
            <a:ext cx="352044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48472" y="2377440"/>
            <a:ext cx="438912" cy="438912"/>
          </a:xfrm>
          <a:prstGeom prst="ellipse">
            <a:avLst/>
          </a:prstGeom>
          <a:solidFill>
            <a:srgbClr val="16232F">
              <a:alpha val="20000"/>
            </a:srgbClr>
          </a:solidFill>
          <a:ln w="25400">
            <a:solidFill>
              <a:srgbClr val="16232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48472" y="29718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board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USB-C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48472" y="37033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sequence, converts the image into bits, and hands them to a laptop.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5166360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E9F2F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120" y="5367528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C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commercially: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reader is built from parts that already exist and are already understood. If the biology in the cartridge works, the instrument around it is a known engineering problem, not a research one.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WOULD 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full cycle, start to finish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32A4D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2039112"/>
            <a:ext cx="475488" cy="475488"/>
          </a:xfrm>
          <a:prstGeom prst="ellipse">
            <a:avLst/>
          </a:prstGeom>
          <a:solidFill>
            <a:srgbClr val="2EC4B6">
              <a:alpha val="25000"/>
            </a:srgbClr>
          </a:solidFill>
          <a:ln w="254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039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679192"/>
            <a:ext cx="2926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E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cartridge slides into the reader. Until this moment it has been sitting dry on a shelf, using nothing.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34256" y="178308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32A4D"/>
          </a:solidFill>
          <a:ln/>
        </p:spPr>
      </p:sp>
      <p:sp>
        <p:nvSpPr>
          <p:cNvPr id="10" name="Shape 8"/>
          <p:cNvSpPr/>
          <p:nvPr/>
        </p:nvSpPr>
        <p:spPr>
          <a:xfrm>
            <a:off x="4626864" y="2039112"/>
            <a:ext cx="475488" cy="475488"/>
          </a:xfrm>
          <a:prstGeom prst="ellipse">
            <a:avLst/>
          </a:prstGeom>
          <a:solidFill>
            <a:srgbClr val="2EC4B6">
              <a:alpha val="25000"/>
            </a:srgbClr>
          </a:solidFill>
          <a:ln w="254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26864" y="2039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248656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26864" y="2679192"/>
            <a:ext cx="2926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E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 flows through the shared channel. The spores germinate into living colonies, one per well.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28432" y="178308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32A4D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2039112"/>
            <a:ext cx="475488" cy="475488"/>
          </a:xfrm>
          <a:prstGeom prst="ellipse">
            <a:avLst/>
          </a:prstGeom>
          <a:solidFill>
            <a:srgbClr val="E8A33D">
              <a:alpha val="25000"/>
            </a:srgbClr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039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942832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679192"/>
            <a:ext cx="2926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E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timed chemical pulse flips each well's genetic switch to a 1 or a 0. The pulse then washes out.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02336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32A4D"/>
          </a:solidFill>
          <a:ln/>
        </p:spPr>
      </p:sp>
      <p:sp>
        <p:nvSpPr>
          <p:cNvPr id="20" name="Shape 18"/>
          <p:cNvSpPr/>
          <p:nvPr/>
        </p:nvSpPr>
        <p:spPr>
          <a:xfrm>
            <a:off x="932688" y="4279392"/>
            <a:ext cx="475488" cy="475488"/>
          </a:xfrm>
          <a:prstGeom prst="ellipse">
            <a:avLst/>
          </a:prstGeom>
          <a:solidFill>
            <a:srgbClr val="E8A33D">
              <a:alpha val="25000"/>
            </a:srgbClr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32688" y="4279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343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" y="4919472"/>
            <a:ext cx="2926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E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switch holds its own state with no power and no refresh cycle. This is what makes it memory rather than a sensor.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34256" y="402336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32A4D"/>
          </a:solidFill>
          <a:ln/>
        </p:spPr>
      </p:sp>
      <p:sp>
        <p:nvSpPr>
          <p:cNvPr id="25" name="Shape 23"/>
          <p:cNvSpPr/>
          <p:nvPr/>
        </p:nvSpPr>
        <p:spPr>
          <a:xfrm>
            <a:off x="4626864" y="4279392"/>
            <a:ext cx="475488" cy="475488"/>
          </a:xfrm>
          <a:prstGeom prst="ellipse">
            <a:avLst/>
          </a:prstGeom>
          <a:solidFill>
            <a:srgbClr val="E8604C">
              <a:alpha val="25000"/>
            </a:srgbClr>
          </a:solidFill>
          <a:ln w="25400">
            <a:solidFill>
              <a:srgbClr val="E8604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26864" y="4279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248656" y="4343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4919472"/>
            <a:ext cx="2926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E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 head photographs the array. Green is a 1, red is a 0. Nothing is destroyed, so it can be read again.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28432" y="402336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32A4D"/>
          </a:solidFill>
          <a:ln/>
        </p:spPr>
      </p:sp>
      <p:sp>
        <p:nvSpPr>
          <p:cNvPr id="30" name="Shape 28"/>
          <p:cNvSpPr/>
          <p:nvPr/>
        </p:nvSpPr>
        <p:spPr>
          <a:xfrm>
            <a:off x="8321040" y="4279392"/>
            <a:ext cx="475488" cy="475488"/>
          </a:xfrm>
          <a:prstGeom prst="ellipse">
            <a:avLst/>
          </a:prstGeom>
          <a:solidFill>
            <a:srgbClr val="E8604C">
              <a:alpha val="25000"/>
            </a:srgbClr>
          </a:solidFill>
          <a:ln w="25400">
            <a:solidFill>
              <a:srgbClr val="E8604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21040" y="4279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942832" y="4343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4919472"/>
            <a:ext cx="2926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E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well is damaged, the surviving cells divide and rebuild the colony, carrying the stored bit into the new cells.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3 through 6 are what the funded laboratory work is designed to test, in that order, cheapest first.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STRAIGHT ABOUT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real today, and what is not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someone asks about this design, this is the honest answer to give them.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39496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240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REAL WORK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65176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genetic switch is a real, published circuit built from real, off-the-shelf bacterial parts.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colour readout is the one our own testing favours, because it avoids an interference problem the electrical readout has.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a bit through damage and regrowth holds in simulation from as few as 2 percent of cells surviving.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Spores of this organism have survived two years of direct exposure outside the International Space Station (Deshevaya et al. 2024).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2011680"/>
            <a:ext cx="5285232" cy="3246120"/>
          </a:xfrm>
          <a:prstGeom prst="roundRect">
            <a:avLst>
              <a:gd name="adj" fmla="val 2817"/>
            </a:avLst>
          </a:prstGeom>
          <a:solidFill>
            <a:srgbClr val="0B1F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0" y="22402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BUILT, AND WE SAY SO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65176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F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prototype of either object exists. This is a concept sketch, not an engineering drawing.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F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behind it is simulation. Nothing has been measured in living cells yet.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F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array size, the physical dimensions and the timings are all illustrative.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F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groups have written a state into living bacteria and read it back. What nobody has shown is that state surviving cell division, which is the part we are chasing.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FBF0D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570585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8A5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sentence to lead with: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product the first laboratory experiment is designed to de-risk, and that experiment is the cheapest one on our roadmap.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2026-09-21T00:32:35Z</dcterms:created>
  <dcterms:modified xsi:type="dcterms:W3CDTF">2026-09-21T00:32:35Z</dcterms:modified>
</cp:coreProperties>
</file>