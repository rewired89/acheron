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Dayana, with my co-founder Jacqueline. Acheron asks one question: can you write a bit of data into living cells, damage them badly, and have the bit come back when they regrow? Write, damage, the organism notices, it regrows. Nobody has tested that whole loop. We have simulated it, and we want help testing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B. subtilis, a harmless, well-studied soil bacterium. We wire two genes so each one's protein shuts off the other: a genetic toggle switch, first built by Gardner and Collins in 2000. It rests in one of two states, like a light switch. A winning is a 0, B winning is a 1. When a cell divides, those proteins pass into both daughters, so the state is copied into the regrowth. We read it by colour. One rule from our model: the two promoters must be matched in strength, or the switch collapses to one setting.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simulations are Python models of published equations. First, our own first idea, a voltage held in flatworm tissue, fell to a coin flip once we added realistic noise, so we retired it. Second, when only two percent of a colony survives, the regrown colony still holds the bit, as long as the survivors hold the right one. Third, three kinds of math agree on the promoter rule and disagree on how much noise the switch can take, so that needs real measurements. All of this is simulation.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not first. Gardner proved genetic memory works. Yang's lab wrote voltage patterns into this bacterium in 2020, but their memory fades when cells divide. Bonnet's lab built rewritable DNA memory that survives over a hundred divisions. We claim no advantage over a DNA latch yet. We are testing the whole loop: damage, self-detection, regrowth.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test is small and staged. A pilot: can the experiment run at all. Then Stage 1a: a matched switch and a deliberately mismatched control. A real switch remembers its history, the control should not. We read single cells by flow cytometry, with pass rules fixed before the data. If it fails, we stop having spent little. If it passes, damage and regrowth is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need a partner lab to run the first experiment, a synthetic biologist to review our protocol, and help with the first grant. We don't ask you to trust our simulations. We ask for help running the test that replaces them.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9692640" y="-1097280"/>
            <a:ext cx="5029200" cy="5029200"/>
          </a:xfrm>
          <a:prstGeom prst="ellipse">
            <a:avLst/>
          </a:prstGeom>
          <a:solidFill>
            <a:srgbClr val="2EC4B6">
              <a:alpha val="10000"/>
            </a:srgbClr>
          </a:solidFill>
          <a:ln/>
        </p:spPr>
      </p:sp>
      <p:sp>
        <p:nvSpPr>
          <p:cNvPr id="3" name="Shape 1"/>
          <p:cNvSpPr/>
          <p:nvPr/>
        </p:nvSpPr>
        <p:spPr>
          <a:xfrm>
            <a:off x="-1371600" y="4389120"/>
            <a:ext cx="3657600" cy="3657600"/>
          </a:xfrm>
          <a:prstGeom prst="ellipse">
            <a:avLst/>
          </a:prstGeom>
          <a:solidFill>
            <a:srgbClr val="2EC4B6">
              <a:alpha val="8000"/>
            </a:srgbClr>
          </a:solidFill>
          <a:ln/>
        </p:spPr>
      </p:sp>
      <p:sp>
        <p:nvSpPr>
          <p:cNvPr id="4" name="Text 2"/>
          <p:cNvSpPr txBox="1"/>
          <p:nvPr/>
        </p:nvSpPr>
        <p:spPr>
          <a:xfrm>
            <a:off x="640080" y="411480"/>
            <a:ext cx="7315200" cy="320040"/>
          </a:xfrm>
          <a:prstGeom prst="rect">
            <a:avLst/>
          </a:prstGeom>
          <a:noFill/>
          <a:ln/>
        </p:spPr>
        <p:txBody>
          <a:bodyPr wrap="square" lIns="0" tIns="0" rIns="0" bIns="0" rtlCol="0" anchor="ctr"/>
          <a:lstStyle/>
          <a:p>
            <a:pPr indent="0" marL="0">
              <a:buNone/>
            </a:pPr>
            <a:r>
              <a:rPr lang="en-US" sz="1200" b="1" spc="200" kern="0" dirty="0">
                <a:solidFill>
                  <a:srgbClr val="2EC4B6"/>
                </a:solidFill>
                <a:latin typeface="Calibri" pitchFamily="34" charset="0"/>
                <a:ea typeface="Calibri" pitchFamily="34" charset="-122"/>
                <a:cs typeface="Calibri" pitchFamily="34" charset="-120"/>
              </a:rPr>
              <a:t>YES!DELFT SELECTION DAY</a:t>
            </a:r>
            <a:endParaRPr lang="en-US" sz="1200" dirty="0"/>
          </a:p>
        </p:txBody>
      </p:sp>
      <p:sp>
        <p:nvSpPr>
          <p:cNvPr id="5" name="Text 3"/>
          <p:cNvSpPr txBox="1"/>
          <p:nvPr/>
        </p:nvSpPr>
        <p:spPr>
          <a:xfrm>
            <a:off x="640080" y="1005840"/>
            <a:ext cx="10058400" cy="1188720"/>
          </a:xfrm>
          <a:prstGeom prst="rect">
            <a:avLst/>
          </a:prstGeom>
          <a:noFill/>
          <a:ln/>
        </p:spPr>
        <p:txBody>
          <a:bodyPr wrap="square" lIns="0" tIns="0" rIns="0" bIns="0" rtlCol="0" anchor="ctr"/>
          <a:lstStyle/>
          <a:p>
            <a:pPr indent="0" marL="0">
              <a:buNone/>
            </a:pPr>
            <a:r>
              <a:rPr lang="en-US" sz="6600" b="1" dirty="0">
                <a:solidFill>
                  <a:srgbClr val="FFFFFF"/>
                </a:solidFill>
                <a:latin typeface="Cambria" pitchFamily="34" charset="0"/>
                <a:ea typeface="Cambria" pitchFamily="34" charset="-122"/>
                <a:cs typeface="Cambria" pitchFamily="34" charset="-120"/>
              </a:rPr>
              <a:t>Acheron</a:t>
            </a:r>
            <a:endParaRPr lang="en-US" sz="6600" dirty="0"/>
          </a:p>
        </p:txBody>
      </p:sp>
      <p:sp>
        <p:nvSpPr>
          <p:cNvPr id="6" name="Text 4"/>
          <p:cNvSpPr txBox="1"/>
          <p:nvPr/>
        </p:nvSpPr>
        <p:spPr>
          <a:xfrm>
            <a:off x="640080" y="2194560"/>
            <a:ext cx="10058400" cy="640080"/>
          </a:xfrm>
          <a:prstGeom prst="rect">
            <a:avLst/>
          </a:prstGeom>
          <a:noFill/>
          <a:ln/>
        </p:spPr>
        <p:txBody>
          <a:bodyPr wrap="square" lIns="0" tIns="0" rIns="0" bIns="0" rtlCol="0" anchor="ctr"/>
          <a:lstStyle/>
          <a:p>
            <a:pPr indent="0" marL="0">
              <a:buNone/>
            </a:pPr>
            <a:r>
              <a:rPr lang="en-US" sz="2600" dirty="0">
                <a:solidFill>
                  <a:srgbClr val="C9D6E2"/>
                </a:solidFill>
                <a:latin typeface="Calibri" pitchFamily="34" charset="0"/>
                <a:ea typeface="Calibri" pitchFamily="34" charset="-122"/>
                <a:cs typeface="Calibri" pitchFamily="34" charset="-120"/>
              </a:rPr>
              <a:t>Memory that survives damage</a:t>
            </a:r>
            <a:endParaRPr lang="en-US" sz="2600" dirty="0"/>
          </a:p>
        </p:txBody>
      </p:sp>
      <p:sp>
        <p:nvSpPr>
          <p:cNvPr id="7" name="Shape 5"/>
          <p:cNvSpPr/>
          <p:nvPr/>
        </p:nvSpPr>
        <p:spPr>
          <a:xfrm>
            <a:off x="640080" y="3429000"/>
            <a:ext cx="2606040" cy="1737360"/>
          </a:xfrm>
          <a:prstGeom prst="roundRect">
            <a:avLst>
              <a:gd name="adj" fmla="val 5263"/>
            </a:avLst>
          </a:prstGeom>
          <a:solidFill>
            <a:srgbClr val="132A4D"/>
          </a:solidFill>
          <a:ln w="12700">
            <a:solidFill>
              <a:srgbClr val="2EC4B6"/>
            </a:solidFill>
            <a:prstDash val="solid"/>
          </a:ln>
        </p:spPr>
      </p:sp>
      <p:sp>
        <p:nvSpPr>
          <p:cNvPr id="8" name="Shape 6"/>
          <p:cNvSpPr/>
          <p:nvPr/>
        </p:nvSpPr>
        <p:spPr>
          <a:xfrm>
            <a:off x="868680" y="3639312"/>
            <a:ext cx="457200" cy="457200"/>
          </a:xfrm>
          <a:prstGeom prst="ellipse">
            <a:avLst/>
          </a:prstGeom>
          <a:solidFill>
            <a:srgbClr val="2EC4B6"/>
          </a:solidFill>
          <a:ln/>
        </p:spPr>
      </p:sp>
      <p:sp>
        <p:nvSpPr>
          <p:cNvPr id="9" name="Text 7"/>
          <p:cNvSpPr txBox="1"/>
          <p:nvPr/>
        </p:nvSpPr>
        <p:spPr>
          <a:xfrm>
            <a:off x="868680" y="3639312"/>
            <a:ext cx="457200" cy="457200"/>
          </a:xfrm>
          <a:prstGeom prst="rect">
            <a:avLst/>
          </a:prstGeom>
          <a:noFill/>
          <a:ln/>
        </p:spPr>
        <p:txBody>
          <a:bodyPr wrap="square" lIns="0" tIns="0" rIns="0" bIns="0" rtlCol="0" anchor="ctr"/>
          <a:lstStyle/>
          <a:p>
            <a:pPr algn="ctr" indent="0" marL="0">
              <a:buNone/>
            </a:pPr>
            <a:r>
              <a:rPr lang="en-US" sz="1600" b="1" dirty="0">
                <a:solidFill>
                  <a:srgbClr val="0B1F3A"/>
                </a:solidFill>
                <a:latin typeface="Calibri" pitchFamily="34" charset="0"/>
                <a:ea typeface="Calibri" pitchFamily="34" charset="-122"/>
                <a:cs typeface="Calibri" pitchFamily="34" charset="-120"/>
              </a:rPr>
              <a:t>1</a:t>
            </a:r>
            <a:endParaRPr lang="en-US" sz="1600" dirty="0"/>
          </a:p>
        </p:txBody>
      </p:sp>
      <p:sp>
        <p:nvSpPr>
          <p:cNvPr id="10" name="Text 8"/>
          <p:cNvSpPr txBox="1"/>
          <p:nvPr/>
        </p:nvSpPr>
        <p:spPr>
          <a:xfrm>
            <a:off x="868680" y="4206240"/>
            <a:ext cx="219456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Write</a:t>
            </a:r>
            <a:endParaRPr lang="en-US" sz="2400" dirty="0"/>
          </a:p>
        </p:txBody>
      </p:sp>
      <p:sp>
        <p:nvSpPr>
          <p:cNvPr id="11" name="Text 9"/>
          <p:cNvSpPr txBox="1"/>
          <p:nvPr/>
        </p:nvSpPr>
        <p:spPr>
          <a:xfrm>
            <a:off x="868680" y="4663440"/>
            <a:ext cx="2194560" cy="457200"/>
          </a:xfrm>
          <a:prstGeom prst="rect">
            <a:avLst/>
          </a:prstGeom>
          <a:noFill/>
          <a:ln/>
        </p:spPr>
        <p:txBody>
          <a:bodyPr wrap="square" lIns="0" tIns="0" rIns="0" bIns="0" rtlCol="0" anchor="ctr"/>
          <a:lstStyle/>
          <a:p>
            <a:pPr indent="0" marL="0">
              <a:buNone/>
            </a:pPr>
            <a:r>
              <a:rPr lang="en-US" sz="1400" dirty="0">
                <a:solidFill>
                  <a:srgbClr val="C9D6E2"/>
                </a:solidFill>
                <a:latin typeface="Calibri" pitchFamily="34" charset="0"/>
                <a:ea typeface="Calibri" pitchFamily="34" charset="-122"/>
                <a:cs typeface="Calibri" pitchFamily="34" charset="-120"/>
              </a:rPr>
              <a:t>a 0 or 1 into living cells</a:t>
            </a:r>
            <a:endParaRPr lang="en-US" sz="1400" dirty="0"/>
          </a:p>
        </p:txBody>
      </p:sp>
      <p:sp>
        <p:nvSpPr>
          <p:cNvPr id="12" name="Shape 10"/>
          <p:cNvSpPr/>
          <p:nvPr/>
        </p:nvSpPr>
        <p:spPr>
          <a:xfrm>
            <a:off x="3456432" y="3429000"/>
            <a:ext cx="2606040" cy="1737360"/>
          </a:xfrm>
          <a:prstGeom prst="roundRect">
            <a:avLst>
              <a:gd name="adj" fmla="val 5263"/>
            </a:avLst>
          </a:prstGeom>
          <a:solidFill>
            <a:srgbClr val="132A4D"/>
          </a:solidFill>
          <a:ln w="12700">
            <a:solidFill>
              <a:srgbClr val="2EC4B6"/>
            </a:solidFill>
            <a:prstDash val="solid"/>
          </a:ln>
        </p:spPr>
      </p:sp>
      <p:sp>
        <p:nvSpPr>
          <p:cNvPr id="13" name="Shape 11"/>
          <p:cNvSpPr/>
          <p:nvPr/>
        </p:nvSpPr>
        <p:spPr>
          <a:xfrm>
            <a:off x="3685032" y="3639312"/>
            <a:ext cx="457200" cy="457200"/>
          </a:xfrm>
          <a:prstGeom prst="ellipse">
            <a:avLst/>
          </a:prstGeom>
          <a:solidFill>
            <a:srgbClr val="2EC4B6"/>
          </a:solidFill>
          <a:ln/>
        </p:spPr>
      </p:sp>
      <p:sp>
        <p:nvSpPr>
          <p:cNvPr id="14" name="Text 12"/>
          <p:cNvSpPr txBox="1"/>
          <p:nvPr/>
        </p:nvSpPr>
        <p:spPr>
          <a:xfrm>
            <a:off x="3685032" y="3639312"/>
            <a:ext cx="457200" cy="457200"/>
          </a:xfrm>
          <a:prstGeom prst="rect">
            <a:avLst/>
          </a:prstGeom>
          <a:noFill/>
          <a:ln/>
        </p:spPr>
        <p:txBody>
          <a:bodyPr wrap="square" lIns="0" tIns="0" rIns="0" bIns="0" rtlCol="0" anchor="ctr"/>
          <a:lstStyle/>
          <a:p>
            <a:pPr algn="ctr" indent="0" marL="0">
              <a:buNone/>
            </a:pPr>
            <a:r>
              <a:rPr lang="en-US" sz="1600" b="1" dirty="0">
                <a:solidFill>
                  <a:srgbClr val="0B1F3A"/>
                </a:solidFill>
                <a:latin typeface="Calibri" pitchFamily="34" charset="0"/>
                <a:ea typeface="Calibri" pitchFamily="34" charset="-122"/>
                <a:cs typeface="Calibri" pitchFamily="34" charset="-120"/>
              </a:rPr>
              <a:t>2</a:t>
            </a:r>
            <a:endParaRPr lang="en-US" sz="1600" dirty="0"/>
          </a:p>
        </p:txBody>
      </p:sp>
      <p:sp>
        <p:nvSpPr>
          <p:cNvPr id="15" name="Text 13"/>
          <p:cNvSpPr txBox="1"/>
          <p:nvPr/>
        </p:nvSpPr>
        <p:spPr>
          <a:xfrm>
            <a:off x="3685032" y="4206240"/>
            <a:ext cx="219456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Damage</a:t>
            </a:r>
            <a:endParaRPr lang="en-US" sz="2400" dirty="0"/>
          </a:p>
        </p:txBody>
      </p:sp>
      <p:sp>
        <p:nvSpPr>
          <p:cNvPr id="16" name="Text 14"/>
          <p:cNvSpPr txBox="1"/>
          <p:nvPr/>
        </p:nvSpPr>
        <p:spPr>
          <a:xfrm>
            <a:off x="3685032" y="4663440"/>
            <a:ext cx="2194560" cy="457200"/>
          </a:xfrm>
          <a:prstGeom prst="rect">
            <a:avLst/>
          </a:prstGeom>
          <a:noFill/>
          <a:ln/>
        </p:spPr>
        <p:txBody>
          <a:bodyPr wrap="square" lIns="0" tIns="0" rIns="0" bIns="0" rtlCol="0" anchor="ctr"/>
          <a:lstStyle/>
          <a:p>
            <a:pPr indent="0" marL="0">
              <a:buNone/>
            </a:pPr>
            <a:r>
              <a:rPr lang="en-US" sz="1400" dirty="0">
                <a:solidFill>
                  <a:srgbClr val="C9D6E2"/>
                </a:solidFill>
                <a:latin typeface="Calibri" pitchFamily="34" charset="0"/>
                <a:ea typeface="Calibri" pitchFamily="34" charset="-122"/>
                <a:cs typeface="Calibri" pitchFamily="34" charset="-120"/>
              </a:rPr>
              <a:t>kill most of them</a:t>
            </a:r>
            <a:endParaRPr lang="en-US" sz="1400" dirty="0"/>
          </a:p>
        </p:txBody>
      </p:sp>
      <p:sp>
        <p:nvSpPr>
          <p:cNvPr id="17" name="Shape 15"/>
          <p:cNvSpPr/>
          <p:nvPr/>
        </p:nvSpPr>
        <p:spPr>
          <a:xfrm>
            <a:off x="6272784" y="3429000"/>
            <a:ext cx="2606040" cy="1737360"/>
          </a:xfrm>
          <a:prstGeom prst="roundRect">
            <a:avLst>
              <a:gd name="adj" fmla="val 5263"/>
            </a:avLst>
          </a:prstGeom>
          <a:solidFill>
            <a:srgbClr val="132A4D"/>
          </a:solidFill>
          <a:ln w="12700">
            <a:solidFill>
              <a:srgbClr val="2EC4B6"/>
            </a:solidFill>
            <a:prstDash val="solid"/>
          </a:ln>
        </p:spPr>
      </p:sp>
      <p:sp>
        <p:nvSpPr>
          <p:cNvPr id="18" name="Shape 16"/>
          <p:cNvSpPr/>
          <p:nvPr/>
        </p:nvSpPr>
        <p:spPr>
          <a:xfrm>
            <a:off x="6501384" y="3639312"/>
            <a:ext cx="457200" cy="457200"/>
          </a:xfrm>
          <a:prstGeom prst="ellipse">
            <a:avLst/>
          </a:prstGeom>
          <a:solidFill>
            <a:srgbClr val="2EC4B6"/>
          </a:solidFill>
          <a:ln/>
        </p:spPr>
      </p:sp>
      <p:sp>
        <p:nvSpPr>
          <p:cNvPr id="19" name="Text 17"/>
          <p:cNvSpPr txBox="1"/>
          <p:nvPr/>
        </p:nvSpPr>
        <p:spPr>
          <a:xfrm>
            <a:off x="6501384" y="3639312"/>
            <a:ext cx="457200" cy="457200"/>
          </a:xfrm>
          <a:prstGeom prst="rect">
            <a:avLst/>
          </a:prstGeom>
          <a:noFill/>
          <a:ln/>
        </p:spPr>
        <p:txBody>
          <a:bodyPr wrap="square" lIns="0" tIns="0" rIns="0" bIns="0" rtlCol="0" anchor="ctr"/>
          <a:lstStyle/>
          <a:p>
            <a:pPr algn="ctr" indent="0" marL="0">
              <a:buNone/>
            </a:pPr>
            <a:r>
              <a:rPr lang="en-US" sz="1600" b="1" dirty="0">
                <a:solidFill>
                  <a:srgbClr val="0B1F3A"/>
                </a:solidFill>
                <a:latin typeface="Calibri" pitchFamily="34" charset="0"/>
                <a:ea typeface="Calibri" pitchFamily="34" charset="-122"/>
                <a:cs typeface="Calibri" pitchFamily="34" charset="-120"/>
              </a:rPr>
              <a:t>3</a:t>
            </a:r>
            <a:endParaRPr lang="en-US" sz="1600" dirty="0"/>
          </a:p>
        </p:txBody>
      </p:sp>
      <p:sp>
        <p:nvSpPr>
          <p:cNvPr id="20" name="Text 18"/>
          <p:cNvSpPr txBox="1"/>
          <p:nvPr/>
        </p:nvSpPr>
        <p:spPr>
          <a:xfrm>
            <a:off x="6501384" y="4206240"/>
            <a:ext cx="219456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Notice</a:t>
            </a:r>
            <a:endParaRPr lang="en-US" sz="2400" dirty="0"/>
          </a:p>
        </p:txBody>
      </p:sp>
      <p:sp>
        <p:nvSpPr>
          <p:cNvPr id="21" name="Text 19"/>
          <p:cNvSpPr txBox="1"/>
          <p:nvPr/>
        </p:nvSpPr>
        <p:spPr>
          <a:xfrm>
            <a:off x="6501384" y="4663440"/>
            <a:ext cx="2194560" cy="457200"/>
          </a:xfrm>
          <a:prstGeom prst="rect">
            <a:avLst/>
          </a:prstGeom>
          <a:noFill/>
          <a:ln/>
        </p:spPr>
        <p:txBody>
          <a:bodyPr wrap="square" lIns="0" tIns="0" rIns="0" bIns="0" rtlCol="0" anchor="ctr"/>
          <a:lstStyle/>
          <a:p>
            <a:pPr indent="0" marL="0">
              <a:buNone/>
            </a:pPr>
            <a:r>
              <a:rPr lang="en-US" sz="1400" dirty="0">
                <a:solidFill>
                  <a:srgbClr val="C9D6E2"/>
                </a:solidFill>
                <a:latin typeface="Calibri" pitchFamily="34" charset="0"/>
                <a:ea typeface="Calibri" pitchFamily="34" charset="-122"/>
                <a:cs typeface="Calibri" pitchFamily="34" charset="-120"/>
              </a:rPr>
              <a:t>the organism senses it</a:t>
            </a:r>
            <a:endParaRPr lang="en-US" sz="1400" dirty="0"/>
          </a:p>
        </p:txBody>
      </p:sp>
      <p:sp>
        <p:nvSpPr>
          <p:cNvPr id="22" name="Shape 20"/>
          <p:cNvSpPr/>
          <p:nvPr/>
        </p:nvSpPr>
        <p:spPr>
          <a:xfrm>
            <a:off x="9089136" y="3429000"/>
            <a:ext cx="2606040" cy="1737360"/>
          </a:xfrm>
          <a:prstGeom prst="roundRect">
            <a:avLst>
              <a:gd name="adj" fmla="val 5263"/>
            </a:avLst>
          </a:prstGeom>
          <a:solidFill>
            <a:srgbClr val="132A4D"/>
          </a:solidFill>
          <a:ln w="12700">
            <a:solidFill>
              <a:srgbClr val="2EC4B6"/>
            </a:solidFill>
            <a:prstDash val="solid"/>
          </a:ln>
        </p:spPr>
      </p:sp>
      <p:sp>
        <p:nvSpPr>
          <p:cNvPr id="23" name="Shape 21"/>
          <p:cNvSpPr/>
          <p:nvPr/>
        </p:nvSpPr>
        <p:spPr>
          <a:xfrm>
            <a:off x="9317736" y="3639312"/>
            <a:ext cx="457200" cy="457200"/>
          </a:xfrm>
          <a:prstGeom prst="ellipse">
            <a:avLst/>
          </a:prstGeom>
          <a:solidFill>
            <a:srgbClr val="2EC4B6"/>
          </a:solidFill>
          <a:ln/>
        </p:spPr>
      </p:sp>
      <p:sp>
        <p:nvSpPr>
          <p:cNvPr id="24" name="Text 22"/>
          <p:cNvSpPr txBox="1"/>
          <p:nvPr/>
        </p:nvSpPr>
        <p:spPr>
          <a:xfrm>
            <a:off x="9317736" y="3639312"/>
            <a:ext cx="457200" cy="457200"/>
          </a:xfrm>
          <a:prstGeom prst="rect">
            <a:avLst/>
          </a:prstGeom>
          <a:noFill/>
          <a:ln/>
        </p:spPr>
        <p:txBody>
          <a:bodyPr wrap="square" lIns="0" tIns="0" rIns="0" bIns="0" rtlCol="0" anchor="ctr"/>
          <a:lstStyle/>
          <a:p>
            <a:pPr algn="ctr" indent="0" marL="0">
              <a:buNone/>
            </a:pPr>
            <a:r>
              <a:rPr lang="en-US" sz="1600" b="1" dirty="0">
                <a:solidFill>
                  <a:srgbClr val="0B1F3A"/>
                </a:solidFill>
                <a:latin typeface="Calibri" pitchFamily="34" charset="0"/>
                <a:ea typeface="Calibri" pitchFamily="34" charset="-122"/>
                <a:cs typeface="Calibri" pitchFamily="34" charset="-120"/>
              </a:rPr>
              <a:t>4</a:t>
            </a:r>
            <a:endParaRPr lang="en-US" sz="1600" dirty="0"/>
          </a:p>
        </p:txBody>
      </p:sp>
      <p:sp>
        <p:nvSpPr>
          <p:cNvPr id="25" name="Text 23"/>
          <p:cNvSpPr txBox="1"/>
          <p:nvPr/>
        </p:nvSpPr>
        <p:spPr>
          <a:xfrm>
            <a:off x="9317736" y="4206240"/>
            <a:ext cx="219456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Regrow</a:t>
            </a:r>
            <a:endParaRPr lang="en-US" sz="2400" dirty="0"/>
          </a:p>
        </p:txBody>
      </p:sp>
      <p:sp>
        <p:nvSpPr>
          <p:cNvPr id="26" name="Text 24"/>
          <p:cNvSpPr txBox="1"/>
          <p:nvPr/>
        </p:nvSpPr>
        <p:spPr>
          <a:xfrm>
            <a:off x="9317736" y="4663440"/>
            <a:ext cx="2194560" cy="457200"/>
          </a:xfrm>
          <a:prstGeom prst="rect">
            <a:avLst/>
          </a:prstGeom>
          <a:noFill/>
          <a:ln/>
        </p:spPr>
        <p:txBody>
          <a:bodyPr wrap="square" lIns="0" tIns="0" rIns="0" bIns="0" rtlCol="0" anchor="ctr"/>
          <a:lstStyle/>
          <a:p>
            <a:pPr indent="0" marL="0">
              <a:buNone/>
            </a:pPr>
            <a:r>
              <a:rPr lang="en-US" sz="1400" dirty="0">
                <a:solidFill>
                  <a:srgbClr val="C9D6E2"/>
                </a:solidFill>
                <a:latin typeface="Calibri" pitchFamily="34" charset="0"/>
                <a:ea typeface="Calibri" pitchFamily="34" charset="-122"/>
                <a:cs typeface="Calibri" pitchFamily="34" charset="-120"/>
              </a:rPr>
              <a:t>and the bit is still there</a:t>
            </a:r>
            <a:endParaRPr lang="en-US" sz="1400" dirty="0"/>
          </a:p>
        </p:txBody>
      </p:sp>
      <p:sp>
        <p:nvSpPr>
          <p:cNvPr id="27" name="Text 25"/>
          <p:cNvSpPr txBox="1"/>
          <p:nvPr/>
        </p:nvSpPr>
        <p:spPr>
          <a:xfrm>
            <a:off x="640080" y="5577840"/>
            <a:ext cx="10058400" cy="365760"/>
          </a:xfrm>
          <a:prstGeom prst="rect">
            <a:avLst/>
          </a:prstGeom>
          <a:noFill/>
          <a:ln/>
        </p:spPr>
        <p:txBody>
          <a:bodyPr wrap="square" lIns="0" tIns="0" rIns="0" bIns="0" rtlCol="0" anchor="ctr"/>
          <a:lstStyle/>
          <a:p>
            <a:pPr indent="0" marL="0">
              <a:buNone/>
            </a:pPr>
            <a:r>
              <a:rPr lang="en-US" sz="1600" b="1" dirty="0">
                <a:solidFill>
                  <a:srgbClr val="E8A33D"/>
                </a:solidFill>
                <a:latin typeface="Calibri" pitchFamily="34" charset="0"/>
                <a:ea typeface="Calibri" pitchFamily="34" charset="-122"/>
                <a:cs typeface="Calibri" pitchFamily="34" charset="-120"/>
              </a:rPr>
              <a:t>Simulation-backed. Not yet tested at a bench.</a:t>
            </a:r>
            <a:endParaRPr lang="en-US" sz="1600" dirty="0"/>
          </a:p>
        </p:txBody>
      </p:sp>
      <p:sp>
        <p:nvSpPr>
          <p:cNvPr id="28" name="Text 26"/>
          <p:cNvSpPr txBox="1"/>
          <p:nvPr/>
        </p:nvSpPr>
        <p:spPr>
          <a:xfrm>
            <a:off x="640080" y="6126480"/>
            <a:ext cx="7315200" cy="320040"/>
          </a:xfrm>
          <a:prstGeom prst="rect">
            <a:avLst/>
          </a:prstGeom>
          <a:noFill/>
          <a:ln/>
        </p:spPr>
        <p:txBody>
          <a:bodyPr wrap="square" lIns="0" tIns="0" rIns="0" bIns="0" rtlCol="0" anchor="ctr"/>
          <a:lstStyle/>
          <a:p>
            <a:pPr indent="0" marL="0">
              <a:buNone/>
            </a:pPr>
            <a:r>
              <a:rPr lang="en-US" sz="1200" dirty="0">
                <a:solidFill>
                  <a:srgbClr val="8EA0B3"/>
                </a:solidFill>
                <a:latin typeface="Calibri" pitchFamily="34" charset="0"/>
                <a:ea typeface="Calibri" pitchFamily="34" charset="-122"/>
                <a:cs typeface="Calibri" pitchFamily="34" charset="-120"/>
              </a:rPr>
              <a:t>Dayana Sanchez and Jacqueline Solano</a:t>
            </a:r>
            <a:endParaRPr lang="en-US" sz="1200" dirty="0"/>
          </a:p>
        </p:txBody>
      </p:sp>
      <p:sp>
        <p:nvSpPr>
          <p:cNvPr id="30" name="Text 27"/>
          <p:cNvSpPr txBox="1"/>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6E7F91"/>
                </a:solidFill>
                <a:latin typeface="Calibri" pitchFamily="34" charset="0"/>
                <a:ea typeface="Calibri" pitchFamily="34" charset="-122"/>
                <a:cs typeface="Calibri" pitchFamily="34" charset="-120"/>
              </a:rPr>
              <a:t>01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7"/>
        </a:solidFill>
      </p:bgPr>
    </p:bg>
    <p:spTree>
      <p:nvGrpSpPr>
        <p:cNvPr id="1" name=""/>
        <p:cNvGrpSpPr/>
        <p:nvPr/>
      </p:nvGrpSpPr>
      <p:grpSpPr>
        <a:xfrm>
          <a:off x="0" y="0"/>
          <a:ext cx="0" cy="0"/>
          <a:chOff x="0" y="0"/>
          <a:chExt cx="0" cy="0"/>
        </a:xfrm>
      </p:grpSpPr>
      <p:sp>
        <p:nvSpPr>
          <p:cNvPr id="2" name="Text 0"/>
          <p:cNvSpPr txBox="1"/>
          <p:nvPr/>
        </p:nvSpPr>
        <p:spPr>
          <a:xfrm>
            <a:off x="640080" y="411480"/>
            <a:ext cx="7315200" cy="320040"/>
          </a:xfrm>
          <a:prstGeom prst="rect">
            <a:avLst/>
          </a:prstGeom>
          <a:noFill/>
          <a:ln/>
        </p:spPr>
        <p:txBody>
          <a:bodyPr wrap="square" lIns="0" tIns="0" rIns="0" bIns="0" rtlCol="0" anchor="ctr"/>
          <a:lstStyle/>
          <a:p>
            <a:pPr indent="0" marL="0">
              <a:buNone/>
            </a:pPr>
            <a:r>
              <a:rPr lang="en-US" sz="1200" b="1" spc="200" kern="0" dirty="0">
                <a:solidFill>
                  <a:srgbClr val="1C8F84"/>
                </a:solidFill>
                <a:latin typeface="Calibri" pitchFamily="34" charset="0"/>
                <a:ea typeface="Calibri" pitchFamily="34" charset="-122"/>
                <a:cs typeface="Calibri" pitchFamily="34" charset="-120"/>
              </a:rPr>
              <a:t>THE MECHANISM</a:t>
            </a:r>
            <a:endParaRPr lang="en-US" sz="1200" dirty="0"/>
          </a:p>
        </p:txBody>
      </p:sp>
      <p:sp>
        <p:nvSpPr>
          <p:cNvPr id="3" name="Text 1"/>
          <p:cNvSpPr txBox="1"/>
          <p:nvPr/>
        </p:nvSpPr>
        <p:spPr>
          <a:xfrm>
            <a:off x="640080" y="731520"/>
            <a:ext cx="10881360" cy="777240"/>
          </a:xfrm>
          <a:prstGeom prst="rect">
            <a:avLst/>
          </a:prstGeom>
          <a:noFill/>
          <a:ln/>
        </p:spPr>
        <p:txBody>
          <a:bodyPr wrap="square" lIns="0" tIns="0" rIns="0" bIns="0" rtlCol="0" anchor="ctr"/>
          <a:lstStyle/>
          <a:p>
            <a:pPr indent="0" marL="0">
              <a:buNone/>
            </a:pPr>
            <a:r>
              <a:rPr lang="en-US" sz="3600" b="1" dirty="0">
                <a:solidFill>
                  <a:srgbClr val="16232F"/>
                </a:solidFill>
                <a:latin typeface="Cambria" pitchFamily="34" charset="0"/>
                <a:ea typeface="Cambria" pitchFamily="34" charset="-122"/>
                <a:cs typeface="Cambria" pitchFamily="34" charset="-120"/>
              </a:rPr>
              <a:t>How a bit lives in a bacterium</a:t>
            </a:r>
            <a:endParaRPr lang="en-US" sz="3600" dirty="0"/>
          </a:p>
        </p:txBody>
      </p:sp>
      <p:sp>
        <p:nvSpPr>
          <p:cNvPr id="4" name="Shape 2"/>
          <p:cNvSpPr/>
          <p:nvPr/>
        </p:nvSpPr>
        <p:spPr>
          <a:xfrm>
            <a:off x="640080" y="1737360"/>
            <a:ext cx="5760720" cy="4297680"/>
          </a:xfrm>
          <a:prstGeom prst="roundRect">
            <a:avLst>
              <a:gd name="adj" fmla="val 2128"/>
            </a:avLst>
          </a:prstGeom>
          <a:solidFill>
            <a:srgbClr val="FFFFFF"/>
          </a:solidFill>
          <a:ln w="12700">
            <a:solidFill>
              <a:srgbClr val="DCE3E6"/>
            </a:solidFill>
            <a:prstDash val="solid"/>
          </a:ln>
        </p:spPr>
      </p:sp>
      <p:sp>
        <p:nvSpPr>
          <p:cNvPr id="5" name="Text 3"/>
          <p:cNvSpPr txBox="1"/>
          <p:nvPr/>
        </p:nvSpPr>
        <p:spPr>
          <a:xfrm>
            <a:off x="914400" y="1874520"/>
            <a:ext cx="5212080" cy="365760"/>
          </a:xfrm>
          <a:prstGeom prst="rect">
            <a:avLst/>
          </a:prstGeom>
          <a:noFill/>
          <a:ln/>
        </p:spPr>
        <p:txBody>
          <a:bodyPr wrap="square" lIns="0" tIns="0" rIns="0" bIns="0" rtlCol="0" anchor="ctr"/>
          <a:lstStyle/>
          <a:p>
            <a:pPr indent="0" marL="0">
              <a:buNone/>
            </a:pPr>
            <a:r>
              <a:rPr lang="en-US" sz="1400" b="1" dirty="0">
                <a:solidFill>
                  <a:srgbClr val="5B6B77"/>
                </a:solidFill>
                <a:latin typeface="Calibri" pitchFamily="34" charset="0"/>
                <a:ea typeface="Calibri" pitchFamily="34" charset="-122"/>
                <a:cs typeface="Calibri" pitchFamily="34" charset="-120"/>
              </a:rPr>
              <a:t>Genetic toggle switch</a:t>
            </a:r>
            <a:endParaRPr lang="en-US" sz="1400" dirty="0"/>
          </a:p>
        </p:txBody>
      </p:sp>
      <p:sp>
        <p:nvSpPr>
          <p:cNvPr id="6" name="Shape 4"/>
          <p:cNvSpPr/>
          <p:nvPr/>
        </p:nvSpPr>
        <p:spPr>
          <a:xfrm>
            <a:off x="914400" y="2560320"/>
            <a:ext cx="2103120" cy="1005840"/>
          </a:xfrm>
          <a:prstGeom prst="roundRect">
            <a:avLst>
              <a:gd name="adj" fmla="val 9091"/>
            </a:avLst>
          </a:prstGeom>
          <a:solidFill>
            <a:srgbClr val="1C8F84"/>
          </a:solidFill>
          <a:ln/>
        </p:spPr>
      </p:sp>
      <p:sp>
        <p:nvSpPr>
          <p:cNvPr id="7" name="Text 5"/>
          <p:cNvSpPr txBox="1"/>
          <p:nvPr/>
        </p:nvSpPr>
        <p:spPr>
          <a:xfrm>
            <a:off x="914400" y="2560320"/>
            <a:ext cx="2103120" cy="10058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Gene A</a:t>
            </a:r>
            <a:endParaRPr lang="en-US" sz="2200" dirty="0"/>
          </a:p>
        </p:txBody>
      </p:sp>
      <p:sp>
        <p:nvSpPr>
          <p:cNvPr id="8" name="Shape 6"/>
          <p:cNvSpPr/>
          <p:nvPr/>
        </p:nvSpPr>
        <p:spPr>
          <a:xfrm>
            <a:off x="4297680" y="2560320"/>
            <a:ext cx="1828800" cy="1005840"/>
          </a:xfrm>
          <a:prstGeom prst="roundRect">
            <a:avLst>
              <a:gd name="adj" fmla="val 9091"/>
            </a:avLst>
          </a:prstGeom>
          <a:solidFill>
            <a:srgbClr val="E8A33D"/>
          </a:solidFill>
          <a:ln/>
        </p:spPr>
      </p:sp>
      <p:sp>
        <p:nvSpPr>
          <p:cNvPr id="9" name="Text 7"/>
          <p:cNvSpPr txBox="1"/>
          <p:nvPr/>
        </p:nvSpPr>
        <p:spPr>
          <a:xfrm>
            <a:off x="4297680" y="2560320"/>
            <a:ext cx="1828800" cy="1005840"/>
          </a:xfrm>
          <a:prstGeom prst="rect">
            <a:avLst/>
          </a:prstGeom>
          <a:noFill/>
          <a:ln/>
        </p:spPr>
        <p:txBody>
          <a:bodyPr wrap="square" lIns="0" tIns="0" rIns="0" bIns="0" rtlCol="0" anchor="ctr"/>
          <a:lstStyle/>
          <a:p>
            <a:pPr algn="ctr" indent="0" marL="0">
              <a:buNone/>
            </a:pPr>
            <a:r>
              <a:rPr lang="en-US" sz="2200" b="1" dirty="0">
                <a:solidFill>
                  <a:srgbClr val="16232F"/>
                </a:solidFill>
                <a:latin typeface="Cambria" pitchFamily="34" charset="0"/>
                <a:ea typeface="Cambria" pitchFamily="34" charset="-122"/>
                <a:cs typeface="Cambria" pitchFamily="34" charset="-120"/>
              </a:rPr>
              <a:t>Gene B</a:t>
            </a:r>
            <a:endParaRPr lang="en-US" sz="2200" dirty="0"/>
          </a:p>
        </p:txBody>
      </p:sp>
      <p:sp>
        <p:nvSpPr>
          <p:cNvPr id="10" name="Shape 8"/>
          <p:cNvSpPr/>
          <p:nvPr/>
        </p:nvSpPr>
        <p:spPr>
          <a:xfrm>
            <a:off x="3017520" y="2834640"/>
            <a:ext cx="1280160" cy="0"/>
          </a:xfrm>
          <a:prstGeom prst="line">
            <a:avLst/>
          </a:prstGeom>
          <a:noFill/>
          <a:ln w="38100">
            <a:solidFill>
              <a:srgbClr val="E8604C"/>
            </a:solidFill>
            <a:prstDash val="solid"/>
            <a:tailEnd type="triangle"/>
          </a:ln>
        </p:spPr>
      </p:sp>
      <p:sp>
        <p:nvSpPr>
          <p:cNvPr id="11" name="Shape 9"/>
          <p:cNvSpPr/>
          <p:nvPr/>
        </p:nvSpPr>
        <p:spPr>
          <a:xfrm>
            <a:off x="4297680" y="3291840"/>
            <a:ext cx="-1280160" cy="0"/>
          </a:xfrm>
          <a:prstGeom prst="line">
            <a:avLst/>
          </a:prstGeom>
          <a:noFill/>
          <a:ln w="38100">
            <a:solidFill>
              <a:srgbClr val="E8604C"/>
            </a:solidFill>
            <a:prstDash val="solid"/>
            <a:tailEnd type="triangle"/>
          </a:ln>
        </p:spPr>
      </p:sp>
      <p:sp>
        <p:nvSpPr>
          <p:cNvPr id="12" name="Text 10"/>
          <p:cNvSpPr txBox="1"/>
          <p:nvPr/>
        </p:nvSpPr>
        <p:spPr>
          <a:xfrm>
            <a:off x="2651760" y="3611880"/>
            <a:ext cx="2011680" cy="320040"/>
          </a:xfrm>
          <a:prstGeom prst="rect">
            <a:avLst/>
          </a:prstGeom>
          <a:noFill/>
          <a:ln/>
        </p:spPr>
        <p:txBody>
          <a:bodyPr wrap="square" lIns="0" tIns="0" rIns="0" bIns="0" rtlCol="0" anchor="ctr"/>
          <a:lstStyle/>
          <a:p>
            <a:pPr algn="ctr" indent="0" marL="0">
              <a:buNone/>
            </a:pPr>
            <a:r>
              <a:rPr lang="en-US" sz="1200" i="1" dirty="0">
                <a:solidFill>
                  <a:srgbClr val="E8604C"/>
                </a:solidFill>
                <a:latin typeface="Calibri" pitchFamily="34" charset="0"/>
                <a:ea typeface="Calibri" pitchFamily="34" charset="-122"/>
                <a:cs typeface="Calibri" pitchFamily="34" charset="-120"/>
              </a:rPr>
              <a:t>each mutes the other</a:t>
            </a:r>
            <a:endParaRPr lang="en-US" sz="1200" dirty="0"/>
          </a:p>
        </p:txBody>
      </p:sp>
      <p:sp>
        <p:nvSpPr>
          <p:cNvPr id="13" name="Shape 11"/>
          <p:cNvSpPr/>
          <p:nvPr/>
        </p:nvSpPr>
        <p:spPr>
          <a:xfrm>
            <a:off x="914400" y="4251960"/>
            <a:ext cx="2468880" cy="822960"/>
          </a:xfrm>
          <a:prstGeom prst="roundRect">
            <a:avLst>
              <a:gd name="adj" fmla="val 8889"/>
            </a:avLst>
          </a:prstGeom>
          <a:solidFill>
            <a:srgbClr val="E3F3F1"/>
          </a:solidFill>
          <a:ln/>
        </p:spPr>
      </p:sp>
      <p:sp>
        <p:nvSpPr>
          <p:cNvPr id="14" name="Text 12"/>
          <p:cNvSpPr txBox="1"/>
          <p:nvPr/>
        </p:nvSpPr>
        <p:spPr>
          <a:xfrm>
            <a:off x="914400" y="4251960"/>
            <a:ext cx="2468880" cy="822960"/>
          </a:xfrm>
          <a:prstGeom prst="rect">
            <a:avLst/>
          </a:prstGeom>
          <a:noFill/>
          <a:ln/>
        </p:spPr>
        <p:txBody>
          <a:bodyPr wrap="square" lIns="0" tIns="0" rIns="0" bIns="0" rtlCol="0" anchor="ctr"/>
          <a:lstStyle/>
          <a:p>
            <a:pPr algn="ctr" indent="0" marL="0">
              <a:buNone/>
            </a:pPr>
            <a:r>
              <a:rPr lang="en-US" sz="1800" b="1" dirty="0">
                <a:solidFill>
                  <a:srgbClr val="1C8F84"/>
                </a:solidFill>
                <a:latin typeface="Calibri" pitchFamily="34" charset="0"/>
                <a:ea typeface="Calibri" pitchFamily="34" charset="-122"/>
                <a:cs typeface="Calibri" pitchFamily="34" charset="-120"/>
              </a:rPr>
              <a:t>A wins = 0</a:t>
            </a:r>
            <a:endParaRPr lang="en-US" sz="1800" dirty="0"/>
          </a:p>
        </p:txBody>
      </p:sp>
      <p:sp>
        <p:nvSpPr>
          <p:cNvPr id="15" name="Shape 13"/>
          <p:cNvSpPr/>
          <p:nvPr/>
        </p:nvSpPr>
        <p:spPr>
          <a:xfrm>
            <a:off x="3657600" y="4251960"/>
            <a:ext cx="2468880" cy="822960"/>
          </a:xfrm>
          <a:prstGeom prst="roundRect">
            <a:avLst>
              <a:gd name="adj" fmla="val 8889"/>
            </a:avLst>
          </a:prstGeom>
          <a:solidFill>
            <a:srgbClr val="FBEFD9"/>
          </a:solidFill>
          <a:ln/>
        </p:spPr>
      </p:sp>
      <p:sp>
        <p:nvSpPr>
          <p:cNvPr id="16" name="Text 14"/>
          <p:cNvSpPr txBox="1"/>
          <p:nvPr/>
        </p:nvSpPr>
        <p:spPr>
          <a:xfrm>
            <a:off x="3657600" y="4251960"/>
            <a:ext cx="2468880" cy="822960"/>
          </a:xfrm>
          <a:prstGeom prst="rect">
            <a:avLst/>
          </a:prstGeom>
          <a:noFill/>
          <a:ln/>
        </p:spPr>
        <p:txBody>
          <a:bodyPr wrap="square" lIns="0" tIns="0" rIns="0" bIns="0" rtlCol="0" anchor="ctr"/>
          <a:lstStyle/>
          <a:p>
            <a:pPr algn="ctr" indent="0" marL="0">
              <a:buNone/>
            </a:pPr>
            <a:r>
              <a:rPr lang="en-US" sz="1800" b="1" dirty="0">
                <a:solidFill>
                  <a:srgbClr val="9A6414"/>
                </a:solidFill>
                <a:latin typeface="Calibri" pitchFamily="34" charset="0"/>
                <a:ea typeface="Calibri" pitchFamily="34" charset="-122"/>
                <a:cs typeface="Calibri" pitchFamily="34" charset="-120"/>
              </a:rPr>
              <a:t>B wins = 1</a:t>
            </a:r>
            <a:endParaRPr lang="en-US" sz="1800" dirty="0"/>
          </a:p>
        </p:txBody>
      </p:sp>
      <p:sp>
        <p:nvSpPr>
          <p:cNvPr id="17" name="Text 15"/>
          <p:cNvSpPr txBox="1"/>
          <p:nvPr/>
        </p:nvSpPr>
        <p:spPr>
          <a:xfrm>
            <a:off x="914400" y="5257800"/>
            <a:ext cx="5212080" cy="548640"/>
          </a:xfrm>
          <a:prstGeom prst="rect">
            <a:avLst/>
          </a:prstGeom>
          <a:noFill/>
          <a:ln/>
        </p:spPr>
        <p:txBody>
          <a:bodyPr wrap="square" lIns="0" tIns="0" rIns="0" bIns="0" rtlCol="0" anchor="ctr"/>
          <a:lstStyle/>
          <a:p>
            <a:pPr indent="0" marL="0">
              <a:buNone/>
            </a:pPr>
            <a:r>
              <a:rPr lang="en-US" sz="1400" dirty="0">
                <a:solidFill>
                  <a:srgbClr val="5B6B77"/>
                </a:solidFill>
                <a:latin typeface="Calibri" pitchFamily="34" charset="0"/>
                <a:ea typeface="Calibri" pitchFamily="34" charset="-122"/>
                <a:cs typeface="Calibri" pitchFamily="34" charset="-120"/>
              </a:rPr>
              <a:t>Rests in one of two stable states, like a light switch, not a dimmer.</a:t>
            </a:r>
            <a:endParaRPr lang="en-US" sz="1400" dirty="0"/>
          </a:p>
        </p:txBody>
      </p:sp>
      <p:sp>
        <p:nvSpPr>
          <p:cNvPr id="18" name="Shape 16"/>
          <p:cNvSpPr/>
          <p:nvPr/>
        </p:nvSpPr>
        <p:spPr>
          <a:xfrm>
            <a:off x="6766560" y="1783080"/>
            <a:ext cx="457200" cy="457200"/>
          </a:xfrm>
          <a:prstGeom prst="ellipse">
            <a:avLst/>
          </a:prstGeom>
          <a:solidFill>
            <a:srgbClr val="1C8F84"/>
          </a:solidFill>
          <a:ln/>
        </p:spPr>
      </p:sp>
      <p:sp>
        <p:nvSpPr>
          <p:cNvPr id="19" name="Text 17"/>
          <p:cNvSpPr txBox="1"/>
          <p:nvPr/>
        </p:nvSpPr>
        <p:spPr>
          <a:xfrm>
            <a:off x="6766560" y="17830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20" name="Text 18"/>
          <p:cNvSpPr txBox="1"/>
          <p:nvPr/>
        </p:nvSpPr>
        <p:spPr>
          <a:xfrm>
            <a:off x="7406640" y="1737360"/>
            <a:ext cx="4114800" cy="365760"/>
          </a:xfrm>
          <a:prstGeom prst="rect">
            <a:avLst/>
          </a:prstGeom>
          <a:noFill/>
          <a:ln/>
        </p:spPr>
        <p:txBody>
          <a:bodyPr wrap="square" lIns="0" tIns="0" rIns="0" bIns="0" rtlCol="0" anchor="ctr"/>
          <a:lstStyle/>
          <a:p>
            <a:pPr indent="0" marL="0">
              <a:buNone/>
            </a:pPr>
            <a:r>
              <a:rPr lang="en-US" sz="1800" b="1" dirty="0">
                <a:solidFill>
                  <a:srgbClr val="16232F"/>
                </a:solidFill>
                <a:latin typeface="Calibri" pitchFamily="34" charset="0"/>
                <a:ea typeface="Calibri" pitchFamily="34" charset="-122"/>
                <a:cs typeface="Calibri" pitchFamily="34" charset="-120"/>
              </a:rPr>
              <a:t>Division copies the state</a:t>
            </a:r>
            <a:endParaRPr lang="en-US" sz="1800" dirty="0"/>
          </a:p>
        </p:txBody>
      </p:sp>
      <p:sp>
        <p:nvSpPr>
          <p:cNvPr id="21" name="Text 19"/>
          <p:cNvSpPr txBox="1"/>
          <p:nvPr/>
        </p:nvSpPr>
        <p:spPr>
          <a:xfrm>
            <a:off x="7406640" y="2148840"/>
            <a:ext cx="4114800" cy="914400"/>
          </a:xfrm>
          <a:prstGeom prst="rect">
            <a:avLst/>
          </a:prstGeom>
          <a:noFill/>
          <a:ln/>
        </p:spPr>
        <p:txBody>
          <a:bodyPr wrap="square" lIns="0" tIns="0" rIns="0" bIns="0" rtlCol="0" anchor="ctr"/>
          <a:lstStyle/>
          <a:p>
            <a:pPr indent="0" marL="0">
              <a:buNone/>
            </a:pPr>
            <a:r>
              <a:rPr lang="en-US" sz="1400" dirty="0">
                <a:solidFill>
                  <a:srgbClr val="5B6B77"/>
                </a:solidFill>
                <a:latin typeface="Calibri" pitchFamily="34" charset="0"/>
                <a:ea typeface="Calibri" pitchFamily="34" charset="-122"/>
                <a:cs typeface="Calibri" pitchFamily="34" charset="-120"/>
              </a:rPr>
              <a:t>The proteins that hold the state pass into both daughter cells, so it is copied into the regrowth.</a:t>
            </a:r>
            <a:endParaRPr lang="en-US" sz="1400" dirty="0"/>
          </a:p>
        </p:txBody>
      </p:sp>
      <p:sp>
        <p:nvSpPr>
          <p:cNvPr id="22" name="Shape 20"/>
          <p:cNvSpPr/>
          <p:nvPr/>
        </p:nvSpPr>
        <p:spPr>
          <a:xfrm>
            <a:off x="6766560" y="3246120"/>
            <a:ext cx="457200" cy="457200"/>
          </a:xfrm>
          <a:prstGeom prst="ellipse">
            <a:avLst/>
          </a:prstGeom>
          <a:solidFill>
            <a:srgbClr val="1C8F84"/>
          </a:solidFill>
          <a:ln/>
        </p:spPr>
      </p:sp>
      <p:sp>
        <p:nvSpPr>
          <p:cNvPr id="23" name="Text 21"/>
          <p:cNvSpPr txBox="1"/>
          <p:nvPr/>
        </p:nvSpPr>
        <p:spPr>
          <a:xfrm>
            <a:off x="6766560" y="32461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4" name="Text 22"/>
          <p:cNvSpPr txBox="1"/>
          <p:nvPr/>
        </p:nvSpPr>
        <p:spPr>
          <a:xfrm>
            <a:off x="7406640" y="3200400"/>
            <a:ext cx="4114800" cy="365760"/>
          </a:xfrm>
          <a:prstGeom prst="rect">
            <a:avLst/>
          </a:prstGeom>
          <a:noFill/>
          <a:ln/>
        </p:spPr>
        <p:txBody>
          <a:bodyPr wrap="square" lIns="0" tIns="0" rIns="0" bIns="0" rtlCol="0" anchor="ctr"/>
          <a:lstStyle/>
          <a:p>
            <a:pPr indent="0" marL="0">
              <a:buNone/>
            </a:pPr>
            <a:r>
              <a:rPr lang="en-US" sz="1800" b="1" dirty="0">
                <a:solidFill>
                  <a:srgbClr val="16232F"/>
                </a:solidFill>
                <a:latin typeface="Calibri" pitchFamily="34" charset="0"/>
                <a:ea typeface="Calibri" pitchFamily="34" charset="-122"/>
                <a:cs typeface="Calibri" pitchFamily="34" charset="-120"/>
              </a:rPr>
              <a:t>Read by colour</a:t>
            </a:r>
            <a:endParaRPr lang="en-US" sz="1800" dirty="0"/>
          </a:p>
        </p:txBody>
      </p:sp>
      <p:sp>
        <p:nvSpPr>
          <p:cNvPr id="25" name="Text 23"/>
          <p:cNvSpPr txBox="1"/>
          <p:nvPr/>
        </p:nvSpPr>
        <p:spPr>
          <a:xfrm>
            <a:off x="7406640" y="3611880"/>
            <a:ext cx="4114800" cy="914400"/>
          </a:xfrm>
          <a:prstGeom prst="rect">
            <a:avLst/>
          </a:prstGeom>
          <a:noFill/>
          <a:ln/>
        </p:spPr>
        <p:txBody>
          <a:bodyPr wrap="square" lIns="0" tIns="0" rIns="0" bIns="0" rtlCol="0" anchor="ctr"/>
          <a:lstStyle/>
          <a:p>
            <a:pPr indent="0" marL="0">
              <a:buNone/>
            </a:pPr>
            <a:r>
              <a:rPr lang="en-US" sz="1400" dirty="0">
                <a:solidFill>
                  <a:srgbClr val="5B6B77"/>
                </a:solidFill>
                <a:latin typeface="Calibri" pitchFamily="34" charset="0"/>
                <a:ea typeface="Calibri" pitchFamily="34" charset="-122"/>
                <a:cs typeface="Calibri" pitchFamily="34" charset="-120"/>
              </a:rPr>
              <a:t>Two fluorescent reporters, one per state, read one cell at a time by flow cytometry.</a:t>
            </a:r>
            <a:endParaRPr lang="en-US" sz="1400" dirty="0"/>
          </a:p>
        </p:txBody>
      </p:sp>
      <p:sp>
        <p:nvSpPr>
          <p:cNvPr id="26" name="Shape 24"/>
          <p:cNvSpPr/>
          <p:nvPr/>
        </p:nvSpPr>
        <p:spPr>
          <a:xfrm>
            <a:off x="6766560" y="4709160"/>
            <a:ext cx="457200" cy="457200"/>
          </a:xfrm>
          <a:prstGeom prst="ellipse">
            <a:avLst/>
          </a:prstGeom>
          <a:solidFill>
            <a:srgbClr val="1C8F84"/>
          </a:solidFill>
          <a:ln/>
        </p:spPr>
      </p:sp>
      <p:sp>
        <p:nvSpPr>
          <p:cNvPr id="27" name="Text 25"/>
          <p:cNvSpPr txBox="1"/>
          <p:nvPr/>
        </p:nvSpPr>
        <p:spPr>
          <a:xfrm>
            <a:off x="6766560" y="47091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8" name="Text 26"/>
          <p:cNvSpPr txBox="1"/>
          <p:nvPr/>
        </p:nvSpPr>
        <p:spPr>
          <a:xfrm>
            <a:off x="7406640" y="4663440"/>
            <a:ext cx="4114800" cy="365760"/>
          </a:xfrm>
          <a:prstGeom prst="rect">
            <a:avLst/>
          </a:prstGeom>
          <a:noFill/>
          <a:ln/>
        </p:spPr>
        <p:txBody>
          <a:bodyPr wrap="square" lIns="0" tIns="0" rIns="0" bIns="0" rtlCol="0" anchor="ctr"/>
          <a:lstStyle/>
          <a:p>
            <a:pPr indent="0" marL="0">
              <a:buNone/>
            </a:pPr>
            <a:r>
              <a:rPr lang="en-US" sz="1800" b="1" dirty="0">
                <a:solidFill>
                  <a:srgbClr val="16232F"/>
                </a:solidFill>
                <a:latin typeface="Calibri" pitchFamily="34" charset="0"/>
                <a:ea typeface="Calibri" pitchFamily="34" charset="-122"/>
                <a:cs typeface="Calibri" pitchFamily="34" charset="-120"/>
              </a:rPr>
              <a:t>One design rule</a:t>
            </a:r>
            <a:endParaRPr lang="en-US" sz="1800" dirty="0"/>
          </a:p>
        </p:txBody>
      </p:sp>
      <p:sp>
        <p:nvSpPr>
          <p:cNvPr id="29" name="Text 27"/>
          <p:cNvSpPr txBox="1"/>
          <p:nvPr/>
        </p:nvSpPr>
        <p:spPr>
          <a:xfrm>
            <a:off x="7406640" y="5074920"/>
            <a:ext cx="4114800" cy="914400"/>
          </a:xfrm>
          <a:prstGeom prst="rect">
            <a:avLst/>
          </a:prstGeom>
          <a:noFill/>
          <a:ln/>
        </p:spPr>
        <p:txBody>
          <a:bodyPr wrap="square" lIns="0" tIns="0" rIns="0" bIns="0" rtlCol="0" anchor="ctr"/>
          <a:lstStyle/>
          <a:p>
            <a:pPr indent="0" marL="0">
              <a:buNone/>
            </a:pPr>
            <a:r>
              <a:rPr lang="en-US" sz="1400" dirty="0">
                <a:solidFill>
                  <a:srgbClr val="5B6B77"/>
                </a:solidFill>
                <a:latin typeface="Calibri" pitchFamily="34" charset="0"/>
                <a:ea typeface="Calibri" pitchFamily="34" charset="-122"/>
                <a:cs typeface="Calibri" pitchFamily="34" charset="-120"/>
              </a:rPr>
              <a:t>The two promoters must be matched in strength, or the switch collapses to a single setting.</a:t>
            </a:r>
            <a:endParaRPr lang="en-US" sz="1400" dirty="0"/>
          </a:p>
        </p:txBody>
      </p:sp>
      <p:sp>
        <p:nvSpPr>
          <p:cNvPr id="30" name="Text 28"/>
          <p:cNvSpPr txBox="1"/>
          <p:nvPr/>
        </p:nvSpPr>
        <p:spPr>
          <a:xfrm>
            <a:off x="640080" y="6263640"/>
            <a:ext cx="10515600" cy="365760"/>
          </a:xfrm>
          <a:prstGeom prst="rect">
            <a:avLst/>
          </a:prstGeom>
          <a:noFill/>
          <a:ln/>
        </p:spPr>
        <p:txBody>
          <a:bodyPr wrap="square" lIns="0" tIns="0" rIns="0" bIns="0" rtlCol="0" anchor="ctr"/>
          <a:lstStyle/>
          <a:p>
            <a:pPr indent="0" marL="0">
              <a:buNone/>
            </a:pPr>
            <a:r>
              <a:rPr lang="en-US" sz="1100" i="1" dirty="0">
                <a:solidFill>
                  <a:srgbClr val="5B6B77"/>
                </a:solidFill>
                <a:latin typeface="Calibri" pitchFamily="34" charset="0"/>
                <a:ea typeface="Calibri" pitchFamily="34" charset="-122"/>
                <a:cs typeface="Calibri" pitchFamily="34" charset="-120"/>
              </a:rPr>
              <a:t>Organism: Bacillus subtilis. Toggle design: Gardner, Cantor and Collins 2000.</a:t>
            </a:r>
            <a:endParaRPr lang="en-US" sz="1100" dirty="0"/>
          </a:p>
        </p:txBody>
      </p:sp>
      <p:sp>
        <p:nvSpPr>
          <p:cNvPr id="32" name="Text 29"/>
          <p:cNvSpPr txBox="1"/>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9AA7AF"/>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640080" y="411480"/>
            <a:ext cx="7315200" cy="320040"/>
          </a:xfrm>
          <a:prstGeom prst="rect">
            <a:avLst/>
          </a:prstGeom>
          <a:noFill/>
          <a:ln/>
        </p:spPr>
        <p:txBody>
          <a:bodyPr wrap="square" lIns="0" tIns="0" rIns="0" bIns="0" rtlCol="0" anchor="ctr"/>
          <a:lstStyle/>
          <a:p>
            <a:pPr indent="0" marL="0">
              <a:buNone/>
            </a:pPr>
            <a:r>
              <a:rPr lang="en-US" sz="1200" b="1" spc="200" kern="0" dirty="0">
                <a:solidFill>
                  <a:srgbClr val="2EC4B6"/>
                </a:solidFill>
                <a:latin typeface="Calibri" pitchFamily="34" charset="0"/>
                <a:ea typeface="Calibri" pitchFamily="34" charset="-122"/>
                <a:cs typeface="Calibri" pitchFamily="34" charset="-120"/>
              </a:rPr>
              <a:t>WHAT THE SIMULATIONS SAY</a:t>
            </a:r>
            <a:endParaRPr lang="en-US" sz="1200" dirty="0"/>
          </a:p>
        </p:txBody>
      </p:sp>
      <p:sp>
        <p:nvSpPr>
          <p:cNvPr id="3" name="Text 1"/>
          <p:cNvSpPr txBox="1"/>
          <p:nvPr/>
        </p:nvSpPr>
        <p:spPr>
          <a:xfrm>
            <a:off x="640080" y="731520"/>
            <a:ext cx="10881360"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Three results, all simulated</a:t>
            </a:r>
            <a:endParaRPr lang="en-US" sz="3600" dirty="0"/>
          </a:p>
        </p:txBody>
      </p:sp>
      <p:sp>
        <p:nvSpPr>
          <p:cNvPr id="4" name="Shape 2"/>
          <p:cNvSpPr/>
          <p:nvPr/>
        </p:nvSpPr>
        <p:spPr>
          <a:xfrm>
            <a:off x="640080" y="1828800"/>
            <a:ext cx="3520440" cy="4114800"/>
          </a:xfrm>
          <a:prstGeom prst="roundRect">
            <a:avLst>
              <a:gd name="adj" fmla="val 2597"/>
            </a:avLst>
          </a:prstGeom>
          <a:solidFill>
            <a:srgbClr val="132A4D"/>
          </a:solidFill>
          <a:ln/>
        </p:spPr>
      </p:sp>
      <p:sp>
        <p:nvSpPr>
          <p:cNvPr id="5" name="Text 3"/>
          <p:cNvSpPr txBox="1"/>
          <p:nvPr/>
        </p:nvSpPr>
        <p:spPr>
          <a:xfrm>
            <a:off x="914400" y="2011680"/>
            <a:ext cx="3017520" cy="1188720"/>
          </a:xfrm>
          <a:prstGeom prst="rect">
            <a:avLst/>
          </a:prstGeom>
          <a:noFill/>
          <a:ln/>
        </p:spPr>
        <p:txBody>
          <a:bodyPr wrap="square" lIns="0" tIns="0" rIns="0" bIns="0" rtlCol="0" anchor="ctr"/>
          <a:lstStyle/>
          <a:p>
            <a:pPr indent="0" marL="0">
              <a:buNone/>
            </a:pPr>
            <a:r>
              <a:rPr lang="en-US" sz="6600" b="1" dirty="0">
                <a:solidFill>
                  <a:srgbClr val="E8604C"/>
                </a:solidFill>
                <a:latin typeface="Cambria" pitchFamily="34" charset="0"/>
                <a:ea typeface="Cambria" pitchFamily="34" charset="-122"/>
                <a:cs typeface="Cambria" pitchFamily="34" charset="-120"/>
              </a:rPr>
              <a:t>50%</a:t>
            </a:r>
            <a:endParaRPr lang="en-US" sz="6600" dirty="0"/>
          </a:p>
        </p:txBody>
      </p:sp>
      <p:sp>
        <p:nvSpPr>
          <p:cNvPr id="6" name="Text 4"/>
          <p:cNvSpPr txBox="1"/>
          <p:nvPr/>
        </p:nvSpPr>
        <p:spPr>
          <a:xfrm>
            <a:off x="914400" y="3337560"/>
            <a:ext cx="3017520" cy="7315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Our first idea failed</a:t>
            </a:r>
            <a:endParaRPr lang="en-US" sz="2000" dirty="0"/>
          </a:p>
        </p:txBody>
      </p:sp>
      <p:sp>
        <p:nvSpPr>
          <p:cNvPr id="7" name="Text 5"/>
          <p:cNvSpPr txBox="1"/>
          <p:nvPr/>
        </p:nvSpPr>
        <p:spPr>
          <a:xfrm>
            <a:off x="914400" y="4114800"/>
            <a:ext cx="3017520" cy="1737360"/>
          </a:xfrm>
          <a:prstGeom prst="rect">
            <a:avLst/>
          </a:prstGeom>
          <a:noFill/>
          <a:ln/>
        </p:spPr>
        <p:txBody>
          <a:bodyPr wrap="square" lIns="0" tIns="0" rIns="0" bIns="0" rtlCol="0" anchor="ctr"/>
          <a:lstStyle/>
          <a:p>
            <a:pPr indent="0" marL="0">
              <a:buNone/>
            </a:pPr>
            <a:r>
              <a:rPr lang="en-US" sz="1400" dirty="0">
                <a:solidFill>
                  <a:srgbClr val="C9D6E2"/>
                </a:solidFill>
                <a:latin typeface="Calibri" pitchFamily="34" charset="0"/>
                <a:ea typeface="Calibri" pitchFamily="34" charset="-122"/>
                <a:cs typeface="Calibri" pitchFamily="34" charset="-120"/>
              </a:rPr>
              <a:t>A voltage held passively in flatworm tissue fell to a coin flip once we added realistic noise. We retired it.</a:t>
            </a:r>
            <a:endParaRPr lang="en-US" sz="1400" dirty="0"/>
          </a:p>
        </p:txBody>
      </p:sp>
      <p:sp>
        <p:nvSpPr>
          <p:cNvPr id="8" name="Shape 6"/>
          <p:cNvSpPr/>
          <p:nvPr/>
        </p:nvSpPr>
        <p:spPr>
          <a:xfrm>
            <a:off x="4334256" y="1828800"/>
            <a:ext cx="3520440" cy="4114800"/>
          </a:xfrm>
          <a:prstGeom prst="roundRect">
            <a:avLst>
              <a:gd name="adj" fmla="val 2597"/>
            </a:avLst>
          </a:prstGeom>
          <a:solidFill>
            <a:srgbClr val="132A4D"/>
          </a:solidFill>
          <a:ln/>
        </p:spPr>
      </p:sp>
      <p:sp>
        <p:nvSpPr>
          <p:cNvPr id="9" name="Text 7"/>
          <p:cNvSpPr txBox="1"/>
          <p:nvPr/>
        </p:nvSpPr>
        <p:spPr>
          <a:xfrm>
            <a:off x="4608576" y="2011680"/>
            <a:ext cx="3017520" cy="1188720"/>
          </a:xfrm>
          <a:prstGeom prst="rect">
            <a:avLst/>
          </a:prstGeom>
          <a:noFill/>
          <a:ln/>
        </p:spPr>
        <p:txBody>
          <a:bodyPr wrap="square" lIns="0" tIns="0" rIns="0" bIns="0" rtlCol="0" anchor="ctr"/>
          <a:lstStyle/>
          <a:p>
            <a:pPr indent="0" marL="0">
              <a:buNone/>
            </a:pPr>
            <a:r>
              <a:rPr lang="en-US" sz="6600" b="1" dirty="0">
                <a:solidFill>
                  <a:srgbClr val="2EC4B6"/>
                </a:solidFill>
                <a:latin typeface="Cambria" pitchFamily="34" charset="0"/>
                <a:ea typeface="Cambria" pitchFamily="34" charset="-122"/>
                <a:cs typeface="Cambria" pitchFamily="34" charset="-120"/>
              </a:rPr>
              <a:t>2%</a:t>
            </a:r>
            <a:endParaRPr lang="en-US" sz="6600" dirty="0"/>
          </a:p>
        </p:txBody>
      </p:sp>
      <p:sp>
        <p:nvSpPr>
          <p:cNvPr id="10" name="Text 8"/>
          <p:cNvSpPr txBox="1"/>
          <p:nvPr/>
        </p:nvSpPr>
        <p:spPr>
          <a:xfrm>
            <a:off x="4608576" y="3337560"/>
            <a:ext cx="3017520" cy="7315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Survivors still regrow the bit</a:t>
            </a:r>
            <a:endParaRPr lang="en-US" sz="2000" dirty="0"/>
          </a:p>
        </p:txBody>
      </p:sp>
      <p:sp>
        <p:nvSpPr>
          <p:cNvPr id="11" name="Text 9"/>
          <p:cNvSpPr txBox="1"/>
          <p:nvPr/>
        </p:nvSpPr>
        <p:spPr>
          <a:xfrm>
            <a:off x="4608576" y="4114800"/>
            <a:ext cx="3017520" cy="1737360"/>
          </a:xfrm>
          <a:prstGeom prst="rect">
            <a:avLst/>
          </a:prstGeom>
          <a:noFill/>
          <a:ln/>
        </p:spPr>
        <p:txBody>
          <a:bodyPr wrap="square" lIns="0" tIns="0" rIns="0" bIns="0" rtlCol="0" anchor="ctr"/>
          <a:lstStyle/>
          <a:p>
            <a:pPr indent="0" marL="0">
              <a:buNone/>
            </a:pPr>
            <a:r>
              <a:rPr lang="en-US" sz="1400" dirty="0">
                <a:solidFill>
                  <a:srgbClr val="C9D6E2"/>
                </a:solidFill>
                <a:latin typeface="Calibri" pitchFamily="34" charset="0"/>
                <a:ea typeface="Calibri" pitchFamily="34" charset="-122"/>
                <a:cs typeface="Calibri" pitchFamily="34" charset="-120"/>
              </a:rPr>
              <a:t>From 2% of a colony, 98 to 100% of the regrown colony kept the bit, at 25 to 200 molecules per cell, if the survivors hold the right bit.</a:t>
            </a:r>
            <a:endParaRPr lang="en-US" sz="1400" dirty="0"/>
          </a:p>
        </p:txBody>
      </p:sp>
      <p:sp>
        <p:nvSpPr>
          <p:cNvPr id="12" name="Shape 10"/>
          <p:cNvSpPr/>
          <p:nvPr/>
        </p:nvSpPr>
        <p:spPr>
          <a:xfrm>
            <a:off x="8028432" y="1828800"/>
            <a:ext cx="3520440" cy="4114800"/>
          </a:xfrm>
          <a:prstGeom prst="roundRect">
            <a:avLst>
              <a:gd name="adj" fmla="val 2597"/>
            </a:avLst>
          </a:prstGeom>
          <a:solidFill>
            <a:srgbClr val="132A4D"/>
          </a:solidFill>
          <a:ln/>
        </p:spPr>
      </p:sp>
      <p:sp>
        <p:nvSpPr>
          <p:cNvPr id="13" name="Text 11"/>
          <p:cNvSpPr txBox="1"/>
          <p:nvPr/>
        </p:nvSpPr>
        <p:spPr>
          <a:xfrm>
            <a:off x="8302752" y="2011680"/>
            <a:ext cx="3017520" cy="1188720"/>
          </a:xfrm>
          <a:prstGeom prst="rect">
            <a:avLst/>
          </a:prstGeom>
          <a:noFill/>
          <a:ln/>
        </p:spPr>
        <p:txBody>
          <a:bodyPr wrap="square" lIns="0" tIns="0" rIns="0" bIns="0" rtlCol="0" anchor="ctr"/>
          <a:lstStyle/>
          <a:p>
            <a:pPr indent="0" marL="0">
              <a:buNone/>
            </a:pPr>
            <a:r>
              <a:rPr lang="en-US" sz="6600" b="1" dirty="0">
                <a:solidFill>
                  <a:srgbClr val="E8A33D"/>
                </a:solidFill>
                <a:latin typeface="Cambria" pitchFamily="34" charset="0"/>
                <a:ea typeface="Cambria" pitchFamily="34" charset="-122"/>
                <a:cs typeface="Cambria" pitchFamily="34" charset="-120"/>
              </a:rPr>
              <a:t>3</a:t>
            </a:r>
            <a:endParaRPr lang="en-US" sz="6600" dirty="0"/>
          </a:p>
        </p:txBody>
      </p:sp>
      <p:sp>
        <p:nvSpPr>
          <p:cNvPr id="14" name="Text 12"/>
          <p:cNvSpPr txBox="1"/>
          <p:nvPr/>
        </p:nvSpPr>
        <p:spPr>
          <a:xfrm>
            <a:off x="8302752" y="3337560"/>
            <a:ext cx="3017520" cy="7315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Kinds of math checked it</a:t>
            </a:r>
            <a:endParaRPr lang="en-US" sz="2000" dirty="0"/>
          </a:p>
        </p:txBody>
      </p:sp>
      <p:sp>
        <p:nvSpPr>
          <p:cNvPr id="15" name="Text 13"/>
          <p:cNvSpPr txBox="1"/>
          <p:nvPr/>
        </p:nvSpPr>
        <p:spPr>
          <a:xfrm>
            <a:off x="8302752" y="4114800"/>
            <a:ext cx="3017520" cy="1737360"/>
          </a:xfrm>
          <a:prstGeom prst="rect">
            <a:avLst/>
          </a:prstGeom>
          <a:noFill/>
          <a:ln/>
        </p:spPr>
        <p:txBody>
          <a:bodyPr wrap="square" lIns="0" tIns="0" rIns="0" bIns="0" rtlCol="0" anchor="ctr"/>
          <a:lstStyle/>
          <a:p>
            <a:pPr indent="0" marL="0">
              <a:buNone/>
            </a:pPr>
            <a:r>
              <a:rPr lang="en-US" sz="1400" dirty="0">
                <a:solidFill>
                  <a:srgbClr val="C9D6E2"/>
                </a:solidFill>
                <a:latin typeface="Calibri" pitchFamily="34" charset="0"/>
                <a:ea typeface="Calibri" pitchFamily="34" charset="-122"/>
                <a:cs typeface="Calibri" pitchFamily="34" charset="-120"/>
              </a:rPr>
              <a:t>They agree on the promoter rule and disagree on how much noise the switch can take. That depends on measurements we do not have.</a:t>
            </a:r>
            <a:endParaRPr lang="en-US" sz="1400" dirty="0"/>
          </a:p>
        </p:txBody>
      </p:sp>
      <p:sp>
        <p:nvSpPr>
          <p:cNvPr id="16" name="Text 14"/>
          <p:cNvSpPr txBox="1"/>
          <p:nvPr/>
        </p:nvSpPr>
        <p:spPr>
          <a:xfrm>
            <a:off x="640080" y="6263640"/>
            <a:ext cx="10515600" cy="365760"/>
          </a:xfrm>
          <a:prstGeom prst="rect">
            <a:avLst/>
          </a:prstGeom>
          <a:noFill/>
          <a:ln/>
        </p:spPr>
        <p:txBody>
          <a:bodyPr wrap="square" lIns="0" tIns="0" rIns="0" bIns="0" rtlCol="0" anchor="ctr"/>
          <a:lstStyle/>
          <a:p>
            <a:pPr indent="0" marL="0">
              <a:buNone/>
            </a:pPr>
            <a:r>
              <a:rPr lang="en-US" sz="1100" i="1" dirty="0">
                <a:solidFill>
                  <a:srgbClr val="8EA0B3"/>
                </a:solidFill>
                <a:latin typeface="Calibri" pitchFamily="34" charset="0"/>
                <a:ea typeface="Calibri" pitchFamily="34" charset="-122"/>
                <a:cs typeface="Calibri" pitchFamily="34" charset="-120"/>
              </a:rPr>
              <a:t>Python models of published equations (Gardner 2000, Huh and Paulsson 2011, BBB 2.0 promoter strengths). Noise sizes are assumed. No cell has been tested.</a:t>
            </a:r>
            <a:endParaRPr lang="en-US" sz="1100" dirty="0"/>
          </a:p>
        </p:txBody>
      </p:sp>
      <p:sp>
        <p:nvSpPr>
          <p:cNvPr id="18" name="Text 15"/>
          <p:cNvSpPr txBox="1"/>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6E7F91"/>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7"/>
        </a:solidFill>
      </p:bgPr>
    </p:bg>
    <p:spTree>
      <p:nvGrpSpPr>
        <p:cNvPr id="1" name=""/>
        <p:cNvGrpSpPr/>
        <p:nvPr/>
      </p:nvGrpSpPr>
      <p:grpSpPr>
        <a:xfrm>
          <a:off x="0" y="0"/>
          <a:ext cx="0" cy="0"/>
          <a:chOff x="0" y="0"/>
          <a:chExt cx="0" cy="0"/>
        </a:xfrm>
      </p:grpSpPr>
      <p:sp>
        <p:nvSpPr>
          <p:cNvPr id="2" name="Text 0"/>
          <p:cNvSpPr txBox="1"/>
          <p:nvPr/>
        </p:nvSpPr>
        <p:spPr>
          <a:xfrm>
            <a:off x="640080" y="411480"/>
            <a:ext cx="7315200" cy="320040"/>
          </a:xfrm>
          <a:prstGeom prst="rect">
            <a:avLst/>
          </a:prstGeom>
          <a:noFill/>
          <a:ln/>
        </p:spPr>
        <p:txBody>
          <a:bodyPr wrap="square" lIns="0" tIns="0" rIns="0" bIns="0" rtlCol="0" anchor="ctr"/>
          <a:lstStyle/>
          <a:p>
            <a:pPr indent="0" marL="0">
              <a:buNone/>
            </a:pPr>
            <a:r>
              <a:rPr lang="en-US" sz="1200" b="1" spc="200" kern="0" dirty="0">
                <a:solidFill>
                  <a:srgbClr val="1C8F84"/>
                </a:solidFill>
                <a:latin typeface="Calibri" pitchFamily="34" charset="0"/>
                <a:ea typeface="Calibri" pitchFamily="34" charset="-122"/>
                <a:cs typeface="Calibri" pitchFamily="34" charset="-120"/>
              </a:rPr>
              <a:t>PRIOR WORK</a:t>
            </a:r>
            <a:endParaRPr lang="en-US" sz="1200" dirty="0"/>
          </a:p>
        </p:txBody>
      </p:sp>
      <p:sp>
        <p:nvSpPr>
          <p:cNvPr id="3" name="Text 1"/>
          <p:cNvSpPr txBox="1"/>
          <p:nvPr/>
        </p:nvSpPr>
        <p:spPr>
          <a:xfrm>
            <a:off x="640080" y="731520"/>
            <a:ext cx="10881360" cy="777240"/>
          </a:xfrm>
          <a:prstGeom prst="rect">
            <a:avLst/>
          </a:prstGeom>
          <a:noFill/>
          <a:ln/>
        </p:spPr>
        <p:txBody>
          <a:bodyPr wrap="square" lIns="0" tIns="0" rIns="0" bIns="0" rtlCol="0" anchor="ctr"/>
          <a:lstStyle/>
          <a:p>
            <a:pPr indent="0" marL="0">
              <a:buNone/>
            </a:pPr>
            <a:r>
              <a:rPr lang="en-US" sz="3600" b="1" dirty="0">
                <a:solidFill>
                  <a:srgbClr val="16232F"/>
                </a:solidFill>
                <a:latin typeface="Cambria" pitchFamily="34" charset="0"/>
                <a:ea typeface="Cambria" pitchFamily="34" charset="-122"/>
                <a:cs typeface="Cambria" pitchFamily="34" charset="-120"/>
              </a:rPr>
              <a:t>We are not first, and we say so</a:t>
            </a:r>
            <a:endParaRPr lang="en-US" sz="3600" dirty="0"/>
          </a:p>
        </p:txBody>
      </p:sp>
      <p:sp>
        <p:nvSpPr>
          <p:cNvPr id="4" name="Shape 2"/>
          <p:cNvSpPr/>
          <p:nvPr/>
        </p:nvSpPr>
        <p:spPr>
          <a:xfrm>
            <a:off x="640080" y="1783080"/>
            <a:ext cx="3520440" cy="2651760"/>
          </a:xfrm>
          <a:prstGeom prst="roundRect">
            <a:avLst>
              <a:gd name="adj" fmla="val 3448"/>
            </a:avLst>
          </a:prstGeom>
          <a:solidFill>
            <a:srgbClr val="FFFFFF"/>
          </a:solidFill>
          <a:ln w="12700">
            <a:solidFill>
              <a:srgbClr val="DCE3E6"/>
            </a:solidFill>
            <a:prstDash val="solid"/>
          </a:ln>
        </p:spPr>
      </p:sp>
      <p:sp>
        <p:nvSpPr>
          <p:cNvPr id="5" name="Shape 3"/>
          <p:cNvSpPr/>
          <p:nvPr/>
        </p:nvSpPr>
        <p:spPr>
          <a:xfrm>
            <a:off x="914400" y="2011680"/>
            <a:ext cx="411480" cy="411480"/>
          </a:xfrm>
          <a:prstGeom prst="ellipse">
            <a:avLst/>
          </a:prstGeom>
          <a:solidFill>
            <a:srgbClr val="1C8F84">
              <a:alpha val="80000"/>
            </a:srgbClr>
          </a:solidFill>
          <a:ln w="25400">
            <a:solidFill>
              <a:srgbClr val="1C8F84"/>
            </a:solidFill>
            <a:prstDash val="solid"/>
          </a:ln>
        </p:spPr>
      </p:sp>
      <p:sp>
        <p:nvSpPr>
          <p:cNvPr id="6" name="Text 4"/>
          <p:cNvSpPr txBox="1"/>
          <p:nvPr/>
        </p:nvSpPr>
        <p:spPr>
          <a:xfrm>
            <a:off x="914400" y="2560320"/>
            <a:ext cx="3017520" cy="411480"/>
          </a:xfrm>
          <a:prstGeom prst="rect">
            <a:avLst/>
          </a:prstGeom>
          <a:noFill/>
          <a:ln/>
        </p:spPr>
        <p:txBody>
          <a:bodyPr wrap="square" lIns="0" tIns="0" rIns="0" bIns="0" rtlCol="0" anchor="ctr"/>
          <a:lstStyle/>
          <a:p>
            <a:pPr indent="0" marL="0">
              <a:buNone/>
            </a:pPr>
            <a:r>
              <a:rPr lang="en-US" sz="2200" b="1" dirty="0">
                <a:solidFill>
                  <a:srgbClr val="16232F"/>
                </a:solidFill>
                <a:latin typeface="Cambria" pitchFamily="34" charset="0"/>
                <a:ea typeface="Cambria" pitchFamily="34" charset="-122"/>
                <a:cs typeface="Cambria" pitchFamily="34" charset="-120"/>
              </a:rPr>
              <a:t>Gardner 2000</a:t>
            </a:r>
            <a:endParaRPr lang="en-US" sz="2200" dirty="0"/>
          </a:p>
        </p:txBody>
      </p:sp>
      <p:sp>
        <p:nvSpPr>
          <p:cNvPr id="7" name="Text 5"/>
          <p:cNvSpPr txBox="1"/>
          <p:nvPr/>
        </p:nvSpPr>
        <p:spPr>
          <a:xfrm>
            <a:off x="914400" y="2971800"/>
            <a:ext cx="3017520" cy="274320"/>
          </a:xfrm>
          <a:prstGeom prst="rect">
            <a:avLst/>
          </a:prstGeom>
          <a:noFill/>
          <a:ln/>
        </p:spPr>
        <p:txBody>
          <a:bodyPr wrap="square" lIns="0" tIns="0" rIns="0" bIns="0" rtlCol="0" anchor="ctr"/>
          <a:lstStyle/>
          <a:p>
            <a:pPr indent="0" marL="0">
              <a:buNone/>
            </a:pPr>
            <a:r>
              <a:rPr lang="en-US" sz="1200" dirty="0">
                <a:solidFill>
                  <a:srgbClr val="5B6B77"/>
                </a:solidFill>
                <a:latin typeface="Calibri" pitchFamily="34" charset="0"/>
                <a:ea typeface="Calibri" pitchFamily="34" charset="-122"/>
                <a:cs typeface="Calibri" pitchFamily="34" charset="-120"/>
              </a:rPr>
              <a:t>Nature</a:t>
            </a:r>
            <a:endParaRPr lang="en-US" sz="1200" dirty="0"/>
          </a:p>
        </p:txBody>
      </p:sp>
      <p:sp>
        <p:nvSpPr>
          <p:cNvPr id="8" name="Text 6"/>
          <p:cNvSpPr txBox="1"/>
          <p:nvPr/>
        </p:nvSpPr>
        <p:spPr>
          <a:xfrm>
            <a:off x="914400" y="3291840"/>
            <a:ext cx="3017520" cy="1097280"/>
          </a:xfrm>
          <a:prstGeom prst="rect">
            <a:avLst/>
          </a:prstGeom>
          <a:noFill/>
          <a:ln/>
        </p:spPr>
        <p:txBody>
          <a:bodyPr wrap="square" lIns="0" tIns="0" rIns="0" bIns="0" rtlCol="0" anchor="ctr"/>
          <a:lstStyle/>
          <a:p>
            <a:pPr indent="0" marL="0">
              <a:buNone/>
            </a:pPr>
            <a:r>
              <a:rPr lang="en-US" sz="1400" dirty="0">
                <a:solidFill>
                  <a:srgbClr val="16232F"/>
                </a:solidFill>
                <a:latin typeface="Calibri" pitchFamily="34" charset="0"/>
                <a:ea typeface="Calibri" pitchFamily="34" charset="-122"/>
                <a:cs typeface="Calibri" pitchFamily="34" charset="-120"/>
              </a:rPr>
              <a:t>Built the toggle switch in E. coli. Proved genetic memory of this kind works.</a:t>
            </a:r>
            <a:endParaRPr lang="en-US" sz="1400" dirty="0"/>
          </a:p>
        </p:txBody>
      </p:sp>
      <p:sp>
        <p:nvSpPr>
          <p:cNvPr id="9" name="Shape 7"/>
          <p:cNvSpPr/>
          <p:nvPr/>
        </p:nvSpPr>
        <p:spPr>
          <a:xfrm>
            <a:off x="4334256" y="1783080"/>
            <a:ext cx="3520440" cy="2651760"/>
          </a:xfrm>
          <a:prstGeom prst="roundRect">
            <a:avLst>
              <a:gd name="adj" fmla="val 3448"/>
            </a:avLst>
          </a:prstGeom>
          <a:solidFill>
            <a:srgbClr val="FFFFFF"/>
          </a:solidFill>
          <a:ln w="12700">
            <a:solidFill>
              <a:srgbClr val="DCE3E6"/>
            </a:solidFill>
            <a:prstDash val="solid"/>
          </a:ln>
        </p:spPr>
      </p:sp>
      <p:sp>
        <p:nvSpPr>
          <p:cNvPr id="10" name="Shape 8"/>
          <p:cNvSpPr/>
          <p:nvPr/>
        </p:nvSpPr>
        <p:spPr>
          <a:xfrm>
            <a:off x="4608576" y="2011680"/>
            <a:ext cx="411480" cy="411480"/>
          </a:xfrm>
          <a:prstGeom prst="ellipse">
            <a:avLst/>
          </a:prstGeom>
          <a:solidFill>
            <a:srgbClr val="E8A33D">
              <a:alpha val="80000"/>
            </a:srgbClr>
          </a:solidFill>
          <a:ln w="25400">
            <a:solidFill>
              <a:srgbClr val="E8A33D"/>
            </a:solidFill>
            <a:prstDash val="solid"/>
          </a:ln>
        </p:spPr>
      </p:sp>
      <p:sp>
        <p:nvSpPr>
          <p:cNvPr id="11" name="Text 9"/>
          <p:cNvSpPr txBox="1"/>
          <p:nvPr/>
        </p:nvSpPr>
        <p:spPr>
          <a:xfrm>
            <a:off x="4608576" y="2560320"/>
            <a:ext cx="3017520" cy="411480"/>
          </a:xfrm>
          <a:prstGeom prst="rect">
            <a:avLst/>
          </a:prstGeom>
          <a:noFill/>
          <a:ln/>
        </p:spPr>
        <p:txBody>
          <a:bodyPr wrap="square" lIns="0" tIns="0" rIns="0" bIns="0" rtlCol="0" anchor="ctr"/>
          <a:lstStyle/>
          <a:p>
            <a:pPr indent="0" marL="0">
              <a:buNone/>
            </a:pPr>
            <a:r>
              <a:rPr lang="en-US" sz="2200" b="1" dirty="0">
                <a:solidFill>
                  <a:srgbClr val="16232F"/>
                </a:solidFill>
                <a:latin typeface="Cambria" pitchFamily="34" charset="0"/>
                <a:ea typeface="Cambria" pitchFamily="34" charset="-122"/>
                <a:cs typeface="Cambria" pitchFamily="34" charset="-120"/>
              </a:rPr>
              <a:t>Yang 2020</a:t>
            </a:r>
            <a:endParaRPr lang="en-US" sz="2200" dirty="0"/>
          </a:p>
        </p:txBody>
      </p:sp>
      <p:sp>
        <p:nvSpPr>
          <p:cNvPr id="12" name="Text 10"/>
          <p:cNvSpPr txBox="1"/>
          <p:nvPr/>
        </p:nvSpPr>
        <p:spPr>
          <a:xfrm>
            <a:off x="4608576" y="2971800"/>
            <a:ext cx="3017520" cy="274320"/>
          </a:xfrm>
          <a:prstGeom prst="rect">
            <a:avLst/>
          </a:prstGeom>
          <a:noFill/>
          <a:ln/>
        </p:spPr>
        <p:txBody>
          <a:bodyPr wrap="square" lIns="0" tIns="0" rIns="0" bIns="0" rtlCol="0" anchor="ctr"/>
          <a:lstStyle/>
          <a:p>
            <a:pPr indent="0" marL="0">
              <a:buNone/>
            </a:pPr>
            <a:r>
              <a:rPr lang="en-US" sz="1200" dirty="0">
                <a:solidFill>
                  <a:srgbClr val="5B6B77"/>
                </a:solidFill>
                <a:latin typeface="Calibri" pitchFamily="34" charset="0"/>
                <a:ea typeface="Calibri" pitchFamily="34" charset="-122"/>
                <a:cs typeface="Calibri" pitchFamily="34" charset="-120"/>
              </a:rPr>
              <a:t>Cell Systems, Suel lab</a:t>
            </a:r>
            <a:endParaRPr lang="en-US" sz="1200" dirty="0"/>
          </a:p>
        </p:txBody>
      </p:sp>
      <p:sp>
        <p:nvSpPr>
          <p:cNvPr id="13" name="Text 11"/>
          <p:cNvSpPr txBox="1"/>
          <p:nvPr/>
        </p:nvSpPr>
        <p:spPr>
          <a:xfrm>
            <a:off x="4608576" y="3291840"/>
            <a:ext cx="3017520" cy="1097280"/>
          </a:xfrm>
          <a:prstGeom prst="rect">
            <a:avLst/>
          </a:prstGeom>
          <a:noFill/>
          <a:ln/>
        </p:spPr>
        <p:txBody>
          <a:bodyPr wrap="square" lIns="0" tIns="0" rIns="0" bIns="0" rtlCol="0" anchor="ctr"/>
          <a:lstStyle/>
          <a:p>
            <a:pPr indent="0" marL="0">
              <a:buNone/>
            </a:pPr>
            <a:r>
              <a:rPr lang="en-US" sz="1400" dirty="0">
                <a:solidFill>
                  <a:srgbClr val="16232F"/>
                </a:solidFill>
                <a:latin typeface="Calibri" pitchFamily="34" charset="0"/>
                <a:ea typeface="Calibri" pitchFamily="34" charset="-122"/>
                <a:cs typeface="Calibri" pitchFamily="34" charset="-120"/>
              </a:rPr>
              <a:t>Wrote voltage patterns into B. subtilis with light. Their memory is lost when cells divide.</a:t>
            </a:r>
            <a:endParaRPr lang="en-US" sz="1400" dirty="0"/>
          </a:p>
        </p:txBody>
      </p:sp>
      <p:sp>
        <p:nvSpPr>
          <p:cNvPr id="14" name="Shape 12"/>
          <p:cNvSpPr/>
          <p:nvPr/>
        </p:nvSpPr>
        <p:spPr>
          <a:xfrm>
            <a:off x="8028432" y="1783080"/>
            <a:ext cx="3520440" cy="2651760"/>
          </a:xfrm>
          <a:prstGeom prst="roundRect">
            <a:avLst>
              <a:gd name="adj" fmla="val 3448"/>
            </a:avLst>
          </a:prstGeom>
          <a:solidFill>
            <a:srgbClr val="FFFFFF"/>
          </a:solidFill>
          <a:ln w="12700">
            <a:solidFill>
              <a:srgbClr val="DCE3E6"/>
            </a:solidFill>
            <a:prstDash val="solid"/>
          </a:ln>
        </p:spPr>
      </p:sp>
      <p:sp>
        <p:nvSpPr>
          <p:cNvPr id="15" name="Shape 13"/>
          <p:cNvSpPr/>
          <p:nvPr/>
        </p:nvSpPr>
        <p:spPr>
          <a:xfrm>
            <a:off x="8302752" y="2011680"/>
            <a:ext cx="411480" cy="411480"/>
          </a:xfrm>
          <a:prstGeom prst="ellipse">
            <a:avLst/>
          </a:prstGeom>
          <a:solidFill>
            <a:srgbClr val="E8604C">
              <a:alpha val="80000"/>
            </a:srgbClr>
          </a:solidFill>
          <a:ln w="25400">
            <a:solidFill>
              <a:srgbClr val="E8604C"/>
            </a:solidFill>
            <a:prstDash val="solid"/>
          </a:ln>
        </p:spPr>
      </p:sp>
      <p:sp>
        <p:nvSpPr>
          <p:cNvPr id="16" name="Text 14"/>
          <p:cNvSpPr txBox="1"/>
          <p:nvPr/>
        </p:nvSpPr>
        <p:spPr>
          <a:xfrm>
            <a:off x="8302752" y="2560320"/>
            <a:ext cx="3017520" cy="411480"/>
          </a:xfrm>
          <a:prstGeom prst="rect">
            <a:avLst/>
          </a:prstGeom>
          <a:noFill/>
          <a:ln/>
        </p:spPr>
        <p:txBody>
          <a:bodyPr wrap="square" lIns="0" tIns="0" rIns="0" bIns="0" rtlCol="0" anchor="ctr"/>
          <a:lstStyle/>
          <a:p>
            <a:pPr indent="0" marL="0">
              <a:buNone/>
            </a:pPr>
            <a:r>
              <a:rPr lang="en-US" sz="2200" b="1" dirty="0">
                <a:solidFill>
                  <a:srgbClr val="16232F"/>
                </a:solidFill>
                <a:latin typeface="Cambria" pitchFamily="34" charset="0"/>
                <a:ea typeface="Cambria" pitchFamily="34" charset="-122"/>
                <a:cs typeface="Cambria" pitchFamily="34" charset="-120"/>
              </a:rPr>
              <a:t>Bonnet 2012</a:t>
            </a:r>
            <a:endParaRPr lang="en-US" sz="2200" dirty="0"/>
          </a:p>
        </p:txBody>
      </p:sp>
      <p:sp>
        <p:nvSpPr>
          <p:cNvPr id="17" name="Text 15"/>
          <p:cNvSpPr txBox="1"/>
          <p:nvPr/>
        </p:nvSpPr>
        <p:spPr>
          <a:xfrm>
            <a:off x="8302752" y="2971800"/>
            <a:ext cx="3017520" cy="274320"/>
          </a:xfrm>
          <a:prstGeom prst="rect">
            <a:avLst/>
          </a:prstGeom>
          <a:noFill/>
          <a:ln/>
        </p:spPr>
        <p:txBody>
          <a:bodyPr wrap="square" lIns="0" tIns="0" rIns="0" bIns="0" rtlCol="0" anchor="ctr"/>
          <a:lstStyle/>
          <a:p>
            <a:pPr indent="0" marL="0">
              <a:buNone/>
            </a:pPr>
            <a:r>
              <a:rPr lang="en-US" sz="1200" dirty="0">
                <a:solidFill>
                  <a:srgbClr val="5B6B77"/>
                </a:solidFill>
                <a:latin typeface="Calibri" pitchFamily="34" charset="0"/>
                <a:ea typeface="Calibri" pitchFamily="34" charset="-122"/>
                <a:cs typeface="Calibri" pitchFamily="34" charset="-120"/>
              </a:rPr>
              <a:t>PNAS, Endy lab</a:t>
            </a:r>
            <a:endParaRPr lang="en-US" sz="1200" dirty="0"/>
          </a:p>
        </p:txBody>
      </p:sp>
      <p:sp>
        <p:nvSpPr>
          <p:cNvPr id="18" name="Text 16"/>
          <p:cNvSpPr txBox="1"/>
          <p:nvPr/>
        </p:nvSpPr>
        <p:spPr>
          <a:xfrm>
            <a:off x="8302752" y="3291840"/>
            <a:ext cx="3017520" cy="1097280"/>
          </a:xfrm>
          <a:prstGeom prst="rect">
            <a:avLst/>
          </a:prstGeom>
          <a:noFill/>
          <a:ln/>
        </p:spPr>
        <p:txBody>
          <a:bodyPr wrap="square" lIns="0" tIns="0" rIns="0" bIns="0" rtlCol="0" anchor="ctr"/>
          <a:lstStyle/>
          <a:p>
            <a:pPr indent="0" marL="0">
              <a:buNone/>
            </a:pPr>
            <a:r>
              <a:rPr lang="en-US" sz="1400" dirty="0">
                <a:solidFill>
                  <a:srgbClr val="16232F"/>
                </a:solidFill>
                <a:latin typeface="Calibri" pitchFamily="34" charset="0"/>
                <a:ea typeface="Calibri" pitchFamily="34" charset="-122"/>
                <a:cs typeface="Calibri" pitchFamily="34" charset="-120"/>
              </a:rPr>
              <a:t>Rewritable DNA memory in living cells that lasts over 100 divisions.</a:t>
            </a:r>
            <a:endParaRPr lang="en-US" sz="1400" dirty="0"/>
          </a:p>
        </p:txBody>
      </p:sp>
      <p:sp>
        <p:nvSpPr>
          <p:cNvPr id="19" name="Shape 17"/>
          <p:cNvSpPr/>
          <p:nvPr/>
        </p:nvSpPr>
        <p:spPr>
          <a:xfrm>
            <a:off x="640080" y="4663440"/>
            <a:ext cx="10908792" cy="1371600"/>
          </a:xfrm>
          <a:prstGeom prst="roundRect">
            <a:avLst>
              <a:gd name="adj" fmla="val 6667"/>
            </a:avLst>
          </a:prstGeom>
          <a:solidFill>
            <a:srgbClr val="E3F3F1"/>
          </a:solidFill>
          <a:ln/>
        </p:spPr>
      </p:sp>
      <p:sp>
        <p:nvSpPr>
          <p:cNvPr id="20" name="Text 18"/>
          <p:cNvSpPr txBox="1"/>
          <p:nvPr/>
        </p:nvSpPr>
        <p:spPr>
          <a:xfrm>
            <a:off x="914400" y="4754880"/>
            <a:ext cx="10332720" cy="411480"/>
          </a:xfrm>
          <a:prstGeom prst="rect">
            <a:avLst/>
          </a:prstGeom>
          <a:noFill/>
          <a:ln/>
        </p:spPr>
        <p:txBody>
          <a:bodyPr wrap="square" lIns="0" tIns="0" rIns="0" bIns="0" rtlCol="0" anchor="ctr"/>
          <a:lstStyle/>
          <a:p>
            <a:pPr indent="0" marL="0">
              <a:buNone/>
            </a:pPr>
            <a:r>
              <a:rPr lang="en-US" sz="1800" b="1" dirty="0">
                <a:solidFill>
                  <a:srgbClr val="1C8F84"/>
                </a:solidFill>
                <a:latin typeface="Calibri" pitchFamily="34" charset="0"/>
                <a:ea typeface="Calibri" pitchFamily="34" charset="-122"/>
                <a:cs typeface="Calibri" pitchFamily="34" charset="-120"/>
              </a:rPr>
              <a:t>What we are testing: the whole loop</a:t>
            </a:r>
            <a:endParaRPr lang="en-US" sz="1800" dirty="0"/>
          </a:p>
        </p:txBody>
      </p:sp>
      <p:sp>
        <p:nvSpPr>
          <p:cNvPr id="21" name="Text 19"/>
          <p:cNvSpPr txBox="1"/>
          <p:nvPr/>
        </p:nvSpPr>
        <p:spPr>
          <a:xfrm>
            <a:off x="914400" y="5212080"/>
            <a:ext cx="10332720" cy="777240"/>
          </a:xfrm>
          <a:prstGeom prst="rect">
            <a:avLst/>
          </a:prstGeom>
          <a:noFill/>
          <a:ln/>
        </p:spPr>
        <p:txBody>
          <a:bodyPr wrap="square" lIns="0" tIns="0" rIns="0" bIns="0" rtlCol="0" anchor="ctr"/>
          <a:lstStyle/>
          <a:p>
            <a:pPr indent="0" marL="0">
              <a:buNone/>
            </a:pPr>
            <a:r>
              <a:rPr lang="en-US" sz="1500" dirty="0">
                <a:solidFill>
                  <a:srgbClr val="16232F"/>
                </a:solidFill>
                <a:latin typeface="Calibri" pitchFamily="34" charset="0"/>
                <a:ea typeface="Calibri" pitchFamily="34" charset="-122"/>
                <a:cs typeface="Calibri" pitchFamily="34" charset="-120"/>
              </a:rPr>
              <a:t>Write, damage, the organism notices and reinforces its own state, regrows, and keeps the bit. We claim no advantage over a DNA latch yet. That is what the experiments are for.</a:t>
            </a:r>
            <a:endParaRPr lang="en-US" sz="1500" dirty="0"/>
          </a:p>
        </p:txBody>
      </p:sp>
      <p:sp>
        <p:nvSpPr>
          <p:cNvPr id="23" name="Text 20"/>
          <p:cNvSpPr txBox="1"/>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9AA7AF"/>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640080" y="411480"/>
            <a:ext cx="7315200" cy="320040"/>
          </a:xfrm>
          <a:prstGeom prst="rect">
            <a:avLst/>
          </a:prstGeom>
          <a:noFill/>
          <a:ln/>
        </p:spPr>
        <p:txBody>
          <a:bodyPr wrap="square" lIns="0" tIns="0" rIns="0" bIns="0" rtlCol="0" anchor="ctr"/>
          <a:lstStyle/>
          <a:p>
            <a:pPr indent="0" marL="0">
              <a:buNone/>
            </a:pPr>
            <a:r>
              <a:rPr lang="en-US" sz="1200" b="1" spc="200" kern="0" dirty="0">
                <a:solidFill>
                  <a:srgbClr val="2EC4B6"/>
                </a:solidFill>
                <a:latin typeface="Calibri" pitchFamily="34" charset="0"/>
                <a:ea typeface="Calibri" pitchFamily="34" charset="-122"/>
                <a:cs typeface="Calibri" pitchFamily="34" charset="-120"/>
              </a:rPr>
              <a:t>THE FIRST TEST</a:t>
            </a:r>
            <a:endParaRPr lang="en-US" sz="1200" dirty="0"/>
          </a:p>
        </p:txBody>
      </p:sp>
      <p:sp>
        <p:nvSpPr>
          <p:cNvPr id="3" name="Text 1"/>
          <p:cNvSpPr txBox="1"/>
          <p:nvPr/>
        </p:nvSpPr>
        <p:spPr>
          <a:xfrm>
            <a:off x="640080" y="731520"/>
            <a:ext cx="10881360"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Small, staged, each step a go or no-go</a:t>
            </a:r>
            <a:endParaRPr lang="en-US" sz="3600" dirty="0"/>
          </a:p>
        </p:txBody>
      </p:sp>
      <p:sp>
        <p:nvSpPr>
          <p:cNvPr id="4" name="Shape 2"/>
          <p:cNvSpPr/>
          <p:nvPr/>
        </p:nvSpPr>
        <p:spPr>
          <a:xfrm>
            <a:off x="640080" y="1783080"/>
            <a:ext cx="2606040" cy="2468880"/>
          </a:xfrm>
          <a:prstGeom prst="roundRect">
            <a:avLst>
              <a:gd name="adj" fmla="val 3704"/>
            </a:avLst>
          </a:prstGeom>
          <a:solidFill>
            <a:srgbClr val="132A4D"/>
          </a:solidFill>
          <a:ln w="19050">
            <a:solidFill>
              <a:srgbClr val="2EC4B6"/>
            </a:solidFill>
            <a:prstDash val="solid"/>
          </a:ln>
        </p:spPr>
      </p:sp>
      <p:sp>
        <p:nvSpPr>
          <p:cNvPr id="5" name="Text 3"/>
          <p:cNvSpPr txBox="1"/>
          <p:nvPr/>
        </p:nvSpPr>
        <p:spPr>
          <a:xfrm>
            <a:off x="868680" y="1965960"/>
            <a:ext cx="2194560" cy="457200"/>
          </a:xfrm>
          <a:prstGeom prst="rect">
            <a:avLst/>
          </a:prstGeom>
          <a:noFill/>
          <a:ln/>
        </p:spPr>
        <p:txBody>
          <a:bodyPr wrap="square" lIns="0" tIns="0" rIns="0" bIns="0" rtlCol="0" anchor="ctr"/>
          <a:lstStyle/>
          <a:p>
            <a:pPr indent="0" marL="0">
              <a:buNone/>
            </a:pPr>
            <a:r>
              <a:rPr lang="en-US" sz="2200" b="1" dirty="0">
                <a:solidFill>
                  <a:srgbClr val="2EC4B6"/>
                </a:solidFill>
                <a:latin typeface="Cambria" pitchFamily="34" charset="0"/>
                <a:ea typeface="Cambria" pitchFamily="34" charset="-122"/>
                <a:cs typeface="Cambria" pitchFamily="34" charset="-120"/>
              </a:rPr>
              <a:t>Pilot P0</a:t>
            </a:r>
            <a:endParaRPr lang="en-US" sz="2200" dirty="0"/>
          </a:p>
        </p:txBody>
      </p:sp>
      <p:sp>
        <p:nvSpPr>
          <p:cNvPr id="6" name="Text 4"/>
          <p:cNvSpPr txBox="1"/>
          <p:nvPr/>
        </p:nvSpPr>
        <p:spPr>
          <a:xfrm>
            <a:off x="868680" y="2514600"/>
            <a:ext cx="2194560" cy="1645920"/>
          </a:xfrm>
          <a:prstGeom prst="rect">
            <a:avLst/>
          </a:prstGeom>
          <a:noFill/>
          <a:ln/>
        </p:spPr>
        <p:txBody>
          <a:bodyPr wrap="square" lIns="0" tIns="0" rIns="0" bIns="0" rtlCol="0" anchor="ctr"/>
          <a:lstStyle/>
          <a:p>
            <a:pPr indent="0" marL="0">
              <a:buNone/>
            </a:pPr>
            <a:r>
              <a:rPr lang="en-US" sz="1400" dirty="0">
                <a:solidFill>
                  <a:srgbClr val="C9D6E2"/>
                </a:solidFill>
                <a:latin typeface="Calibri" pitchFamily="34" charset="0"/>
                <a:ea typeface="Calibri" pitchFamily="34" charset="-122"/>
                <a:cs typeface="Calibri" pitchFamily="34" charset="-120"/>
              </a:rPr>
              <a:t>Can this experiment run at all? Build one matched switch. Measure how fast it settles.</a:t>
            </a:r>
            <a:endParaRPr lang="en-US" sz="1400" dirty="0"/>
          </a:p>
        </p:txBody>
      </p:sp>
      <p:sp>
        <p:nvSpPr>
          <p:cNvPr id="7" name="Shape 5"/>
          <p:cNvSpPr/>
          <p:nvPr/>
        </p:nvSpPr>
        <p:spPr>
          <a:xfrm>
            <a:off x="3246120" y="3017520"/>
            <a:ext cx="210312" cy="0"/>
          </a:xfrm>
          <a:prstGeom prst="line">
            <a:avLst/>
          </a:prstGeom>
          <a:noFill/>
          <a:ln w="25400">
            <a:solidFill>
              <a:srgbClr val="C9D6E2"/>
            </a:solidFill>
            <a:prstDash val="solid"/>
            <a:tailEnd type="triangle"/>
          </a:ln>
        </p:spPr>
      </p:sp>
      <p:sp>
        <p:nvSpPr>
          <p:cNvPr id="8" name="Shape 6"/>
          <p:cNvSpPr/>
          <p:nvPr/>
        </p:nvSpPr>
        <p:spPr>
          <a:xfrm>
            <a:off x="3456432" y="1783080"/>
            <a:ext cx="2606040" cy="2468880"/>
          </a:xfrm>
          <a:prstGeom prst="roundRect">
            <a:avLst>
              <a:gd name="adj" fmla="val 3704"/>
            </a:avLst>
          </a:prstGeom>
          <a:solidFill>
            <a:srgbClr val="132A4D"/>
          </a:solidFill>
          <a:ln w="19050">
            <a:solidFill>
              <a:srgbClr val="2EC4B6"/>
            </a:solidFill>
            <a:prstDash val="solid"/>
          </a:ln>
        </p:spPr>
      </p:sp>
      <p:sp>
        <p:nvSpPr>
          <p:cNvPr id="9" name="Text 7"/>
          <p:cNvSpPr txBox="1"/>
          <p:nvPr/>
        </p:nvSpPr>
        <p:spPr>
          <a:xfrm>
            <a:off x="3685032" y="1965960"/>
            <a:ext cx="2194560" cy="457200"/>
          </a:xfrm>
          <a:prstGeom prst="rect">
            <a:avLst/>
          </a:prstGeom>
          <a:noFill/>
          <a:ln/>
        </p:spPr>
        <p:txBody>
          <a:bodyPr wrap="square" lIns="0" tIns="0" rIns="0" bIns="0" rtlCol="0" anchor="ctr"/>
          <a:lstStyle/>
          <a:p>
            <a:pPr indent="0" marL="0">
              <a:buNone/>
            </a:pPr>
            <a:r>
              <a:rPr lang="en-US" sz="2200" b="1" dirty="0">
                <a:solidFill>
                  <a:srgbClr val="2EC4B6"/>
                </a:solidFill>
                <a:latin typeface="Cambria" pitchFamily="34" charset="0"/>
                <a:ea typeface="Cambria" pitchFamily="34" charset="-122"/>
                <a:cs typeface="Cambria" pitchFamily="34" charset="-120"/>
              </a:rPr>
              <a:t>Stage 1a</a:t>
            </a:r>
            <a:endParaRPr lang="en-US" sz="2200" dirty="0"/>
          </a:p>
        </p:txBody>
      </p:sp>
      <p:sp>
        <p:nvSpPr>
          <p:cNvPr id="10" name="Text 8"/>
          <p:cNvSpPr txBox="1"/>
          <p:nvPr/>
        </p:nvSpPr>
        <p:spPr>
          <a:xfrm>
            <a:off x="3685032" y="2514600"/>
            <a:ext cx="2194560" cy="1645920"/>
          </a:xfrm>
          <a:prstGeom prst="rect">
            <a:avLst/>
          </a:prstGeom>
          <a:noFill/>
          <a:ln/>
        </p:spPr>
        <p:txBody>
          <a:bodyPr wrap="square" lIns="0" tIns="0" rIns="0" bIns="0" rtlCol="0" anchor="ctr"/>
          <a:lstStyle/>
          <a:p>
            <a:pPr indent="0" marL="0">
              <a:buNone/>
            </a:pPr>
            <a:r>
              <a:rPr lang="en-US" sz="1400" dirty="0">
                <a:solidFill>
                  <a:srgbClr val="C9D6E2"/>
                </a:solidFill>
                <a:latin typeface="Calibri" pitchFamily="34" charset="0"/>
                <a:ea typeface="Calibri" pitchFamily="34" charset="-122"/>
                <a:cs typeface="Calibri" pitchFamily="34" charset="-120"/>
              </a:rPr>
              <a:t>Does it switch? A real switch remembers its history. A mismatched control should not.</a:t>
            </a:r>
            <a:endParaRPr lang="en-US" sz="1400" dirty="0"/>
          </a:p>
        </p:txBody>
      </p:sp>
      <p:sp>
        <p:nvSpPr>
          <p:cNvPr id="11" name="Shape 9"/>
          <p:cNvSpPr/>
          <p:nvPr/>
        </p:nvSpPr>
        <p:spPr>
          <a:xfrm>
            <a:off x="6062472" y="3017520"/>
            <a:ext cx="210312" cy="0"/>
          </a:xfrm>
          <a:prstGeom prst="line">
            <a:avLst/>
          </a:prstGeom>
          <a:noFill/>
          <a:ln w="25400">
            <a:solidFill>
              <a:srgbClr val="C9D6E2"/>
            </a:solidFill>
            <a:prstDash val="solid"/>
            <a:tailEnd type="triangle"/>
          </a:ln>
        </p:spPr>
      </p:sp>
      <p:sp>
        <p:nvSpPr>
          <p:cNvPr id="12" name="Shape 10"/>
          <p:cNvSpPr/>
          <p:nvPr/>
        </p:nvSpPr>
        <p:spPr>
          <a:xfrm>
            <a:off x="6272784" y="1783080"/>
            <a:ext cx="2606040" cy="2468880"/>
          </a:xfrm>
          <a:prstGeom prst="roundRect">
            <a:avLst>
              <a:gd name="adj" fmla="val 3704"/>
            </a:avLst>
          </a:prstGeom>
          <a:solidFill>
            <a:srgbClr val="132A4D"/>
          </a:solidFill>
          <a:ln w="19050">
            <a:solidFill>
              <a:srgbClr val="E8A33D"/>
            </a:solidFill>
            <a:prstDash val="solid"/>
          </a:ln>
        </p:spPr>
      </p:sp>
      <p:sp>
        <p:nvSpPr>
          <p:cNvPr id="13" name="Text 11"/>
          <p:cNvSpPr txBox="1"/>
          <p:nvPr/>
        </p:nvSpPr>
        <p:spPr>
          <a:xfrm>
            <a:off x="6501384" y="1965960"/>
            <a:ext cx="2194560" cy="457200"/>
          </a:xfrm>
          <a:prstGeom prst="rect">
            <a:avLst/>
          </a:prstGeom>
          <a:noFill/>
          <a:ln/>
        </p:spPr>
        <p:txBody>
          <a:bodyPr wrap="square" lIns="0" tIns="0" rIns="0" bIns="0" rtlCol="0" anchor="ctr"/>
          <a:lstStyle/>
          <a:p>
            <a:pPr indent="0" marL="0">
              <a:buNone/>
            </a:pPr>
            <a:r>
              <a:rPr lang="en-US" sz="2200" b="1" dirty="0">
                <a:solidFill>
                  <a:srgbClr val="E8A33D"/>
                </a:solidFill>
                <a:latin typeface="Cambria" pitchFamily="34" charset="0"/>
                <a:ea typeface="Cambria" pitchFamily="34" charset="-122"/>
                <a:cs typeface="Cambria" pitchFamily="34" charset="-120"/>
              </a:rPr>
              <a:t>Stage 1b</a:t>
            </a:r>
            <a:endParaRPr lang="en-US" sz="2200" dirty="0"/>
          </a:p>
        </p:txBody>
      </p:sp>
      <p:sp>
        <p:nvSpPr>
          <p:cNvPr id="14" name="Text 12"/>
          <p:cNvSpPr txBox="1"/>
          <p:nvPr/>
        </p:nvSpPr>
        <p:spPr>
          <a:xfrm>
            <a:off x="6501384" y="2514600"/>
            <a:ext cx="2194560" cy="1645920"/>
          </a:xfrm>
          <a:prstGeom prst="rect">
            <a:avLst/>
          </a:prstGeom>
          <a:noFill/>
          <a:ln/>
        </p:spPr>
        <p:txBody>
          <a:bodyPr wrap="square" lIns="0" tIns="0" rIns="0" bIns="0" rtlCol="0" anchor="ctr"/>
          <a:lstStyle/>
          <a:p>
            <a:pPr indent="0" marL="0">
              <a:buNone/>
            </a:pPr>
            <a:r>
              <a:rPr lang="en-US" sz="1400" dirty="0">
                <a:solidFill>
                  <a:srgbClr val="C9D6E2"/>
                </a:solidFill>
                <a:latin typeface="Calibri" pitchFamily="34" charset="0"/>
                <a:ea typeface="Calibri" pitchFamily="34" charset="-122"/>
                <a:cs typeface="Calibri" pitchFamily="34" charset="-120"/>
              </a:rPr>
              <a:t>Does it hold? 72 hour run, growth race against plain cells, spore check.</a:t>
            </a:r>
            <a:endParaRPr lang="en-US" sz="1400" dirty="0"/>
          </a:p>
        </p:txBody>
      </p:sp>
      <p:sp>
        <p:nvSpPr>
          <p:cNvPr id="15" name="Shape 13"/>
          <p:cNvSpPr/>
          <p:nvPr/>
        </p:nvSpPr>
        <p:spPr>
          <a:xfrm>
            <a:off x="8878824" y="3017520"/>
            <a:ext cx="210312" cy="0"/>
          </a:xfrm>
          <a:prstGeom prst="line">
            <a:avLst/>
          </a:prstGeom>
          <a:noFill/>
          <a:ln w="25400">
            <a:solidFill>
              <a:srgbClr val="C9D6E2"/>
            </a:solidFill>
            <a:prstDash val="solid"/>
            <a:tailEnd type="triangle"/>
          </a:ln>
        </p:spPr>
      </p:sp>
      <p:sp>
        <p:nvSpPr>
          <p:cNvPr id="16" name="Shape 14"/>
          <p:cNvSpPr/>
          <p:nvPr/>
        </p:nvSpPr>
        <p:spPr>
          <a:xfrm>
            <a:off x="9089136" y="1783080"/>
            <a:ext cx="2606040" cy="2468880"/>
          </a:xfrm>
          <a:prstGeom prst="roundRect">
            <a:avLst>
              <a:gd name="adj" fmla="val 3704"/>
            </a:avLst>
          </a:prstGeom>
          <a:solidFill>
            <a:srgbClr val="132A4D"/>
          </a:solidFill>
          <a:ln w="19050">
            <a:solidFill>
              <a:srgbClr val="E8604C"/>
            </a:solidFill>
            <a:prstDash val="solid"/>
          </a:ln>
        </p:spPr>
      </p:sp>
      <p:sp>
        <p:nvSpPr>
          <p:cNvPr id="17" name="Text 15"/>
          <p:cNvSpPr txBox="1"/>
          <p:nvPr/>
        </p:nvSpPr>
        <p:spPr>
          <a:xfrm>
            <a:off x="9317736" y="1965960"/>
            <a:ext cx="2194560" cy="457200"/>
          </a:xfrm>
          <a:prstGeom prst="rect">
            <a:avLst/>
          </a:prstGeom>
          <a:noFill/>
          <a:ln/>
        </p:spPr>
        <p:txBody>
          <a:bodyPr wrap="square" lIns="0" tIns="0" rIns="0" bIns="0" rtlCol="0" anchor="ctr"/>
          <a:lstStyle/>
          <a:p>
            <a:pPr indent="0" marL="0">
              <a:buNone/>
            </a:pPr>
            <a:r>
              <a:rPr lang="en-US" sz="2200" b="1" dirty="0">
                <a:solidFill>
                  <a:srgbClr val="E8604C"/>
                </a:solidFill>
                <a:latin typeface="Cambria" pitchFamily="34" charset="0"/>
                <a:ea typeface="Cambria" pitchFamily="34" charset="-122"/>
                <a:cs typeface="Cambria" pitchFamily="34" charset="-120"/>
              </a:rPr>
              <a:t>Experiment 3</a:t>
            </a:r>
            <a:endParaRPr lang="en-US" sz="2200" dirty="0"/>
          </a:p>
        </p:txBody>
      </p:sp>
      <p:sp>
        <p:nvSpPr>
          <p:cNvPr id="18" name="Text 16"/>
          <p:cNvSpPr txBox="1"/>
          <p:nvPr/>
        </p:nvSpPr>
        <p:spPr>
          <a:xfrm>
            <a:off x="9317736" y="2514600"/>
            <a:ext cx="2194560" cy="1645920"/>
          </a:xfrm>
          <a:prstGeom prst="rect">
            <a:avLst/>
          </a:prstGeom>
          <a:noFill/>
          <a:ln/>
        </p:spPr>
        <p:txBody>
          <a:bodyPr wrap="square" lIns="0" tIns="0" rIns="0" bIns="0" rtlCol="0" anchor="ctr"/>
          <a:lstStyle/>
          <a:p>
            <a:pPr indent="0" marL="0">
              <a:buNone/>
            </a:pPr>
            <a:r>
              <a:rPr lang="en-US" sz="1400" dirty="0">
                <a:solidFill>
                  <a:srgbClr val="C9D6E2"/>
                </a:solidFill>
                <a:latin typeface="Calibri" pitchFamily="34" charset="0"/>
                <a:ea typeface="Calibri" pitchFamily="34" charset="-122"/>
                <a:cs typeface="Calibri" pitchFamily="34" charset="-120"/>
              </a:rPr>
              <a:t>Damage and regrowth. The real test of the idea.</a:t>
            </a:r>
            <a:endParaRPr lang="en-US" sz="1400" dirty="0"/>
          </a:p>
        </p:txBody>
      </p:sp>
      <p:sp>
        <p:nvSpPr>
          <p:cNvPr id="19" name="Text 17"/>
          <p:cNvSpPr txBox="1"/>
          <p:nvPr/>
        </p:nvSpPr>
        <p:spPr>
          <a:xfrm>
            <a:off x="640080" y="4572000"/>
            <a:ext cx="3520440" cy="1097280"/>
          </a:xfrm>
          <a:prstGeom prst="rect">
            <a:avLst/>
          </a:prstGeom>
          <a:noFill/>
          <a:ln/>
        </p:spPr>
        <p:txBody>
          <a:bodyPr wrap="square" lIns="0" tIns="0" rIns="0" bIns="0" rtlCol="0" anchor="t"/>
          <a:lstStyle/>
          <a:p>
            <a:pPr indent="0" marL="0">
              <a:buNone/>
            </a:pPr>
            <a:r>
              <a:rPr lang="en-US" sz="1400" b="1" dirty="0">
                <a:solidFill>
                  <a:srgbClr val="2EC4B6"/>
                </a:solidFill>
                <a:latin typeface="Calibri" pitchFamily="34" charset="0"/>
                <a:ea typeface="Calibri" pitchFamily="34" charset="-122"/>
                <a:cs typeface="Calibri" pitchFamily="34" charset="-120"/>
              </a:rPr>
              <a:t>Read  </a:t>
            </a:r>
            <a:pPr indent="0" marL="0">
              <a:buNone/>
            </a:pPr>
            <a:r>
              <a:rPr lang="en-US" sz="1400" dirty="0">
                <a:solidFill>
                  <a:srgbClr val="C9D6E2"/>
                </a:solidFill>
                <a:latin typeface="Calibri" pitchFamily="34" charset="0"/>
                <a:ea typeface="Calibri" pitchFamily="34" charset="-122"/>
                <a:cs typeface="Calibri" pitchFamily="34" charset="-120"/>
              </a:rPr>
              <a:t>Flow cytometry, single cells, two colours</a:t>
            </a:r>
            <a:endParaRPr lang="en-US" sz="1400" dirty="0"/>
          </a:p>
        </p:txBody>
      </p:sp>
      <p:sp>
        <p:nvSpPr>
          <p:cNvPr id="20" name="Text 18"/>
          <p:cNvSpPr txBox="1"/>
          <p:nvPr/>
        </p:nvSpPr>
        <p:spPr>
          <a:xfrm>
            <a:off x="4334256" y="4572000"/>
            <a:ext cx="3520440" cy="1097280"/>
          </a:xfrm>
          <a:prstGeom prst="rect">
            <a:avLst/>
          </a:prstGeom>
          <a:noFill/>
          <a:ln/>
        </p:spPr>
        <p:txBody>
          <a:bodyPr wrap="square" lIns="0" tIns="0" rIns="0" bIns="0" rtlCol="0" anchor="t"/>
          <a:lstStyle/>
          <a:p>
            <a:pPr indent="0" marL="0">
              <a:buNone/>
            </a:pPr>
            <a:r>
              <a:rPr lang="en-US" sz="1400" b="1" dirty="0">
                <a:solidFill>
                  <a:srgbClr val="2EC4B6"/>
                </a:solidFill>
                <a:latin typeface="Calibri" pitchFamily="34" charset="0"/>
                <a:ea typeface="Calibri" pitchFamily="34" charset="-122"/>
                <a:cs typeface="Calibri" pitchFamily="34" charset="-120"/>
              </a:rPr>
              <a:t>Pass rule  </a:t>
            </a:r>
            <a:pPr indent="0" marL="0">
              <a:buNone/>
            </a:pPr>
            <a:r>
              <a:rPr lang="en-US" sz="1400" dirty="0">
                <a:solidFill>
                  <a:srgbClr val="C9D6E2"/>
                </a:solidFill>
                <a:latin typeface="Calibri" pitchFamily="34" charset="0"/>
                <a:ea typeface="Calibri" pitchFamily="34" charset="-122"/>
                <a:cs typeface="Calibri" pitchFamily="34" charset="-120"/>
              </a:rPr>
              <a:t>Written before any data is seen</a:t>
            </a:r>
            <a:endParaRPr lang="en-US" sz="1400" dirty="0"/>
          </a:p>
        </p:txBody>
      </p:sp>
      <p:sp>
        <p:nvSpPr>
          <p:cNvPr id="21" name="Text 19"/>
          <p:cNvSpPr txBox="1"/>
          <p:nvPr/>
        </p:nvSpPr>
        <p:spPr>
          <a:xfrm>
            <a:off x="8028432" y="4572000"/>
            <a:ext cx="3520440" cy="1097280"/>
          </a:xfrm>
          <a:prstGeom prst="rect">
            <a:avLst/>
          </a:prstGeom>
          <a:noFill/>
          <a:ln/>
        </p:spPr>
        <p:txBody>
          <a:bodyPr wrap="square" lIns="0" tIns="0" rIns="0" bIns="0" rtlCol="0" anchor="t"/>
          <a:lstStyle/>
          <a:p>
            <a:pPr indent="0" marL="0">
              <a:buNone/>
            </a:pPr>
            <a:r>
              <a:rPr lang="en-US" sz="1400" b="1" dirty="0">
                <a:solidFill>
                  <a:srgbClr val="2EC4B6"/>
                </a:solidFill>
                <a:latin typeface="Calibri" pitchFamily="34" charset="0"/>
                <a:ea typeface="Calibri" pitchFamily="34" charset="-122"/>
                <a:cs typeface="Calibri" pitchFamily="34" charset="-120"/>
              </a:rPr>
              <a:t>Cost  </a:t>
            </a:r>
            <a:pPr indent="0" marL="0">
              <a:buNone/>
            </a:pPr>
            <a:r>
              <a:rPr lang="en-US" sz="1400" dirty="0">
                <a:solidFill>
                  <a:srgbClr val="C9D6E2"/>
                </a:solidFill>
                <a:latin typeface="Calibri" pitchFamily="34" charset="0"/>
                <a:ea typeface="Calibri" pitchFamily="34" charset="-122"/>
                <a:cs typeface="Calibri" pitchFamily="34" charset="-120"/>
              </a:rPr>
              <a:t>Planning estimate $2K to $5K, now a floor. No lab has quoted it.</a:t>
            </a:r>
            <a:endParaRPr lang="en-US" sz="1400" dirty="0"/>
          </a:p>
        </p:txBody>
      </p:sp>
      <p:sp>
        <p:nvSpPr>
          <p:cNvPr id="22" name="Text 20"/>
          <p:cNvSpPr txBox="1"/>
          <p:nvPr/>
        </p:nvSpPr>
        <p:spPr>
          <a:xfrm>
            <a:off x="640080" y="6263640"/>
            <a:ext cx="10515600" cy="365760"/>
          </a:xfrm>
          <a:prstGeom prst="rect">
            <a:avLst/>
          </a:prstGeom>
          <a:noFill/>
          <a:ln/>
        </p:spPr>
        <p:txBody>
          <a:bodyPr wrap="square" lIns="0" tIns="0" rIns="0" bIns="0" rtlCol="0" anchor="ctr"/>
          <a:lstStyle/>
          <a:p>
            <a:pPr indent="0" marL="0">
              <a:buNone/>
            </a:pPr>
            <a:r>
              <a:rPr lang="en-US" sz="1100" i="1" dirty="0">
                <a:solidFill>
                  <a:srgbClr val="8EA0B3"/>
                </a:solidFill>
                <a:latin typeface="Calibri" pitchFamily="34" charset="0"/>
                <a:ea typeface="Calibri" pitchFamily="34" charset="-122"/>
                <a:cs typeface="Calibri" pitchFamily="34" charset="-120"/>
              </a:rPr>
              <a:t>Fail early and cheaply. If P0 or 1a fails, we stop before the expensive stages.</a:t>
            </a:r>
            <a:endParaRPr lang="en-US" sz="1100" dirty="0"/>
          </a:p>
        </p:txBody>
      </p:sp>
      <p:sp>
        <p:nvSpPr>
          <p:cNvPr id="24" name="Text 21"/>
          <p:cNvSpPr txBox="1"/>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6E7F91"/>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7"/>
        </a:solidFill>
      </p:bgPr>
    </p:bg>
    <p:spTree>
      <p:nvGrpSpPr>
        <p:cNvPr id="1" name=""/>
        <p:cNvGrpSpPr/>
        <p:nvPr/>
      </p:nvGrpSpPr>
      <p:grpSpPr>
        <a:xfrm>
          <a:off x="0" y="0"/>
          <a:ext cx="0" cy="0"/>
          <a:chOff x="0" y="0"/>
          <a:chExt cx="0" cy="0"/>
        </a:xfrm>
      </p:grpSpPr>
      <p:sp>
        <p:nvSpPr>
          <p:cNvPr id="2" name="Text 0"/>
          <p:cNvSpPr txBox="1"/>
          <p:nvPr/>
        </p:nvSpPr>
        <p:spPr>
          <a:xfrm>
            <a:off x="640080" y="411480"/>
            <a:ext cx="7315200" cy="320040"/>
          </a:xfrm>
          <a:prstGeom prst="rect">
            <a:avLst/>
          </a:prstGeom>
          <a:noFill/>
          <a:ln/>
        </p:spPr>
        <p:txBody>
          <a:bodyPr wrap="square" lIns="0" tIns="0" rIns="0" bIns="0" rtlCol="0" anchor="ctr"/>
          <a:lstStyle/>
          <a:p>
            <a:pPr indent="0" marL="0">
              <a:buNone/>
            </a:pPr>
            <a:r>
              <a:rPr lang="en-US" sz="1200" b="1" spc="200" kern="0" dirty="0">
                <a:solidFill>
                  <a:srgbClr val="1C8F84"/>
                </a:solidFill>
                <a:latin typeface="Calibri" pitchFamily="34" charset="0"/>
                <a:ea typeface="Calibri" pitchFamily="34" charset="-122"/>
                <a:cs typeface="Calibri" pitchFamily="34" charset="-120"/>
              </a:rPr>
              <a:t>WHAT WE NEED</a:t>
            </a:r>
            <a:endParaRPr lang="en-US" sz="1200" dirty="0"/>
          </a:p>
        </p:txBody>
      </p:sp>
      <p:sp>
        <p:nvSpPr>
          <p:cNvPr id="3" name="Text 1"/>
          <p:cNvSpPr txBox="1"/>
          <p:nvPr/>
        </p:nvSpPr>
        <p:spPr>
          <a:xfrm>
            <a:off x="640080" y="731520"/>
            <a:ext cx="10881360" cy="777240"/>
          </a:xfrm>
          <a:prstGeom prst="rect">
            <a:avLst/>
          </a:prstGeom>
          <a:noFill/>
          <a:ln/>
        </p:spPr>
        <p:txBody>
          <a:bodyPr wrap="square" lIns="0" tIns="0" rIns="0" bIns="0" rtlCol="0" anchor="ctr"/>
          <a:lstStyle/>
          <a:p>
            <a:pPr indent="0" marL="0">
              <a:buNone/>
            </a:pPr>
            <a:r>
              <a:rPr lang="en-US" sz="3600" b="1" dirty="0">
                <a:solidFill>
                  <a:srgbClr val="16232F"/>
                </a:solidFill>
                <a:latin typeface="Cambria" pitchFamily="34" charset="0"/>
                <a:ea typeface="Cambria" pitchFamily="34" charset="-122"/>
                <a:cs typeface="Cambria" pitchFamily="34" charset="-120"/>
              </a:rPr>
              <a:t>Help running the test that replaces our simulations</a:t>
            </a:r>
            <a:endParaRPr lang="en-US" sz="3600" dirty="0"/>
          </a:p>
        </p:txBody>
      </p:sp>
      <p:sp>
        <p:nvSpPr>
          <p:cNvPr id="4" name="Shape 2"/>
          <p:cNvSpPr/>
          <p:nvPr/>
        </p:nvSpPr>
        <p:spPr>
          <a:xfrm>
            <a:off x="640080" y="2011680"/>
            <a:ext cx="3520440" cy="2286000"/>
          </a:xfrm>
          <a:prstGeom prst="roundRect">
            <a:avLst>
              <a:gd name="adj" fmla="val 4000"/>
            </a:avLst>
          </a:prstGeom>
          <a:solidFill>
            <a:srgbClr val="FFFFFF"/>
          </a:solidFill>
          <a:ln w="12700">
            <a:solidFill>
              <a:srgbClr val="DCE3E6"/>
            </a:solidFill>
            <a:prstDash val="solid"/>
          </a:ln>
        </p:spPr>
      </p:sp>
      <p:sp>
        <p:nvSpPr>
          <p:cNvPr id="5" name="Shape 3"/>
          <p:cNvSpPr/>
          <p:nvPr/>
        </p:nvSpPr>
        <p:spPr>
          <a:xfrm>
            <a:off x="914400" y="2240280"/>
            <a:ext cx="502920" cy="502920"/>
          </a:xfrm>
          <a:prstGeom prst="ellipse">
            <a:avLst/>
          </a:prstGeom>
          <a:solidFill>
            <a:srgbClr val="1C8F84"/>
          </a:solidFill>
          <a:ln/>
        </p:spPr>
      </p:sp>
      <p:sp>
        <p:nvSpPr>
          <p:cNvPr id="6" name="Text 4"/>
          <p:cNvSpPr txBox="1"/>
          <p:nvPr/>
        </p:nvSpPr>
        <p:spPr>
          <a:xfrm>
            <a:off x="914400" y="22402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914400" y="2926080"/>
            <a:ext cx="3017520" cy="457200"/>
          </a:xfrm>
          <a:prstGeom prst="rect">
            <a:avLst/>
          </a:prstGeom>
          <a:noFill/>
          <a:ln/>
        </p:spPr>
        <p:txBody>
          <a:bodyPr wrap="square" lIns="0" tIns="0" rIns="0" bIns="0" rtlCol="0" anchor="ctr"/>
          <a:lstStyle/>
          <a:p>
            <a:pPr indent="0" marL="0">
              <a:buNone/>
            </a:pPr>
            <a:r>
              <a:rPr lang="en-US" sz="2200" b="1" dirty="0">
                <a:solidFill>
                  <a:srgbClr val="16232F"/>
                </a:solidFill>
                <a:latin typeface="Cambria" pitchFamily="34" charset="0"/>
                <a:ea typeface="Cambria" pitchFamily="34" charset="-122"/>
                <a:cs typeface="Cambria" pitchFamily="34" charset="-120"/>
              </a:rPr>
              <a:t>A lab partner</a:t>
            </a:r>
            <a:endParaRPr lang="en-US" sz="2200" dirty="0"/>
          </a:p>
        </p:txBody>
      </p:sp>
      <p:sp>
        <p:nvSpPr>
          <p:cNvPr id="8" name="Text 6"/>
          <p:cNvSpPr txBox="1"/>
          <p:nvPr/>
        </p:nvSpPr>
        <p:spPr>
          <a:xfrm>
            <a:off x="914400" y="3429000"/>
            <a:ext cx="3017520" cy="822960"/>
          </a:xfrm>
          <a:prstGeom prst="rect">
            <a:avLst/>
          </a:prstGeom>
          <a:noFill/>
          <a:ln/>
        </p:spPr>
        <p:txBody>
          <a:bodyPr wrap="square" lIns="0" tIns="0" rIns="0" bIns="0" rtlCol="0" anchor="ctr"/>
          <a:lstStyle/>
          <a:p>
            <a:pPr indent="0" marL="0">
              <a:buNone/>
            </a:pPr>
            <a:r>
              <a:rPr lang="en-US" sz="1400" dirty="0">
                <a:solidFill>
                  <a:srgbClr val="5B6B77"/>
                </a:solidFill>
                <a:latin typeface="Calibri" pitchFamily="34" charset="0"/>
                <a:ea typeface="Calibri" pitchFamily="34" charset="-122"/>
                <a:cs typeface="Calibri" pitchFamily="34" charset="-120"/>
              </a:rPr>
              <a:t>to run the pilot and Stage 1a. We cannot run it ourselves.</a:t>
            </a:r>
            <a:endParaRPr lang="en-US" sz="1400" dirty="0"/>
          </a:p>
        </p:txBody>
      </p:sp>
      <p:sp>
        <p:nvSpPr>
          <p:cNvPr id="9" name="Shape 7"/>
          <p:cNvSpPr/>
          <p:nvPr/>
        </p:nvSpPr>
        <p:spPr>
          <a:xfrm>
            <a:off x="4334256" y="2011680"/>
            <a:ext cx="3520440" cy="2286000"/>
          </a:xfrm>
          <a:prstGeom prst="roundRect">
            <a:avLst>
              <a:gd name="adj" fmla="val 4000"/>
            </a:avLst>
          </a:prstGeom>
          <a:solidFill>
            <a:srgbClr val="FFFFFF"/>
          </a:solidFill>
          <a:ln w="12700">
            <a:solidFill>
              <a:srgbClr val="DCE3E6"/>
            </a:solidFill>
            <a:prstDash val="solid"/>
          </a:ln>
        </p:spPr>
      </p:sp>
      <p:sp>
        <p:nvSpPr>
          <p:cNvPr id="10" name="Shape 8"/>
          <p:cNvSpPr/>
          <p:nvPr/>
        </p:nvSpPr>
        <p:spPr>
          <a:xfrm>
            <a:off x="4608576" y="2240280"/>
            <a:ext cx="502920" cy="502920"/>
          </a:xfrm>
          <a:prstGeom prst="ellipse">
            <a:avLst/>
          </a:prstGeom>
          <a:solidFill>
            <a:srgbClr val="1C8F84"/>
          </a:solidFill>
          <a:ln/>
        </p:spPr>
      </p:sp>
      <p:sp>
        <p:nvSpPr>
          <p:cNvPr id="11" name="Text 9"/>
          <p:cNvSpPr txBox="1"/>
          <p:nvPr/>
        </p:nvSpPr>
        <p:spPr>
          <a:xfrm>
            <a:off x="4608576" y="22402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txBox="1"/>
          <p:nvPr/>
        </p:nvSpPr>
        <p:spPr>
          <a:xfrm>
            <a:off x="4608576" y="2926080"/>
            <a:ext cx="3017520" cy="457200"/>
          </a:xfrm>
          <a:prstGeom prst="rect">
            <a:avLst/>
          </a:prstGeom>
          <a:noFill/>
          <a:ln/>
        </p:spPr>
        <p:txBody>
          <a:bodyPr wrap="square" lIns="0" tIns="0" rIns="0" bIns="0" rtlCol="0" anchor="ctr"/>
          <a:lstStyle/>
          <a:p>
            <a:pPr indent="0" marL="0">
              <a:buNone/>
            </a:pPr>
            <a:r>
              <a:rPr lang="en-US" sz="2200" b="1" dirty="0">
                <a:solidFill>
                  <a:srgbClr val="16232F"/>
                </a:solidFill>
                <a:latin typeface="Cambria" pitchFamily="34" charset="0"/>
                <a:ea typeface="Cambria" pitchFamily="34" charset="-122"/>
                <a:cs typeface="Cambria" pitchFamily="34" charset="-120"/>
              </a:rPr>
              <a:t>A synthetic biologist</a:t>
            </a:r>
            <a:endParaRPr lang="en-US" sz="2200" dirty="0"/>
          </a:p>
        </p:txBody>
      </p:sp>
      <p:sp>
        <p:nvSpPr>
          <p:cNvPr id="13" name="Text 11"/>
          <p:cNvSpPr txBox="1"/>
          <p:nvPr/>
        </p:nvSpPr>
        <p:spPr>
          <a:xfrm>
            <a:off x="4608576" y="3429000"/>
            <a:ext cx="3017520" cy="822960"/>
          </a:xfrm>
          <a:prstGeom prst="rect">
            <a:avLst/>
          </a:prstGeom>
          <a:noFill/>
          <a:ln/>
        </p:spPr>
        <p:txBody>
          <a:bodyPr wrap="square" lIns="0" tIns="0" rIns="0" bIns="0" rtlCol="0" anchor="ctr"/>
          <a:lstStyle/>
          <a:p>
            <a:pPr indent="0" marL="0">
              <a:buNone/>
            </a:pPr>
            <a:r>
              <a:rPr lang="en-US" sz="1400" dirty="0">
                <a:solidFill>
                  <a:srgbClr val="5B6B77"/>
                </a:solidFill>
                <a:latin typeface="Calibri" pitchFamily="34" charset="0"/>
                <a:ea typeface="Calibri" pitchFamily="34" charset="-122"/>
                <a:cs typeface="Calibri" pitchFamily="34" charset="-120"/>
              </a:rPr>
              <a:t>to review our protocol and tell us where it is naive.</a:t>
            </a:r>
            <a:endParaRPr lang="en-US" sz="1400" dirty="0"/>
          </a:p>
        </p:txBody>
      </p:sp>
      <p:sp>
        <p:nvSpPr>
          <p:cNvPr id="14" name="Shape 12"/>
          <p:cNvSpPr/>
          <p:nvPr/>
        </p:nvSpPr>
        <p:spPr>
          <a:xfrm>
            <a:off x="8028432" y="2011680"/>
            <a:ext cx="3520440" cy="2286000"/>
          </a:xfrm>
          <a:prstGeom prst="roundRect">
            <a:avLst>
              <a:gd name="adj" fmla="val 4000"/>
            </a:avLst>
          </a:prstGeom>
          <a:solidFill>
            <a:srgbClr val="FFFFFF"/>
          </a:solidFill>
          <a:ln w="12700">
            <a:solidFill>
              <a:srgbClr val="DCE3E6"/>
            </a:solidFill>
            <a:prstDash val="solid"/>
          </a:ln>
        </p:spPr>
      </p:sp>
      <p:sp>
        <p:nvSpPr>
          <p:cNvPr id="15" name="Shape 13"/>
          <p:cNvSpPr/>
          <p:nvPr/>
        </p:nvSpPr>
        <p:spPr>
          <a:xfrm>
            <a:off x="8302752" y="2240280"/>
            <a:ext cx="502920" cy="502920"/>
          </a:xfrm>
          <a:prstGeom prst="ellipse">
            <a:avLst/>
          </a:prstGeom>
          <a:solidFill>
            <a:srgbClr val="1C8F84"/>
          </a:solidFill>
          <a:ln/>
        </p:spPr>
      </p:sp>
      <p:sp>
        <p:nvSpPr>
          <p:cNvPr id="16" name="Text 14"/>
          <p:cNvSpPr txBox="1"/>
          <p:nvPr/>
        </p:nvSpPr>
        <p:spPr>
          <a:xfrm>
            <a:off x="8302752" y="22402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txBox="1"/>
          <p:nvPr/>
        </p:nvSpPr>
        <p:spPr>
          <a:xfrm>
            <a:off x="8302752" y="2926080"/>
            <a:ext cx="3017520" cy="457200"/>
          </a:xfrm>
          <a:prstGeom prst="rect">
            <a:avLst/>
          </a:prstGeom>
          <a:noFill/>
          <a:ln/>
        </p:spPr>
        <p:txBody>
          <a:bodyPr wrap="square" lIns="0" tIns="0" rIns="0" bIns="0" rtlCol="0" anchor="ctr"/>
          <a:lstStyle/>
          <a:p>
            <a:pPr indent="0" marL="0">
              <a:buNone/>
            </a:pPr>
            <a:r>
              <a:rPr lang="en-US" sz="2200" b="1" dirty="0">
                <a:solidFill>
                  <a:srgbClr val="16232F"/>
                </a:solidFill>
                <a:latin typeface="Cambria" pitchFamily="34" charset="0"/>
                <a:ea typeface="Cambria" pitchFamily="34" charset="-122"/>
                <a:cs typeface="Cambria" pitchFamily="34" charset="-120"/>
              </a:rPr>
              <a:t>Grant help</a:t>
            </a:r>
            <a:endParaRPr lang="en-US" sz="2200" dirty="0"/>
          </a:p>
        </p:txBody>
      </p:sp>
      <p:sp>
        <p:nvSpPr>
          <p:cNvPr id="18" name="Text 16"/>
          <p:cNvSpPr txBox="1"/>
          <p:nvPr/>
        </p:nvSpPr>
        <p:spPr>
          <a:xfrm>
            <a:off x="8302752" y="3429000"/>
            <a:ext cx="3017520" cy="822960"/>
          </a:xfrm>
          <a:prstGeom prst="rect">
            <a:avLst/>
          </a:prstGeom>
          <a:noFill/>
          <a:ln/>
        </p:spPr>
        <p:txBody>
          <a:bodyPr wrap="square" lIns="0" tIns="0" rIns="0" bIns="0" rtlCol="0" anchor="ctr"/>
          <a:lstStyle/>
          <a:p>
            <a:pPr indent="0" marL="0">
              <a:buNone/>
            </a:pPr>
            <a:r>
              <a:rPr lang="en-US" sz="1400" dirty="0">
                <a:solidFill>
                  <a:srgbClr val="5B6B77"/>
                </a:solidFill>
                <a:latin typeface="Calibri" pitchFamily="34" charset="0"/>
                <a:ea typeface="Calibri" pitchFamily="34" charset="-122"/>
                <a:cs typeface="Calibri" pitchFamily="34" charset="-120"/>
              </a:rPr>
              <a:t>with the first grant. This is too early for investors, and we know it.</a:t>
            </a:r>
            <a:endParaRPr lang="en-US" sz="1400" dirty="0"/>
          </a:p>
        </p:txBody>
      </p:sp>
      <p:sp>
        <p:nvSpPr>
          <p:cNvPr id="19" name="Shape 17"/>
          <p:cNvSpPr/>
          <p:nvPr/>
        </p:nvSpPr>
        <p:spPr>
          <a:xfrm>
            <a:off x="640080" y="4663440"/>
            <a:ext cx="10908792" cy="1280160"/>
          </a:xfrm>
          <a:prstGeom prst="roundRect">
            <a:avLst>
              <a:gd name="adj" fmla="val 7143"/>
            </a:avLst>
          </a:prstGeom>
          <a:solidFill>
            <a:srgbClr val="0B1F3A"/>
          </a:solidFill>
          <a:ln/>
        </p:spPr>
      </p:sp>
      <p:sp>
        <p:nvSpPr>
          <p:cNvPr id="20" name="Text 18"/>
          <p:cNvSpPr txBox="1"/>
          <p:nvPr/>
        </p:nvSpPr>
        <p:spPr>
          <a:xfrm>
            <a:off x="914400" y="4663440"/>
            <a:ext cx="10332720" cy="128016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Do not trust our simulations. Help us run the test that replaces them.</a:t>
            </a:r>
            <a:endParaRPr lang="en-US" sz="2400" dirty="0"/>
          </a:p>
        </p:txBody>
      </p:sp>
      <p:sp>
        <p:nvSpPr>
          <p:cNvPr id="22" name="Text 19"/>
          <p:cNvSpPr txBox="1"/>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9AA7AF"/>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Acheron, Selection Day</dc:title>
  <dc:subject>PptxGenJS Presentation</dc:subject>
  <dc:creator>Dayana Sanchez</dc:creator>
  <cp:lastModifiedBy>Dayana Sanchez</cp:lastModifiedBy>
  <cp:revision>1</cp:revision>
  <dcterms:created xsi:type="dcterms:W3CDTF">2026-10-23T21:31:47Z</dcterms:created>
  <dcterms:modified xsi:type="dcterms:W3CDTF">2026-10-23T21:31:47Z</dcterms:modified>
</cp:coreProperties>
</file>